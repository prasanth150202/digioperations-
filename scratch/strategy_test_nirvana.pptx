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629"/>
          </a:solidFill>
          <a:ln/>
        </p:spPr>
      </p:sp>
      <p:sp>
        <p:nvSpPr>
          <p:cNvPr id="3" name="Shape 1"/>
          <p:cNvSpPr/>
          <p:nvPr/>
        </p:nvSpPr>
        <p:spPr>
          <a:xfrm>
            <a:off x="0" y="0"/>
            <a:ext cx="3474720" cy="6858000"/>
          </a:xfrm>
          <a:prstGeom prst="rect">
            <a:avLst/>
          </a:prstGeom>
          <a:solidFill>
            <a:srgbClr val="2B4EFF"/>
          </a:solidFill>
          <a:ln/>
        </p:spPr>
      </p:sp>
      <p:sp>
        <p:nvSpPr>
          <p:cNvPr id="4" name="Text 2"/>
          <p:cNvSpPr/>
          <p:nvPr/>
        </p:nvSpPr>
        <p:spPr>
          <a:xfrm>
            <a:off x="365760" y="457200"/>
            <a:ext cx="10058400" cy="32004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POWERED BY\nDIGIFYCE</a:t>
            </a:r>
            <a:endParaRPr lang="en-US" sz="2200" dirty="0"/>
          </a:p>
        </p:txBody>
      </p:sp>
      <p:sp>
        <p:nvSpPr>
          <p:cNvPr id="5" name="Shape 3"/>
          <p:cNvSpPr/>
          <p:nvPr/>
        </p:nvSpPr>
        <p:spPr>
          <a:xfrm>
            <a:off x="365760" y="1645920"/>
            <a:ext cx="2743200" cy="1280160"/>
          </a:xfrm>
          <a:prstGeom prst="rect">
            <a:avLst>
              <a:gd name="adj" fmla="val 7143"/>
            </a:avLst>
          </a:prstGeom>
          <a:solidFill>
            <a:srgbClr val="FFFFFF"/>
          </a:solidFill>
          <a:ln w="25400">
            <a:solidFill>
              <a:srgbClr val="F59E0B"/>
            </a:solidFill>
            <a:prstDash val="solid"/>
          </a:ln>
        </p:spPr>
      </p:sp>
      <p:sp>
        <p:nvSpPr>
          <p:cNvPr id="6" name="Text 4"/>
          <p:cNvSpPr/>
          <p:nvPr/>
        </p:nvSpPr>
        <p:spPr>
          <a:xfrm>
            <a:off x="457200" y="1737360"/>
            <a:ext cx="2560320" cy="320040"/>
          </a:xfrm>
          <a:prstGeom prst="rect">
            <a:avLst/>
          </a:prstGeom>
          <a:noFill/>
          <a:ln/>
        </p:spPr>
        <p:txBody>
          <a:bodyPr wrap="square" rtlCol="0" anchor="ctr"/>
          <a:lstStyle/>
          <a:p>
            <a:pPr indent="0" marL="0">
              <a:buNone/>
            </a:pPr>
            <a:r>
              <a:rPr lang="en-US" sz="2800" b="1" dirty="0">
                <a:solidFill>
                  <a:srgbClr val="2B4EFF"/>
                </a:solidFill>
                <a:latin typeface="Plus Jakarta Sans" pitchFamily="34" charset="0"/>
                <a:ea typeface="Plus Jakarta Sans" pitchFamily="34" charset="-122"/>
                <a:cs typeface="Plus Jakarta Sans" pitchFamily="34" charset="-120"/>
              </a:rPr>
              <a:t>₹8L</a:t>
            </a:r>
            <a:endParaRPr lang="en-US" sz="2800" dirty="0"/>
          </a:p>
        </p:txBody>
      </p:sp>
      <p:sp>
        <p:nvSpPr>
          <p:cNvPr id="7" name="Text 5"/>
          <p:cNvSpPr/>
          <p:nvPr/>
        </p:nvSpPr>
        <p:spPr>
          <a:xfrm>
            <a:off x="457200" y="2377440"/>
            <a:ext cx="256032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Current Monthly Revenue</a:t>
            </a:r>
            <a:endParaRPr lang="en-US" sz="1100" dirty="0"/>
          </a:p>
        </p:txBody>
      </p:sp>
      <p:sp>
        <p:nvSpPr>
          <p:cNvPr id="8" name="Shape 6"/>
          <p:cNvSpPr/>
          <p:nvPr/>
        </p:nvSpPr>
        <p:spPr>
          <a:xfrm>
            <a:off x="365760" y="3108960"/>
            <a:ext cx="2743200" cy="1280160"/>
          </a:xfrm>
          <a:prstGeom prst="rect">
            <a:avLst>
              <a:gd name="adj" fmla="val 7143"/>
            </a:avLst>
          </a:prstGeom>
          <a:solidFill>
            <a:srgbClr val="FFFFFF"/>
          </a:solidFill>
          <a:ln w="25400">
            <a:solidFill>
              <a:srgbClr val="F59E0B"/>
            </a:solidFill>
            <a:prstDash val="solid"/>
          </a:ln>
        </p:spPr>
      </p:sp>
      <p:sp>
        <p:nvSpPr>
          <p:cNvPr id="9" name="Text 7"/>
          <p:cNvSpPr/>
          <p:nvPr/>
        </p:nvSpPr>
        <p:spPr>
          <a:xfrm>
            <a:off x="457200" y="3200400"/>
            <a:ext cx="2560320" cy="320040"/>
          </a:xfrm>
          <a:prstGeom prst="rect">
            <a:avLst/>
          </a:prstGeom>
          <a:noFill/>
          <a:ln/>
        </p:spPr>
        <p:txBody>
          <a:bodyPr wrap="square" rtlCol="0" anchor="ctr"/>
          <a:lstStyle/>
          <a:p>
            <a:pPr indent="0" marL="0">
              <a:buNone/>
            </a:pPr>
            <a:r>
              <a:rPr lang="en-US" sz="2800" b="1" dirty="0">
                <a:solidFill>
                  <a:srgbClr val="2B4EFF"/>
                </a:solidFill>
                <a:latin typeface="Plus Jakarta Sans" pitchFamily="34" charset="0"/>
                <a:ea typeface="Plus Jakarta Sans" pitchFamily="34" charset="-122"/>
                <a:cs typeface="Plus Jakarta Sans" pitchFamily="34" charset="-120"/>
              </a:rPr>
              <a:t>₹25L</a:t>
            </a:r>
            <a:endParaRPr lang="en-US" sz="2800" dirty="0"/>
          </a:p>
        </p:txBody>
      </p:sp>
      <p:sp>
        <p:nvSpPr>
          <p:cNvPr id="10" name="Text 8"/>
          <p:cNvSpPr/>
          <p:nvPr/>
        </p:nvSpPr>
        <p:spPr>
          <a:xfrm>
            <a:off x="457200" y="3840480"/>
            <a:ext cx="256032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90-Day Target Plan</a:t>
            </a:r>
            <a:endParaRPr lang="en-US" sz="1100" dirty="0"/>
          </a:p>
        </p:txBody>
      </p:sp>
      <p:sp>
        <p:nvSpPr>
          <p:cNvPr id="11" name="Shape 9"/>
          <p:cNvSpPr/>
          <p:nvPr/>
        </p:nvSpPr>
        <p:spPr>
          <a:xfrm>
            <a:off x="365760" y="4572000"/>
            <a:ext cx="2743200" cy="1280160"/>
          </a:xfrm>
          <a:prstGeom prst="rect">
            <a:avLst>
              <a:gd name="adj" fmla="val 7143"/>
            </a:avLst>
          </a:prstGeom>
          <a:solidFill>
            <a:srgbClr val="FFFFFF"/>
          </a:solidFill>
          <a:ln w="25400">
            <a:solidFill>
              <a:srgbClr val="10B981"/>
            </a:solidFill>
            <a:prstDash val="solid"/>
          </a:ln>
        </p:spPr>
      </p:sp>
      <p:sp>
        <p:nvSpPr>
          <p:cNvPr id="12" name="Text 10"/>
          <p:cNvSpPr/>
          <p:nvPr/>
        </p:nvSpPr>
        <p:spPr>
          <a:xfrm>
            <a:off x="457200" y="4663440"/>
            <a:ext cx="2560320" cy="320040"/>
          </a:xfrm>
          <a:prstGeom prst="rect">
            <a:avLst/>
          </a:prstGeom>
          <a:noFill/>
          <a:ln/>
        </p:spPr>
        <p:txBody>
          <a:bodyPr wrap="square" rtlCol="0" anchor="ctr"/>
          <a:lstStyle/>
          <a:p>
            <a:pPr indent="0" marL="0">
              <a:buNone/>
            </a:pPr>
            <a:r>
              <a:rPr lang="en-US" sz="2800" b="1" dirty="0">
                <a:solidFill>
                  <a:srgbClr val="10B981"/>
                </a:solidFill>
                <a:latin typeface="Plus Jakarta Sans" pitchFamily="34" charset="0"/>
                <a:ea typeface="Plus Jakarta Sans" pitchFamily="34" charset="-122"/>
                <a:cs typeface="Plus Jakarta Sans" pitchFamily="34" charset="-120"/>
              </a:rPr>
              <a:t>5x</a:t>
            </a:r>
            <a:endParaRPr lang="en-US" sz="2800" dirty="0"/>
          </a:p>
        </p:txBody>
      </p:sp>
      <p:sp>
        <p:nvSpPr>
          <p:cNvPr id="13" name="Text 11"/>
          <p:cNvSpPr/>
          <p:nvPr/>
        </p:nvSpPr>
        <p:spPr>
          <a:xfrm>
            <a:off x="457200" y="5303520"/>
            <a:ext cx="256032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Projected Blended Growth</a:t>
            </a:r>
            <a:endParaRPr lang="en-US" sz="1100" dirty="0"/>
          </a:p>
        </p:txBody>
      </p:sp>
      <p:sp>
        <p:nvSpPr>
          <p:cNvPr id="14" name="Text 12"/>
          <p:cNvSpPr/>
          <p:nvPr/>
        </p:nvSpPr>
        <p:spPr>
          <a:xfrm>
            <a:off x="3931920" y="1371600"/>
            <a:ext cx="7772400" cy="320040"/>
          </a:xfrm>
          <a:prstGeom prst="rect">
            <a:avLst/>
          </a:prstGeom>
          <a:noFill/>
          <a:ln/>
        </p:spPr>
        <p:txBody>
          <a:bodyPr wrap="square" rtlCol="0" anchor="ctr"/>
          <a:lstStyle/>
          <a:p>
            <a:pPr indent="0" marL="0">
              <a:buNone/>
            </a:pPr>
            <a:r>
              <a:rPr lang="en-US" sz="1600" b="1" dirty="0">
                <a:solidFill>
                  <a:srgbClr val="2B4EFF"/>
                </a:solidFill>
                <a:latin typeface="Plus Jakarta Sans" pitchFamily="34" charset="0"/>
                <a:ea typeface="Plus Jakarta Sans" pitchFamily="34" charset="-122"/>
                <a:cs typeface="Plus Jakarta Sans" pitchFamily="34" charset="-120"/>
              </a:rPr>
              <a:t>SHOPIFY SCALE STRATEGY</a:t>
            </a:r>
            <a:endParaRPr lang="en-US" sz="1600" dirty="0"/>
          </a:p>
        </p:txBody>
      </p:sp>
      <p:sp>
        <p:nvSpPr>
          <p:cNvPr id="15" name="Text 13"/>
          <p:cNvSpPr/>
          <p:nvPr/>
        </p:nvSpPr>
        <p:spPr>
          <a:xfrm>
            <a:off x="3931920" y="1737360"/>
            <a:ext cx="7772400" cy="320040"/>
          </a:xfrm>
          <a:prstGeom prst="rect">
            <a:avLst/>
          </a:prstGeom>
          <a:noFill/>
          <a:ln/>
        </p:spPr>
        <p:txBody>
          <a:bodyPr wrap="square" rtlCol="0" anchor="ctr"/>
          <a:lstStyle/>
          <a:p>
            <a:pPr indent="0" marL="0">
              <a:buNone/>
            </a:pPr>
            <a:r>
              <a:rPr lang="en-US" sz="4400" b="1" dirty="0">
                <a:solidFill>
                  <a:srgbClr val="FFFFFF"/>
                </a:solidFill>
                <a:latin typeface="Plus Jakarta Sans" pitchFamily="34" charset="0"/>
                <a:ea typeface="Plus Jakarta Sans" pitchFamily="34" charset="-122"/>
                <a:cs typeface="Plus Jakarta Sans" pitchFamily="34" charset="-120"/>
              </a:rPr>
              <a:t>NIRVANA BREWS</a:t>
            </a:r>
            <a:endParaRPr lang="en-US" sz="4400" dirty="0"/>
          </a:p>
        </p:txBody>
      </p:sp>
      <p:sp>
        <p:nvSpPr>
          <p:cNvPr id="16" name="Text 14"/>
          <p:cNvSpPr/>
          <p:nvPr/>
        </p:nvSpPr>
        <p:spPr>
          <a:xfrm>
            <a:off x="3931920" y="3108960"/>
            <a:ext cx="7772400" cy="320040"/>
          </a:xfrm>
          <a:prstGeom prst="rect">
            <a:avLst/>
          </a:prstGeom>
          <a:noFill/>
          <a:ln/>
        </p:spPr>
        <p:txBody>
          <a:bodyPr wrap="square" rtlCol="0" anchor="ctr"/>
          <a:lstStyle/>
          <a:p>
            <a:pPr indent="0" marL="0">
              <a:buNone/>
            </a:pPr>
            <a:r>
              <a:rPr lang="en-US" sz="1400" i="1" dirty="0">
                <a:solidFill>
                  <a:srgbClr val="888888"/>
                </a:solidFill>
                <a:latin typeface="Plus Jakarta Sans" pitchFamily="34" charset="0"/>
                <a:ea typeface="Plus Jakarta Sans" pitchFamily="34" charset="-122"/>
                <a:cs typeface="Plus Jakarta Sans" pitchFamily="34" charset="-120"/>
              </a:rPr>
              <a:t>Premium Coffee · Pan India D2C · Shopify</a:t>
            </a:r>
            <a:endParaRPr lang="en-US" sz="1400" dirty="0"/>
          </a:p>
        </p:txBody>
      </p:sp>
      <p:sp>
        <p:nvSpPr>
          <p:cNvPr id="17" name="Text 15"/>
          <p:cNvSpPr/>
          <p:nvPr/>
        </p:nvSpPr>
        <p:spPr>
          <a:xfrm>
            <a:off x="3931920" y="3749040"/>
            <a:ext cx="7772400" cy="320040"/>
          </a:xfrm>
          <a:prstGeom prst="rect">
            <a:avLst/>
          </a:prstGeom>
          <a:noFill/>
          <a:ln/>
        </p:spPr>
        <p:txBody>
          <a:bodyPr wrap="square" rtlCol="0" anchor="ctr"/>
          <a:lstStyle/>
          <a:p>
            <a:pPr indent="0" marL="0">
              <a:buNone/>
            </a:pPr>
            <a:r>
              <a:rPr lang="en-US" sz="2000" b="1" dirty="0">
                <a:solidFill>
                  <a:srgbClr val="F59E0B"/>
                </a:solidFill>
                <a:latin typeface="Plus Jakarta Sans" pitchFamily="34" charset="0"/>
                <a:ea typeface="Plus Jakarta Sans" pitchFamily="34" charset="-122"/>
                <a:cs typeface="Plus Jakarta Sans" pitchFamily="34" charset="-120"/>
              </a:rPr>
              <a:t>90-Day Plan: From ₹8L to ₹25L Monthly Revenue</a:t>
            </a:r>
            <a:endParaRPr lang="en-US" sz="2000" dirty="0"/>
          </a:p>
        </p:txBody>
      </p:sp>
      <p:sp>
        <p:nvSpPr>
          <p:cNvPr id="18" name="Text 16"/>
          <p:cNvSpPr/>
          <p:nvPr/>
        </p:nvSpPr>
        <p:spPr>
          <a:xfrm>
            <a:off x="3931920" y="4480560"/>
            <a:ext cx="7772400" cy="320040"/>
          </a:xfrm>
          <a:prstGeom prst="rect">
            <a:avLst/>
          </a:prstGeom>
          <a:noFill/>
          <a:ln/>
        </p:spPr>
        <p:txBody>
          <a:bodyPr wrap="square" rtlCol="0" anchor="ctr"/>
          <a:lstStyle/>
          <a:p>
            <a:pPr indent="0" marL="0">
              <a:buNone/>
            </a:pPr>
            <a:r>
              <a:rPr lang="en-US" sz="1200" dirty="0">
                <a:solidFill>
                  <a:srgbClr val="CCCCCC"/>
                </a:solidFill>
                <a:latin typeface="Plus Jakarta Sans" pitchFamily="34" charset="0"/>
                <a:ea typeface="Plus Jakarta Sans" pitchFamily="34" charset="-122"/>
                <a:cs typeface="Plus Jakarta Sans" pitchFamily="34" charset="-120"/>
              </a:rPr>
              <a:t>Prepared exclusively by Digifyce | Confidential | June 2026</a:t>
            </a:r>
            <a:endParaRPr lang="en-US" sz="1200" dirty="0"/>
          </a:p>
        </p:txBody>
      </p:sp>
      <p:sp>
        <p:nvSpPr>
          <p:cNvPr id="19" name="Shape 17"/>
          <p:cNvSpPr/>
          <p:nvPr/>
        </p:nvSpPr>
        <p:spPr>
          <a:xfrm>
            <a:off x="3931920" y="5303520"/>
            <a:ext cx="7772400" cy="822960"/>
          </a:xfrm>
          <a:prstGeom prst="rect">
            <a:avLst>
              <a:gd name="adj" fmla="val 5556"/>
            </a:avLst>
          </a:prstGeom>
          <a:solidFill>
            <a:srgbClr val="111E35"/>
          </a:solidFill>
          <a:ln/>
        </p:spPr>
      </p:sp>
      <p:sp>
        <p:nvSpPr>
          <p:cNvPr id="20" name="Text 18"/>
          <p:cNvSpPr/>
          <p:nvPr/>
        </p:nvSpPr>
        <p:spPr>
          <a:xfrm>
            <a:off x="4114800" y="5577840"/>
            <a:ext cx="7406640" cy="320040"/>
          </a:xfrm>
          <a:prstGeom prst="rect">
            <a:avLst/>
          </a:prstGeom>
          <a:noFill/>
          <a:ln/>
        </p:spPr>
        <p:txBody>
          <a:bodyPr wrap="square" rtlCol="0" anchor="ctr"/>
          <a:lstStyle/>
          <a:p>
            <a:pPr indent="0" marL="0">
              <a:buNone/>
            </a:pPr>
            <a:r>
              <a:rPr lang="en-US" sz="1000" dirty="0">
                <a:solidFill>
                  <a:srgbClr val="FFFFFF"/>
                </a:solidFill>
                <a:latin typeface="Plus Jakarta Sans" pitchFamily="34" charset="0"/>
                <a:ea typeface="Plus Jakarta Sans" pitchFamily="34" charset="-122"/>
                <a:cs typeface="Plus Jakarta Sans" pitchFamily="34" charset="-120"/>
              </a:rPr>
              <a:t>Framework Tags: Brand · Funnel · Meta · Google · Influencer · Social · CRM · CRO · Roadmap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BRAND FOUNDATION</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Brand Story &amp; Strategic Foundation</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97280"/>
            <a:ext cx="5303520" cy="5120640"/>
          </a:xfrm>
          <a:prstGeom prst="rect">
            <a:avLst>
              <a:gd name="adj" fmla="val 1786"/>
            </a:avLst>
          </a:prstGeom>
          <a:solidFill>
            <a:srgbClr val="FFFFFF"/>
          </a:solidFill>
          <a:ln w="25400">
            <a:solidFill>
              <a:srgbClr val="2B4EFF"/>
            </a:solidFill>
            <a:prstDash val="solid"/>
          </a:ln>
        </p:spPr>
      </p:sp>
      <p:sp>
        <p:nvSpPr>
          <p:cNvPr id="8" name="Shape 6"/>
          <p:cNvSpPr/>
          <p:nvPr/>
        </p:nvSpPr>
        <p:spPr>
          <a:xfrm>
            <a:off x="457200" y="1097280"/>
            <a:ext cx="5303520" cy="548640"/>
          </a:xfrm>
          <a:prstGeom prst="rect">
            <a:avLst/>
          </a:prstGeom>
          <a:solidFill>
            <a:srgbClr val="0B1629"/>
          </a:solidFill>
          <a:ln/>
        </p:spPr>
      </p:sp>
      <p:sp>
        <p:nvSpPr>
          <p:cNvPr id="9" name="Text 7"/>
          <p:cNvSpPr/>
          <p:nvPr/>
        </p:nvSpPr>
        <p:spPr>
          <a:xfrm>
            <a:off x="640080" y="1234440"/>
            <a:ext cx="493776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THE ORIGIN STORY</a:t>
            </a:r>
            <a:endParaRPr lang="en-US" sz="1200" dirty="0"/>
          </a:p>
        </p:txBody>
      </p:sp>
      <p:sp>
        <p:nvSpPr>
          <p:cNvPr id="10" name="Text 8"/>
          <p:cNvSpPr/>
          <p:nvPr/>
        </p:nvSpPr>
        <p:spPr>
          <a:xfrm>
            <a:off x="640080" y="1920240"/>
            <a:ext cx="4937760" cy="320040"/>
          </a:xfrm>
          <a:prstGeom prst="rect">
            <a:avLst/>
          </a:prstGeom>
          <a:noFill/>
          <a:ln/>
        </p:spPr>
        <p:txBody>
          <a:bodyPr wrap="square" rtlCol="0" anchor="ctr"/>
          <a:lstStyle/>
          <a:p>
            <a:pPr indent="0" marL="0">
              <a:buNone/>
            </a:pPr>
            <a:r>
              <a:rPr lang="en-US" sz="2000" b="1" dirty="0">
                <a:solidFill>
                  <a:srgbClr val="0B1629"/>
                </a:solidFill>
                <a:latin typeface="Plus Jakarta Sans" pitchFamily="34" charset="0"/>
                <a:ea typeface="Plus Jakarta Sans" pitchFamily="34" charset="-122"/>
                <a:cs typeface="Plus Jakarta Sans" pitchFamily="34" charset="-120"/>
              </a:rPr>
              <a:t>Born in India. Built for Scale.</a:t>
            </a:r>
            <a:endParaRPr lang="en-US" sz="2000" dirty="0"/>
          </a:p>
        </p:txBody>
      </p:sp>
      <p:sp>
        <p:nvSpPr>
          <p:cNvPr id="11" name="Text 9"/>
          <p:cNvSpPr/>
          <p:nvPr/>
        </p:nvSpPr>
        <p:spPr>
          <a:xfrm>
            <a:off x="640080" y="2468880"/>
            <a:ext cx="4937760" cy="0"/>
          </a:xfrm>
          <a:prstGeom prst="rect">
            <a:avLst/>
          </a:prstGeom>
          <a:noFill/>
          <a:ln/>
        </p:spPr>
        <p:txBody>
          <a:bodyPr wrap="square" rtlCol="0" anchor="ctr"/>
          <a:lstStyle/>
          <a:p>
            <a:pPr indent="0" marL="0">
              <a:buNone/>
            </a:pPr>
            <a:r>
              <a:rPr lang="en-US" sz="1200" dirty="0">
                <a:solidFill>
                  <a:srgbClr val="333333"/>
                </a:solidFill>
                <a:latin typeface="Plus Jakarta Sans" pitchFamily="34" charset="0"/>
                <a:ea typeface="Plus Jakarta Sans" pitchFamily="34" charset="-122"/>
                <a:cs typeface="Plus Jakarta Sans" pitchFamily="34" charset="-120"/>
              </a:rPr>
              <a:t>Mr./Ms. Aditya Sharma started Nirvana Brews to solve one overlooked problem: legacy offerings in the Premium Coffee space are not engineered for modern Indian consumers.\n\nOur products are purpose-built to deliver premium quality, tailored specifically for local preferences.</a:t>
            </a:r>
            <a:endParaRPr lang="en-US" sz="1200" dirty="0"/>
          </a:p>
        </p:txBody>
      </p:sp>
      <p:sp>
        <p:nvSpPr>
          <p:cNvPr id="12" name="Shape 10"/>
          <p:cNvSpPr/>
          <p:nvPr/>
        </p:nvSpPr>
        <p:spPr>
          <a:xfrm>
            <a:off x="640080" y="4206240"/>
            <a:ext cx="4937760" cy="822960"/>
          </a:xfrm>
          <a:prstGeom prst="rect">
            <a:avLst>
              <a:gd name="adj" fmla="val 5556"/>
            </a:avLst>
          </a:prstGeom>
          <a:solidFill>
            <a:srgbClr val="2B4EFF"/>
          </a:solidFill>
          <a:ln/>
        </p:spPr>
      </p:sp>
      <p:sp>
        <p:nvSpPr>
          <p:cNvPr id="13" name="Text 11"/>
          <p:cNvSpPr/>
          <p:nvPr/>
        </p:nvSpPr>
        <p:spPr>
          <a:xfrm>
            <a:off x="731520" y="4343400"/>
            <a:ext cx="47548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₹8L → ₹25L in 90 Days\nTarget Monthly Scale Up</a:t>
            </a:r>
            <a:endParaRPr lang="en-US" sz="1300" dirty="0"/>
          </a:p>
        </p:txBody>
      </p:sp>
      <p:sp>
        <p:nvSpPr>
          <p:cNvPr id="14" name="Shape 12"/>
          <p:cNvSpPr/>
          <p:nvPr/>
        </p:nvSpPr>
        <p:spPr>
          <a:xfrm>
            <a:off x="6217920" y="1097280"/>
            <a:ext cx="5486400" cy="868680"/>
          </a:xfrm>
          <a:prstGeom prst="rect">
            <a:avLst>
              <a:gd name="adj" fmla="val 5263"/>
            </a:avLst>
          </a:prstGeom>
          <a:solidFill>
            <a:srgbClr val="FFFFFF"/>
          </a:solidFill>
          <a:ln w="12700">
            <a:solidFill>
              <a:srgbClr val="E5E7EB"/>
            </a:solidFill>
            <a:prstDash val="solid"/>
          </a:ln>
        </p:spPr>
      </p:sp>
      <p:sp>
        <p:nvSpPr>
          <p:cNvPr id="15" name="Shape 13"/>
          <p:cNvSpPr/>
          <p:nvPr/>
        </p:nvSpPr>
        <p:spPr>
          <a:xfrm>
            <a:off x="6217920" y="1097280"/>
            <a:ext cx="91440" cy="868680"/>
          </a:xfrm>
          <a:prstGeom prst="rect">
            <a:avLst/>
          </a:prstGeom>
          <a:solidFill>
            <a:srgbClr val="2B4EFF"/>
          </a:solidFill>
          <a:ln/>
        </p:spPr>
      </p:sp>
      <p:sp>
        <p:nvSpPr>
          <p:cNvPr id="16" name="Text 14"/>
          <p:cNvSpPr/>
          <p:nvPr/>
        </p:nvSpPr>
        <p:spPr>
          <a:xfrm>
            <a:off x="6492240" y="1188720"/>
            <a:ext cx="5212080" cy="320040"/>
          </a:xfrm>
          <a:prstGeom prst="rect">
            <a:avLst/>
          </a:prstGeom>
          <a:noFill/>
          <a:ln/>
        </p:spPr>
        <p:txBody>
          <a:bodyPr wrap="square" rtlCol="0" anchor="ctr"/>
          <a:lstStyle/>
          <a:p>
            <a:pPr indent="0" marL="0">
              <a:buNone/>
            </a:pPr>
            <a:r>
              <a:rPr lang="en-US" sz="1400" b="1" dirty="0">
                <a:solidFill>
                  <a:srgbClr val="0B1629"/>
                </a:solidFill>
                <a:latin typeface="Plus Jakarta Sans" pitchFamily="34" charset="0"/>
                <a:ea typeface="Plus Jakarta Sans" pitchFamily="34" charset="-122"/>
                <a:cs typeface="Plus Jakarta Sans" pitchFamily="34" charset="-120"/>
              </a:rPr>
              <a:t>Artisanal Single-Origin Beans</a:t>
            </a:r>
            <a:endParaRPr lang="en-US" sz="1400" dirty="0"/>
          </a:p>
        </p:txBody>
      </p:sp>
      <p:sp>
        <p:nvSpPr>
          <p:cNvPr id="17" name="Text 15"/>
          <p:cNvSpPr/>
          <p:nvPr/>
        </p:nvSpPr>
        <p:spPr>
          <a:xfrm>
            <a:off x="6492240" y="1554480"/>
            <a:ext cx="521208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Sourced directly from ethical estates in Chikmagalur for pure taste.</a:t>
            </a:r>
            <a:endParaRPr lang="en-US" sz="1000" dirty="0"/>
          </a:p>
        </p:txBody>
      </p:sp>
      <p:sp>
        <p:nvSpPr>
          <p:cNvPr id="18" name="Shape 16"/>
          <p:cNvSpPr/>
          <p:nvPr/>
        </p:nvSpPr>
        <p:spPr>
          <a:xfrm>
            <a:off x="6217920" y="2148840"/>
            <a:ext cx="5486400" cy="868680"/>
          </a:xfrm>
          <a:prstGeom prst="rect">
            <a:avLst>
              <a:gd name="adj" fmla="val 5263"/>
            </a:avLst>
          </a:prstGeom>
          <a:solidFill>
            <a:srgbClr val="FFFFFF"/>
          </a:solidFill>
          <a:ln w="12700">
            <a:solidFill>
              <a:srgbClr val="E5E7EB"/>
            </a:solidFill>
            <a:prstDash val="solid"/>
          </a:ln>
        </p:spPr>
      </p:sp>
      <p:sp>
        <p:nvSpPr>
          <p:cNvPr id="19" name="Shape 17"/>
          <p:cNvSpPr/>
          <p:nvPr/>
        </p:nvSpPr>
        <p:spPr>
          <a:xfrm>
            <a:off x="6217920" y="2148840"/>
            <a:ext cx="91440" cy="868680"/>
          </a:xfrm>
          <a:prstGeom prst="rect">
            <a:avLst/>
          </a:prstGeom>
          <a:solidFill>
            <a:srgbClr val="F59E0B"/>
          </a:solidFill>
          <a:ln/>
        </p:spPr>
      </p:sp>
      <p:sp>
        <p:nvSpPr>
          <p:cNvPr id="20" name="Text 18"/>
          <p:cNvSpPr/>
          <p:nvPr/>
        </p:nvSpPr>
        <p:spPr>
          <a:xfrm>
            <a:off x="6492240" y="2240280"/>
            <a:ext cx="5212080" cy="320040"/>
          </a:xfrm>
          <a:prstGeom prst="rect">
            <a:avLst/>
          </a:prstGeom>
          <a:noFill/>
          <a:ln/>
        </p:spPr>
        <p:txBody>
          <a:bodyPr wrap="square" rtlCol="0" anchor="ctr"/>
          <a:lstStyle/>
          <a:p>
            <a:pPr indent="0" marL="0">
              <a:buNone/>
            </a:pPr>
            <a:r>
              <a:rPr lang="en-US" sz="1400" b="1" dirty="0">
                <a:solidFill>
                  <a:srgbClr val="0B1629"/>
                </a:solidFill>
                <a:latin typeface="Plus Jakarta Sans" pitchFamily="34" charset="0"/>
                <a:ea typeface="Plus Jakarta Sans" pitchFamily="34" charset="-122"/>
                <a:cs typeface="Plus Jakarta Sans" pitchFamily="34" charset="-120"/>
              </a:rPr>
              <a:t>Nitrogen-Sealed Freshness</a:t>
            </a:r>
            <a:endParaRPr lang="en-US" sz="1400" dirty="0"/>
          </a:p>
        </p:txBody>
      </p:sp>
      <p:sp>
        <p:nvSpPr>
          <p:cNvPr id="21" name="Text 19"/>
          <p:cNvSpPr/>
          <p:nvPr/>
        </p:nvSpPr>
        <p:spPr>
          <a:xfrm>
            <a:off x="6492240" y="2606040"/>
            <a:ext cx="521208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Sealed within seconds of roasting to lock in rich aroma and crema.</a:t>
            </a:r>
            <a:endParaRPr lang="en-US" sz="1000" dirty="0"/>
          </a:p>
        </p:txBody>
      </p:sp>
      <p:sp>
        <p:nvSpPr>
          <p:cNvPr id="22" name="Shape 20"/>
          <p:cNvSpPr/>
          <p:nvPr/>
        </p:nvSpPr>
        <p:spPr>
          <a:xfrm>
            <a:off x="6217920" y="3200400"/>
            <a:ext cx="5486400" cy="868680"/>
          </a:xfrm>
          <a:prstGeom prst="rect">
            <a:avLst>
              <a:gd name="adj" fmla="val 5263"/>
            </a:avLst>
          </a:prstGeom>
          <a:solidFill>
            <a:srgbClr val="FFFFFF"/>
          </a:solidFill>
          <a:ln w="12700">
            <a:solidFill>
              <a:srgbClr val="E5E7EB"/>
            </a:solidFill>
            <a:prstDash val="solid"/>
          </a:ln>
        </p:spPr>
      </p:sp>
      <p:sp>
        <p:nvSpPr>
          <p:cNvPr id="23" name="Shape 21"/>
          <p:cNvSpPr/>
          <p:nvPr/>
        </p:nvSpPr>
        <p:spPr>
          <a:xfrm>
            <a:off x="6217920" y="3200400"/>
            <a:ext cx="91440" cy="868680"/>
          </a:xfrm>
          <a:prstGeom prst="rect">
            <a:avLst/>
          </a:prstGeom>
          <a:solidFill>
            <a:srgbClr val="EF4444"/>
          </a:solidFill>
          <a:ln/>
        </p:spPr>
      </p:sp>
      <p:sp>
        <p:nvSpPr>
          <p:cNvPr id="24" name="Text 22"/>
          <p:cNvSpPr/>
          <p:nvPr/>
        </p:nvSpPr>
        <p:spPr>
          <a:xfrm>
            <a:off x="6492240" y="3291840"/>
            <a:ext cx="5212080" cy="320040"/>
          </a:xfrm>
          <a:prstGeom prst="rect">
            <a:avLst/>
          </a:prstGeom>
          <a:noFill/>
          <a:ln/>
        </p:spPr>
        <p:txBody>
          <a:bodyPr wrap="square" rtlCol="0" anchor="ctr"/>
          <a:lstStyle/>
          <a:p>
            <a:pPr indent="0" marL="0">
              <a:buNone/>
            </a:pPr>
            <a:r>
              <a:rPr lang="en-US" sz="1400" b="1" dirty="0">
                <a:solidFill>
                  <a:srgbClr val="0B1629"/>
                </a:solidFill>
                <a:latin typeface="Plus Jakarta Sans" pitchFamily="34" charset="0"/>
                <a:ea typeface="Plus Jakarta Sans" pitchFamily="34" charset="-122"/>
                <a:cs typeface="Plus Jakarta Sans" pitchFamily="34" charset="-120"/>
              </a:rPr>
              <a:t>Zero Artificial Additives</a:t>
            </a:r>
            <a:endParaRPr lang="en-US" sz="1400" dirty="0"/>
          </a:p>
        </p:txBody>
      </p:sp>
      <p:sp>
        <p:nvSpPr>
          <p:cNvPr id="25" name="Text 23"/>
          <p:cNvSpPr/>
          <p:nvPr/>
        </p:nvSpPr>
        <p:spPr>
          <a:xfrm>
            <a:off x="6492240" y="3657600"/>
            <a:ext cx="521208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100% pure Arabica coffee with natural tasting notes.</a:t>
            </a:r>
            <a:endParaRPr lang="en-US" sz="1000" dirty="0"/>
          </a:p>
        </p:txBody>
      </p:sp>
      <p:sp>
        <p:nvSpPr>
          <p:cNvPr id="26" name="Shape 24"/>
          <p:cNvSpPr/>
          <p:nvPr/>
        </p:nvSpPr>
        <p:spPr>
          <a:xfrm>
            <a:off x="6217920" y="4251960"/>
            <a:ext cx="5486400" cy="868680"/>
          </a:xfrm>
          <a:prstGeom prst="rect">
            <a:avLst>
              <a:gd name="adj" fmla="val 5263"/>
            </a:avLst>
          </a:prstGeom>
          <a:solidFill>
            <a:srgbClr val="FFFFFF"/>
          </a:solidFill>
          <a:ln w="12700">
            <a:solidFill>
              <a:srgbClr val="E5E7EB"/>
            </a:solidFill>
            <a:prstDash val="solid"/>
          </a:ln>
        </p:spPr>
      </p:sp>
      <p:sp>
        <p:nvSpPr>
          <p:cNvPr id="27" name="Shape 25"/>
          <p:cNvSpPr/>
          <p:nvPr/>
        </p:nvSpPr>
        <p:spPr>
          <a:xfrm>
            <a:off x="6217920" y="4251960"/>
            <a:ext cx="91440" cy="868680"/>
          </a:xfrm>
          <a:prstGeom prst="rect">
            <a:avLst/>
          </a:prstGeom>
          <a:solidFill>
            <a:srgbClr val="8B5CF6"/>
          </a:solidFill>
          <a:ln/>
        </p:spPr>
      </p:sp>
      <p:sp>
        <p:nvSpPr>
          <p:cNvPr id="28" name="Text 26"/>
          <p:cNvSpPr/>
          <p:nvPr/>
        </p:nvSpPr>
        <p:spPr>
          <a:xfrm>
            <a:off x="6492240" y="4343400"/>
            <a:ext cx="5212080" cy="320040"/>
          </a:xfrm>
          <a:prstGeom prst="rect">
            <a:avLst/>
          </a:prstGeom>
          <a:noFill/>
          <a:ln/>
        </p:spPr>
        <p:txBody>
          <a:bodyPr wrap="square" rtlCol="0" anchor="ctr"/>
          <a:lstStyle/>
          <a:p>
            <a:pPr indent="0" marL="0">
              <a:buNone/>
            </a:pPr>
            <a:r>
              <a:rPr lang="en-US" sz="1400" b="1" dirty="0">
                <a:solidFill>
                  <a:srgbClr val="0B1629"/>
                </a:solidFill>
                <a:latin typeface="Plus Jakarta Sans" pitchFamily="34" charset="0"/>
                <a:ea typeface="Plus Jakarta Sans" pitchFamily="34" charset="-122"/>
                <a:cs typeface="Plus Jakarta Sans" pitchFamily="34" charset="-120"/>
              </a:rPr>
              <a:t>Precision Roast Profiles</a:t>
            </a:r>
            <a:endParaRPr lang="en-US" sz="1400" dirty="0"/>
          </a:p>
        </p:txBody>
      </p:sp>
      <p:sp>
        <p:nvSpPr>
          <p:cNvPr id="29" name="Text 27"/>
          <p:cNvSpPr/>
          <p:nvPr/>
        </p:nvSpPr>
        <p:spPr>
          <a:xfrm>
            <a:off x="6492240" y="4709160"/>
            <a:ext cx="521208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Roasting customized per batch to highlight distinct flavor notes.</a:t>
            </a:r>
            <a:endParaRPr lang="en-US" sz="1000" dirty="0"/>
          </a:p>
        </p:txBody>
      </p:sp>
      <p:sp>
        <p:nvSpPr>
          <p:cNvPr id="30" name="Shape 28"/>
          <p:cNvSpPr/>
          <p:nvPr/>
        </p:nvSpPr>
        <p:spPr>
          <a:xfrm>
            <a:off x="6217920" y="5303520"/>
            <a:ext cx="5486400" cy="868680"/>
          </a:xfrm>
          <a:prstGeom prst="rect">
            <a:avLst>
              <a:gd name="adj" fmla="val 5263"/>
            </a:avLst>
          </a:prstGeom>
          <a:solidFill>
            <a:srgbClr val="FFFFFF"/>
          </a:solidFill>
          <a:ln w="12700">
            <a:solidFill>
              <a:srgbClr val="E5E7EB"/>
            </a:solidFill>
            <a:prstDash val="solid"/>
          </a:ln>
        </p:spPr>
      </p:sp>
      <p:sp>
        <p:nvSpPr>
          <p:cNvPr id="31" name="Shape 29"/>
          <p:cNvSpPr/>
          <p:nvPr/>
        </p:nvSpPr>
        <p:spPr>
          <a:xfrm>
            <a:off x="6217920" y="5303520"/>
            <a:ext cx="91440" cy="868680"/>
          </a:xfrm>
          <a:prstGeom prst="rect">
            <a:avLst/>
          </a:prstGeom>
          <a:solidFill>
            <a:srgbClr val="10B981"/>
          </a:solidFill>
          <a:ln/>
        </p:spPr>
      </p:sp>
      <p:sp>
        <p:nvSpPr>
          <p:cNvPr id="32" name="Text 30"/>
          <p:cNvSpPr/>
          <p:nvPr/>
        </p:nvSpPr>
        <p:spPr>
          <a:xfrm>
            <a:off x="6492240" y="5394960"/>
            <a:ext cx="5212080" cy="320040"/>
          </a:xfrm>
          <a:prstGeom prst="rect">
            <a:avLst/>
          </a:prstGeom>
          <a:noFill/>
          <a:ln/>
        </p:spPr>
        <p:txBody>
          <a:bodyPr wrap="square" rtlCol="0" anchor="ctr"/>
          <a:lstStyle/>
          <a:p>
            <a:pPr indent="0" marL="0">
              <a:buNone/>
            </a:pPr>
            <a:r>
              <a:rPr lang="en-US" sz="1400" b="1" dirty="0">
                <a:solidFill>
                  <a:srgbClr val="0B1629"/>
                </a:solidFill>
                <a:latin typeface="Plus Jakarta Sans" pitchFamily="34" charset="0"/>
                <a:ea typeface="Plus Jakarta Sans" pitchFamily="34" charset="-122"/>
                <a:cs typeface="Plus Jakarta Sans" pitchFamily="34" charset="-120"/>
              </a:rPr>
              <a:t>Eco-Friendly Packaging</a:t>
            </a:r>
            <a:endParaRPr lang="en-US" sz="1400" dirty="0"/>
          </a:p>
        </p:txBody>
      </p:sp>
      <p:sp>
        <p:nvSpPr>
          <p:cNvPr id="33" name="Text 31"/>
          <p:cNvSpPr/>
          <p:nvPr/>
        </p:nvSpPr>
        <p:spPr>
          <a:xfrm>
            <a:off x="6492240" y="5760720"/>
            <a:ext cx="521208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100% biodegradable pouches to minimize environmental footprint.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629"/>
          </a:solidFill>
          <a:ln/>
        </p:spPr>
      </p:sp>
      <p:sp>
        <p:nvSpPr>
          <p:cNvPr id="3" name="Shape 1"/>
          <p:cNvSpPr/>
          <p:nvPr/>
        </p:nvSpPr>
        <p:spPr>
          <a:xfrm>
            <a:off x="457200" y="274320"/>
            <a:ext cx="2011680" cy="411480"/>
          </a:xfrm>
          <a:prstGeom prst="rect">
            <a:avLst>
              <a:gd name="adj" fmla="val 22222"/>
            </a:avLst>
          </a:prstGeom>
          <a:solidFill>
            <a:srgbClr val="F59E0B"/>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BRAND VISION</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Strategic Narrative &amp; Cult Aspiration</a:t>
            </a:r>
            <a:endParaRPr lang="en-US" sz="2200" dirty="0"/>
          </a:p>
        </p:txBody>
      </p:sp>
      <p:sp>
        <p:nvSpPr>
          <p:cNvPr id="6" name="Text 4"/>
          <p:cNvSpPr/>
          <p:nvPr/>
        </p:nvSpPr>
        <p:spPr>
          <a:xfrm>
            <a:off x="457200" y="1097280"/>
            <a:ext cx="10058400" cy="32004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NOT JUST A BRAND. A MOVEMENT.</a:t>
            </a:r>
            <a:endParaRPr lang="en-US" sz="3200" dirty="0"/>
          </a:p>
        </p:txBody>
      </p:sp>
      <p:sp>
        <p:nvSpPr>
          <p:cNvPr id="7" name="Text 5"/>
          <p:cNvSpPr/>
          <p:nvPr/>
        </p:nvSpPr>
        <p:spPr>
          <a:xfrm>
            <a:off x="457200" y="1645920"/>
            <a:ext cx="11247120" cy="0"/>
          </a:xfrm>
          <a:prstGeom prst="rect">
            <a:avLst/>
          </a:prstGeom>
          <a:noFill/>
          <a:ln/>
        </p:spPr>
        <p:txBody>
          <a:bodyPr wrap="square" rtlCol="0" anchor="ctr"/>
          <a:lstStyle/>
          <a:p>
            <a:pPr indent="0" marL="0">
              <a:buNone/>
            </a:pPr>
            <a:r>
              <a:rPr lang="en-US" sz="1300" i="1" dirty="0">
                <a:solidFill>
                  <a:srgbClr val="F59E0B"/>
                </a:solidFill>
                <a:latin typeface="Plus Jakarta Sans" pitchFamily="34" charset="0"/>
                <a:ea typeface="Plus Jakarta Sans" pitchFamily="34" charset="-122"/>
                <a:cs typeface="Plus Jakarta Sans" pitchFamily="34" charset="-120"/>
              </a:rPr>
              <a:t>"Build the leading Premium Coffee brand in India — where every consumer chooses Nirvana Brews not because of an ad, but because of our superior quality and trust."</a:t>
            </a:r>
            <a:endParaRPr lang="en-US" sz="1300" dirty="0"/>
          </a:p>
        </p:txBody>
      </p:sp>
      <p:sp>
        <p:nvSpPr>
          <p:cNvPr id="8" name="Shape 6"/>
          <p:cNvSpPr/>
          <p:nvPr/>
        </p:nvSpPr>
        <p:spPr>
          <a:xfrm>
            <a:off x="457200" y="2194560"/>
            <a:ext cx="5394960" cy="1645920"/>
          </a:xfrm>
          <a:prstGeom prst="rect">
            <a:avLst>
              <a:gd name="adj" fmla="val 2778"/>
            </a:avLst>
          </a:prstGeom>
          <a:solidFill>
            <a:srgbClr val="111E35"/>
          </a:solidFill>
          <a:ln w="25400">
            <a:solidFill>
              <a:srgbClr val="2B4EFF"/>
            </a:solidFill>
            <a:prstDash val="solid"/>
          </a:ln>
        </p:spPr>
      </p:sp>
      <p:sp>
        <p:nvSpPr>
          <p:cNvPr id="9" name="Text 7"/>
          <p:cNvSpPr/>
          <p:nvPr/>
        </p:nvSpPr>
        <p:spPr>
          <a:xfrm>
            <a:off x="731520" y="2423160"/>
            <a:ext cx="3200400" cy="320040"/>
          </a:xfrm>
          <a:prstGeom prst="rect">
            <a:avLst/>
          </a:prstGeom>
          <a:noFill/>
          <a:ln/>
        </p:spPr>
        <p:txBody>
          <a:bodyPr wrap="square" rtlCol="0" anchor="ctr"/>
          <a:lstStyle/>
          <a:p>
            <a:pPr indent="0" marL="0">
              <a:buNone/>
            </a:pPr>
            <a:r>
              <a:rPr lang="en-US" sz="1400" b="1" dirty="0">
                <a:solidFill>
                  <a:srgbClr val="2B4EFF"/>
                </a:solidFill>
                <a:latin typeface="Plus Jakarta Sans" pitchFamily="34" charset="0"/>
                <a:ea typeface="Plus Jakarta Sans" pitchFamily="34" charset="-122"/>
                <a:cs typeface="Plus Jakarta Sans" pitchFamily="34" charset="-120"/>
              </a:rPr>
              <a:t>COMMUNITY IDENTITY</a:t>
            </a:r>
            <a:endParaRPr lang="en-US" sz="1400" dirty="0"/>
          </a:p>
        </p:txBody>
      </p:sp>
      <p:sp>
        <p:nvSpPr>
          <p:cNvPr id="10" name="Text 8"/>
          <p:cNvSpPr/>
          <p:nvPr/>
        </p:nvSpPr>
        <p:spPr>
          <a:xfrm>
            <a:off x="731520" y="283464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"I choose Nirvana Brews." Own the customer relationship and build a highly loyal community around the brand.</a:t>
            </a:r>
            <a:endParaRPr lang="en-US" sz="1100" dirty="0"/>
          </a:p>
        </p:txBody>
      </p:sp>
      <p:sp>
        <p:nvSpPr>
          <p:cNvPr id="11" name="Shape 9"/>
          <p:cNvSpPr/>
          <p:nvPr/>
        </p:nvSpPr>
        <p:spPr>
          <a:xfrm>
            <a:off x="6126480" y="2194560"/>
            <a:ext cx="5394960" cy="1645920"/>
          </a:xfrm>
          <a:prstGeom prst="rect">
            <a:avLst>
              <a:gd name="adj" fmla="val 2778"/>
            </a:avLst>
          </a:prstGeom>
          <a:solidFill>
            <a:srgbClr val="111E35"/>
          </a:solidFill>
          <a:ln w="25400">
            <a:solidFill>
              <a:srgbClr val="F59E0B"/>
            </a:solidFill>
            <a:prstDash val="solid"/>
          </a:ln>
        </p:spPr>
      </p:sp>
      <p:sp>
        <p:nvSpPr>
          <p:cNvPr id="12" name="Text 10"/>
          <p:cNvSpPr/>
          <p:nvPr/>
        </p:nvSpPr>
        <p:spPr>
          <a:xfrm>
            <a:off x="6400800" y="2423160"/>
            <a:ext cx="3200400" cy="320040"/>
          </a:xfrm>
          <a:prstGeom prst="rect">
            <a:avLst/>
          </a:prstGeom>
          <a:noFill/>
          <a:ln/>
        </p:spPr>
        <p:txBody>
          <a:bodyPr wrap="square" rtlCol="0" anchor="ctr"/>
          <a:lstStyle/>
          <a:p>
            <a:pPr indent="0" marL="0">
              <a:buNone/>
            </a:pPr>
            <a:r>
              <a:rPr lang="en-US" sz="1400" b="1" dirty="0">
                <a:solidFill>
                  <a:srgbClr val="F59E0B"/>
                </a:solidFill>
                <a:latin typeface="Plus Jakarta Sans" pitchFamily="34" charset="0"/>
                <a:ea typeface="Plus Jakarta Sans" pitchFamily="34" charset="-122"/>
                <a:cs typeface="Plus Jakarta Sans" pitchFamily="34" charset="-120"/>
              </a:rPr>
              <a:t>PRODUCT TRUST</a:t>
            </a:r>
            <a:endParaRPr lang="en-US" sz="1400" dirty="0"/>
          </a:p>
        </p:txBody>
      </p:sp>
      <p:sp>
        <p:nvSpPr>
          <p:cNvPr id="13" name="Text 11"/>
          <p:cNvSpPr/>
          <p:nvPr/>
        </p:nvSpPr>
        <p:spPr>
          <a:xfrm>
            <a:off x="6400800" y="283464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Products that prove themselves in everyday use. No fluff — just high-quality materials and real utility.</a:t>
            </a:r>
            <a:endParaRPr lang="en-US" sz="1100" dirty="0"/>
          </a:p>
        </p:txBody>
      </p:sp>
      <p:sp>
        <p:nvSpPr>
          <p:cNvPr id="14" name="Shape 12"/>
          <p:cNvSpPr/>
          <p:nvPr/>
        </p:nvSpPr>
        <p:spPr>
          <a:xfrm>
            <a:off x="457200" y="4114800"/>
            <a:ext cx="5394960" cy="1645920"/>
          </a:xfrm>
          <a:prstGeom prst="rect">
            <a:avLst>
              <a:gd name="adj" fmla="val 2778"/>
            </a:avLst>
          </a:prstGeom>
          <a:solidFill>
            <a:srgbClr val="111E35"/>
          </a:solidFill>
          <a:ln w="25400">
            <a:solidFill>
              <a:srgbClr val="10B981"/>
            </a:solidFill>
            <a:prstDash val="solid"/>
          </a:ln>
        </p:spPr>
      </p:sp>
      <p:sp>
        <p:nvSpPr>
          <p:cNvPr id="15" name="Text 13"/>
          <p:cNvSpPr/>
          <p:nvPr/>
        </p:nvSpPr>
        <p:spPr>
          <a:xfrm>
            <a:off x="731520" y="4343400"/>
            <a:ext cx="3200400" cy="320040"/>
          </a:xfrm>
          <a:prstGeom prst="rect">
            <a:avLst/>
          </a:prstGeom>
          <a:noFill/>
          <a:ln/>
        </p:spPr>
        <p:txBody>
          <a:bodyPr wrap="square" rtlCol="0" anchor="ctr"/>
          <a:lstStyle/>
          <a:p>
            <a:pPr indent="0" marL="0">
              <a:buNone/>
            </a:pPr>
            <a:r>
              <a:rPr lang="en-US" sz="1400" b="1" dirty="0">
                <a:solidFill>
                  <a:srgbClr val="10B981"/>
                </a:solidFill>
                <a:latin typeface="Plus Jakarta Sans" pitchFamily="34" charset="0"/>
                <a:ea typeface="Plus Jakarta Sans" pitchFamily="34" charset="-122"/>
                <a:cs typeface="Plus Jakarta Sans" pitchFamily="34" charset="-120"/>
              </a:rPr>
              <a:t>PREMIUM AESTHETIC</a:t>
            </a:r>
            <a:endParaRPr lang="en-US" sz="1400" dirty="0"/>
          </a:p>
        </p:txBody>
      </p:sp>
      <p:sp>
        <p:nvSpPr>
          <p:cNvPr id="16" name="Text 14"/>
          <p:cNvSpPr/>
          <p:nvPr/>
        </p:nvSpPr>
        <p:spPr>
          <a:xfrm>
            <a:off x="731520" y="475488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The leading brand for modern, clean, and premium content in this niche.</a:t>
            </a:r>
            <a:endParaRPr lang="en-US" sz="1100" dirty="0"/>
          </a:p>
        </p:txBody>
      </p:sp>
      <p:sp>
        <p:nvSpPr>
          <p:cNvPr id="17" name="Shape 15"/>
          <p:cNvSpPr/>
          <p:nvPr/>
        </p:nvSpPr>
        <p:spPr>
          <a:xfrm>
            <a:off x="6126480" y="4114800"/>
            <a:ext cx="5394960" cy="1645920"/>
          </a:xfrm>
          <a:prstGeom prst="rect">
            <a:avLst>
              <a:gd name="adj" fmla="val 2778"/>
            </a:avLst>
          </a:prstGeom>
          <a:solidFill>
            <a:srgbClr val="111E35"/>
          </a:solidFill>
          <a:ln w="25400">
            <a:solidFill>
              <a:srgbClr val="8B5CF6"/>
            </a:solidFill>
            <a:prstDash val="solid"/>
          </a:ln>
        </p:spPr>
      </p:sp>
      <p:sp>
        <p:nvSpPr>
          <p:cNvPr id="18" name="Text 16"/>
          <p:cNvSpPr/>
          <p:nvPr/>
        </p:nvSpPr>
        <p:spPr>
          <a:xfrm>
            <a:off x="6400800" y="4343400"/>
            <a:ext cx="3200400" cy="320040"/>
          </a:xfrm>
          <a:prstGeom prst="rect">
            <a:avLst/>
          </a:prstGeom>
          <a:noFill/>
          <a:ln/>
        </p:spPr>
        <p:txBody>
          <a:bodyPr wrap="square" rtlCol="0" anchor="ctr"/>
          <a:lstStyle/>
          <a:p>
            <a:pPr indent="0" marL="0">
              <a:buNone/>
            </a:pPr>
            <a:r>
              <a:rPr lang="en-US" sz="1400" b="1" dirty="0">
                <a:solidFill>
                  <a:srgbClr val="8B5CF6"/>
                </a:solidFill>
                <a:latin typeface="Plus Jakarta Sans" pitchFamily="34" charset="0"/>
                <a:ea typeface="Plus Jakarta Sans" pitchFamily="34" charset="-122"/>
                <a:cs typeface="Plus Jakarta Sans" pitchFamily="34" charset="-120"/>
              </a:rPr>
              <a:t>STORY &gt; PROMOTION</a:t>
            </a:r>
            <a:endParaRPr lang="en-US" sz="1400" dirty="0"/>
          </a:p>
        </p:txBody>
      </p:sp>
      <p:sp>
        <p:nvSpPr>
          <p:cNvPr id="19" name="Text 17"/>
          <p:cNvSpPr/>
          <p:nvPr/>
        </p:nvSpPr>
        <p:spPr>
          <a:xfrm>
            <a:off x="6400800" y="475488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Indian founder. Indian ambition. This story beats any competitor discount every single time.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BUYER PERSONAS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3 Core Customer Profiles — Who We're Selling To</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5212080"/>
          </a:xfrm>
          <a:prstGeom prst="rect">
            <a:avLst>
              <a:gd name="adj" fmla="val 2564"/>
            </a:avLst>
          </a:prstGeom>
          <a:solidFill>
            <a:srgbClr val="FFFFFF"/>
          </a:solidFill>
          <a:ln w="25400">
            <a:solidFill>
              <a:srgbClr val="2B4EFF"/>
            </a:solidFill>
            <a:prstDash val="solid"/>
          </a:ln>
        </p:spPr>
      </p:sp>
      <p:sp>
        <p:nvSpPr>
          <p:cNvPr id="8" name="Shape 6"/>
          <p:cNvSpPr/>
          <p:nvPr/>
        </p:nvSpPr>
        <p:spPr>
          <a:xfrm>
            <a:off x="457200" y="1005840"/>
            <a:ext cx="3566160" cy="457200"/>
          </a:xfrm>
          <a:prstGeom prst="rect">
            <a:avLst/>
          </a:prstGeom>
          <a:solidFill>
            <a:srgbClr val="2B4EFF"/>
          </a:solidFill>
          <a:ln/>
        </p:spPr>
      </p:sp>
      <p:sp>
        <p:nvSpPr>
          <p:cNvPr id="9" name="Text 7"/>
          <p:cNvSpPr/>
          <p:nvPr/>
        </p:nvSpPr>
        <p:spPr>
          <a:xfrm>
            <a:off x="548640" y="1097280"/>
            <a:ext cx="33832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THE CONNOISSEUR</a:t>
            </a:r>
            <a:endParaRPr lang="en-US" sz="1300" dirty="0"/>
          </a:p>
        </p:txBody>
      </p:sp>
      <p:sp>
        <p:nvSpPr>
          <p:cNvPr id="10" name="Shape 8"/>
          <p:cNvSpPr/>
          <p:nvPr/>
        </p:nvSpPr>
        <p:spPr>
          <a:xfrm>
            <a:off x="640080" y="1645920"/>
            <a:ext cx="1554480" cy="640080"/>
          </a:xfrm>
          <a:prstGeom prst="rect">
            <a:avLst/>
          </a:prstGeom>
          <a:solidFill>
            <a:srgbClr val="F3F4F6"/>
          </a:solidFill>
          <a:ln/>
        </p:spPr>
      </p:sp>
      <p:sp>
        <p:nvSpPr>
          <p:cNvPr id="11" name="Text 9"/>
          <p:cNvSpPr/>
          <p:nvPr/>
        </p:nvSpPr>
        <p:spPr>
          <a:xfrm>
            <a:off x="731520" y="1691640"/>
            <a:ext cx="13716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Age\n28–45</a:t>
            </a:r>
            <a:endParaRPr lang="en-US" sz="1000" dirty="0"/>
          </a:p>
        </p:txBody>
      </p:sp>
      <p:sp>
        <p:nvSpPr>
          <p:cNvPr id="12" name="Shape 10"/>
          <p:cNvSpPr/>
          <p:nvPr/>
        </p:nvSpPr>
        <p:spPr>
          <a:xfrm>
            <a:off x="2286000" y="1645920"/>
            <a:ext cx="1554480" cy="640080"/>
          </a:xfrm>
          <a:prstGeom prst="rect">
            <a:avLst/>
          </a:prstGeom>
          <a:solidFill>
            <a:srgbClr val="F3F4F6"/>
          </a:solidFill>
          <a:ln/>
        </p:spPr>
      </p:sp>
      <p:sp>
        <p:nvSpPr>
          <p:cNvPr id="13" name="Text 11"/>
          <p:cNvSpPr/>
          <p:nvPr/>
        </p:nvSpPr>
        <p:spPr>
          <a:xfrm>
            <a:off x="2377440" y="1691640"/>
            <a:ext cx="13716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Income\n₹80K–₹2.5L/month</a:t>
            </a:r>
            <a:endParaRPr lang="en-US" sz="1000" dirty="0"/>
          </a:p>
        </p:txBody>
      </p:sp>
      <p:sp>
        <p:nvSpPr>
          <p:cNvPr id="14" name="Text 12"/>
          <p:cNvSpPr/>
          <p:nvPr/>
        </p:nvSpPr>
        <p:spPr>
          <a:xfrm>
            <a:off x="640080" y="2468880"/>
            <a:ext cx="3200400" cy="320040"/>
          </a:xfrm>
          <a:prstGeom prst="rect">
            <a:avLst/>
          </a:prstGeom>
          <a:noFill/>
          <a:ln/>
        </p:spPr>
        <p:txBody>
          <a:bodyPr wrap="square" rtlCol="0" anchor="ctr"/>
          <a:lstStyle/>
          <a:p>
            <a:pPr indent="0" marL="0">
              <a:buNone/>
            </a:pPr>
            <a:r>
              <a:rPr lang="en-US" sz="1000" b="1" dirty="0">
                <a:solidFill>
                  <a:srgbClr val="888888"/>
                </a:solidFill>
                <a:latin typeface="Plus Jakarta Sans" pitchFamily="34" charset="0"/>
                <a:ea typeface="Plus Jakarta Sans" pitchFamily="34" charset="-122"/>
                <a:cs typeface="Plus Jakarta Sans" pitchFamily="34" charset="-120"/>
              </a:rPr>
              <a:t>MINDSET</a:t>
            </a:r>
            <a:endParaRPr lang="en-US" sz="1000" dirty="0"/>
          </a:p>
        </p:txBody>
      </p:sp>
      <p:sp>
        <p:nvSpPr>
          <p:cNvPr id="15" name="Text 13"/>
          <p:cNvSpPr/>
          <p:nvPr/>
        </p:nvSpPr>
        <p:spPr>
          <a:xfrm>
            <a:off x="640080" y="2651760"/>
            <a:ext cx="320040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Seeks rich, nuanced taste profiles. Tired of bitter instant coffee.</a:t>
            </a:r>
            <a:endParaRPr lang="en-US" sz="1100" dirty="0"/>
          </a:p>
        </p:txBody>
      </p:sp>
      <p:sp>
        <p:nvSpPr>
          <p:cNvPr id="16" name="Text 14"/>
          <p:cNvSpPr/>
          <p:nvPr/>
        </p:nvSpPr>
        <p:spPr>
          <a:xfrm>
            <a:off x="640080" y="3566160"/>
            <a:ext cx="3200400" cy="320040"/>
          </a:xfrm>
          <a:prstGeom prst="rect">
            <a:avLst/>
          </a:prstGeom>
          <a:noFill/>
          <a:ln/>
        </p:spPr>
        <p:txBody>
          <a:bodyPr wrap="square" rtlCol="0" anchor="ctr"/>
          <a:lstStyle/>
          <a:p>
            <a:pPr indent="0" marL="0">
              <a:buNone/>
            </a:pPr>
            <a:r>
              <a:rPr lang="en-US" sz="1000" b="1" dirty="0">
                <a:solidFill>
                  <a:srgbClr val="888888"/>
                </a:solidFill>
                <a:latin typeface="Plus Jakarta Sans" pitchFamily="34" charset="0"/>
                <a:ea typeface="Plus Jakarta Sans" pitchFamily="34" charset="-122"/>
                <a:cs typeface="Plus Jakarta Sans" pitchFamily="34" charset="-120"/>
              </a:rPr>
              <a:t>HERO PRODUCTS</a:t>
            </a:r>
            <a:endParaRPr lang="en-US" sz="1000" dirty="0"/>
          </a:p>
        </p:txBody>
      </p:sp>
      <p:sp>
        <p:nvSpPr>
          <p:cNvPr id="17" name="Text 15"/>
          <p:cNvSpPr/>
          <p:nvPr/>
        </p:nvSpPr>
        <p:spPr>
          <a:xfrm>
            <a:off x="640080" y="3749040"/>
            <a:ext cx="320040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Nirvana Brews Bestsellers · Essentials</a:t>
            </a:r>
            <a:endParaRPr lang="en-US" sz="1100" dirty="0"/>
          </a:p>
        </p:txBody>
      </p:sp>
      <p:sp>
        <p:nvSpPr>
          <p:cNvPr id="18" name="Shape 16"/>
          <p:cNvSpPr/>
          <p:nvPr/>
        </p:nvSpPr>
        <p:spPr>
          <a:xfrm>
            <a:off x="640080" y="4480560"/>
            <a:ext cx="3200400" cy="640080"/>
          </a:xfrm>
          <a:prstGeom prst="rect">
            <a:avLst>
              <a:gd name="adj" fmla="val 7143"/>
            </a:avLst>
          </a:prstGeom>
          <a:solidFill>
            <a:srgbClr val="2B4EFF"/>
          </a:solidFill>
          <a:ln/>
        </p:spPr>
      </p:sp>
      <p:sp>
        <p:nvSpPr>
          <p:cNvPr id="19" name="Text 17"/>
          <p:cNvSpPr/>
          <p:nvPr/>
        </p:nvSpPr>
        <p:spPr>
          <a:xfrm>
            <a:off x="640080" y="4663440"/>
            <a:ext cx="3200400" cy="320040"/>
          </a:xfrm>
          <a:prstGeom prst="rect">
            <a:avLst/>
          </a:prstGeom>
          <a:noFill/>
          <a:ln/>
        </p:spPr>
        <p:txBody>
          <a:bodyPr wrap="square"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"Premium choices for modern living"</a:t>
            </a:r>
            <a:endParaRPr lang="en-US" sz="1200" dirty="0"/>
          </a:p>
        </p:txBody>
      </p:sp>
      <p:sp>
        <p:nvSpPr>
          <p:cNvPr id="20" name="Shape 18"/>
          <p:cNvSpPr/>
          <p:nvPr/>
        </p:nvSpPr>
        <p:spPr>
          <a:xfrm>
            <a:off x="4343400" y="1005840"/>
            <a:ext cx="3566160" cy="5212080"/>
          </a:xfrm>
          <a:prstGeom prst="rect">
            <a:avLst>
              <a:gd name="adj" fmla="val 2564"/>
            </a:avLst>
          </a:prstGeom>
          <a:solidFill>
            <a:srgbClr val="FFFFFF"/>
          </a:solidFill>
          <a:ln w="25400">
            <a:solidFill>
              <a:srgbClr val="8B5CF6"/>
            </a:solidFill>
            <a:prstDash val="solid"/>
          </a:ln>
        </p:spPr>
      </p:sp>
      <p:sp>
        <p:nvSpPr>
          <p:cNvPr id="21" name="Shape 19"/>
          <p:cNvSpPr/>
          <p:nvPr/>
        </p:nvSpPr>
        <p:spPr>
          <a:xfrm>
            <a:off x="4343400" y="1005840"/>
            <a:ext cx="3566160" cy="457200"/>
          </a:xfrm>
          <a:prstGeom prst="rect">
            <a:avLst/>
          </a:prstGeom>
          <a:solidFill>
            <a:srgbClr val="8B5CF6"/>
          </a:solidFill>
          <a:ln/>
        </p:spPr>
      </p:sp>
      <p:sp>
        <p:nvSpPr>
          <p:cNvPr id="22" name="Text 20"/>
          <p:cNvSpPr/>
          <p:nvPr/>
        </p:nvSpPr>
        <p:spPr>
          <a:xfrm>
            <a:off x="4434840" y="1097280"/>
            <a:ext cx="33832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THE DESK GRINDER</a:t>
            </a:r>
            <a:endParaRPr lang="en-US" sz="1300" dirty="0"/>
          </a:p>
        </p:txBody>
      </p:sp>
      <p:sp>
        <p:nvSpPr>
          <p:cNvPr id="23" name="Shape 21"/>
          <p:cNvSpPr/>
          <p:nvPr/>
        </p:nvSpPr>
        <p:spPr>
          <a:xfrm>
            <a:off x="4526280" y="1645920"/>
            <a:ext cx="1554480" cy="640080"/>
          </a:xfrm>
          <a:prstGeom prst="rect">
            <a:avLst/>
          </a:prstGeom>
          <a:solidFill>
            <a:srgbClr val="F3F4F6"/>
          </a:solidFill>
          <a:ln/>
        </p:spPr>
      </p:sp>
      <p:sp>
        <p:nvSpPr>
          <p:cNvPr id="24" name="Text 22"/>
          <p:cNvSpPr/>
          <p:nvPr/>
        </p:nvSpPr>
        <p:spPr>
          <a:xfrm>
            <a:off x="4617720" y="1691640"/>
            <a:ext cx="13716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Age\n24–35</a:t>
            </a:r>
            <a:endParaRPr lang="en-US" sz="1000" dirty="0"/>
          </a:p>
        </p:txBody>
      </p:sp>
      <p:sp>
        <p:nvSpPr>
          <p:cNvPr id="25" name="Shape 23"/>
          <p:cNvSpPr/>
          <p:nvPr/>
        </p:nvSpPr>
        <p:spPr>
          <a:xfrm>
            <a:off x="6172200" y="1645920"/>
            <a:ext cx="1554480" cy="640080"/>
          </a:xfrm>
          <a:prstGeom prst="rect">
            <a:avLst/>
          </a:prstGeom>
          <a:solidFill>
            <a:srgbClr val="F3F4F6"/>
          </a:solidFill>
          <a:ln/>
        </p:spPr>
      </p:sp>
      <p:sp>
        <p:nvSpPr>
          <p:cNvPr id="26" name="Text 24"/>
          <p:cNvSpPr/>
          <p:nvPr/>
        </p:nvSpPr>
        <p:spPr>
          <a:xfrm>
            <a:off x="6263640" y="1691640"/>
            <a:ext cx="13716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Income\n₹50K–₹1.2L/month</a:t>
            </a:r>
            <a:endParaRPr lang="en-US" sz="1000" dirty="0"/>
          </a:p>
        </p:txBody>
      </p:sp>
      <p:sp>
        <p:nvSpPr>
          <p:cNvPr id="27" name="Text 25"/>
          <p:cNvSpPr/>
          <p:nvPr/>
        </p:nvSpPr>
        <p:spPr>
          <a:xfrm>
            <a:off x="4526280" y="2468880"/>
            <a:ext cx="3200400" cy="320040"/>
          </a:xfrm>
          <a:prstGeom prst="rect">
            <a:avLst/>
          </a:prstGeom>
          <a:noFill/>
          <a:ln/>
        </p:spPr>
        <p:txBody>
          <a:bodyPr wrap="square" rtlCol="0" anchor="ctr"/>
          <a:lstStyle/>
          <a:p>
            <a:pPr indent="0" marL="0">
              <a:buNone/>
            </a:pPr>
            <a:r>
              <a:rPr lang="en-US" sz="1000" b="1" dirty="0">
                <a:solidFill>
                  <a:srgbClr val="888888"/>
                </a:solidFill>
                <a:latin typeface="Plus Jakarta Sans" pitchFamily="34" charset="0"/>
                <a:ea typeface="Plus Jakarta Sans" pitchFamily="34" charset="-122"/>
                <a:cs typeface="Plus Jakarta Sans" pitchFamily="34" charset="-120"/>
              </a:rPr>
              <a:t>MINDSET</a:t>
            </a:r>
            <a:endParaRPr lang="en-US" sz="1000" dirty="0"/>
          </a:p>
        </p:txBody>
      </p:sp>
      <p:sp>
        <p:nvSpPr>
          <p:cNvPr id="28" name="Text 26"/>
          <p:cNvSpPr/>
          <p:nvPr/>
        </p:nvSpPr>
        <p:spPr>
          <a:xfrm>
            <a:off x="4526280" y="2651760"/>
            <a:ext cx="320040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Needs clean, high-grade caffeine focus for long work-from-home shifts.</a:t>
            </a:r>
            <a:endParaRPr lang="en-US" sz="1100" dirty="0"/>
          </a:p>
        </p:txBody>
      </p:sp>
      <p:sp>
        <p:nvSpPr>
          <p:cNvPr id="29" name="Text 27"/>
          <p:cNvSpPr/>
          <p:nvPr/>
        </p:nvSpPr>
        <p:spPr>
          <a:xfrm>
            <a:off x="4526280" y="3566160"/>
            <a:ext cx="3200400" cy="320040"/>
          </a:xfrm>
          <a:prstGeom prst="rect">
            <a:avLst/>
          </a:prstGeom>
          <a:noFill/>
          <a:ln/>
        </p:spPr>
        <p:txBody>
          <a:bodyPr wrap="square" rtlCol="0" anchor="ctr"/>
          <a:lstStyle/>
          <a:p>
            <a:pPr indent="0" marL="0">
              <a:buNone/>
            </a:pPr>
            <a:r>
              <a:rPr lang="en-US" sz="1000" b="1" dirty="0">
                <a:solidFill>
                  <a:srgbClr val="888888"/>
                </a:solidFill>
                <a:latin typeface="Plus Jakarta Sans" pitchFamily="34" charset="0"/>
                <a:ea typeface="Plus Jakarta Sans" pitchFamily="34" charset="-122"/>
                <a:cs typeface="Plus Jakarta Sans" pitchFamily="34" charset="-120"/>
              </a:rPr>
              <a:t>HERO PRODUCTS</a:t>
            </a:r>
            <a:endParaRPr lang="en-US" sz="1000" dirty="0"/>
          </a:p>
        </p:txBody>
      </p:sp>
      <p:sp>
        <p:nvSpPr>
          <p:cNvPr id="30" name="Text 28"/>
          <p:cNvSpPr/>
          <p:nvPr/>
        </p:nvSpPr>
        <p:spPr>
          <a:xfrm>
            <a:off x="4526280" y="3749040"/>
            <a:ext cx="320040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Nirvana Brews Bestsellers · Essentials</a:t>
            </a:r>
            <a:endParaRPr lang="en-US" sz="1100" dirty="0"/>
          </a:p>
        </p:txBody>
      </p:sp>
      <p:sp>
        <p:nvSpPr>
          <p:cNvPr id="31" name="Shape 29"/>
          <p:cNvSpPr/>
          <p:nvPr/>
        </p:nvSpPr>
        <p:spPr>
          <a:xfrm>
            <a:off x="4526280" y="4480560"/>
            <a:ext cx="3200400" cy="640080"/>
          </a:xfrm>
          <a:prstGeom prst="rect">
            <a:avLst>
              <a:gd name="adj" fmla="val 7143"/>
            </a:avLst>
          </a:prstGeom>
          <a:solidFill>
            <a:srgbClr val="8B5CF6"/>
          </a:solidFill>
          <a:ln/>
        </p:spPr>
      </p:sp>
      <p:sp>
        <p:nvSpPr>
          <p:cNvPr id="32" name="Text 30"/>
          <p:cNvSpPr/>
          <p:nvPr/>
        </p:nvSpPr>
        <p:spPr>
          <a:xfrm>
            <a:off x="4526280" y="4663440"/>
            <a:ext cx="3200400" cy="320040"/>
          </a:xfrm>
          <a:prstGeom prst="rect">
            <a:avLst/>
          </a:prstGeom>
          <a:noFill/>
          <a:ln/>
        </p:spPr>
        <p:txBody>
          <a:bodyPr wrap="square"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"Quality and style in perfect balance"</a:t>
            </a:r>
            <a:endParaRPr lang="en-US" sz="1200" dirty="0"/>
          </a:p>
        </p:txBody>
      </p:sp>
      <p:sp>
        <p:nvSpPr>
          <p:cNvPr id="33" name="Shape 31"/>
          <p:cNvSpPr/>
          <p:nvPr/>
        </p:nvSpPr>
        <p:spPr>
          <a:xfrm>
            <a:off x="8229600" y="1005840"/>
            <a:ext cx="3566160" cy="5212080"/>
          </a:xfrm>
          <a:prstGeom prst="rect">
            <a:avLst>
              <a:gd name="adj" fmla="val 2564"/>
            </a:avLst>
          </a:prstGeom>
          <a:solidFill>
            <a:srgbClr val="FFFFFF"/>
          </a:solidFill>
          <a:ln w="25400">
            <a:solidFill>
              <a:srgbClr val="10B981"/>
            </a:solidFill>
            <a:prstDash val="solid"/>
          </a:ln>
        </p:spPr>
      </p:sp>
      <p:sp>
        <p:nvSpPr>
          <p:cNvPr id="34" name="Shape 32"/>
          <p:cNvSpPr/>
          <p:nvPr/>
        </p:nvSpPr>
        <p:spPr>
          <a:xfrm>
            <a:off x="8229600" y="1005840"/>
            <a:ext cx="3566160" cy="457200"/>
          </a:xfrm>
          <a:prstGeom prst="rect">
            <a:avLst/>
          </a:prstGeom>
          <a:solidFill>
            <a:srgbClr val="10B981"/>
          </a:solidFill>
          <a:ln/>
        </p:spPr>
      </p:sp>
      <p:sp>
        <p:nvSpPr>
          <p:cNvPr id="35" name="Text 33"/>
          <p:cNvSpPr/>
          <p:nvPr/>
        </p:nvSpPr>
        <p:spPr>
          <a:xfrm>
            <a:off x="8321040" y="1097280"/>
            <a:ext cx="33832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THE ECO-WELLNESS BUYER</a:t>
            </a:r>
            <a:endParaRPr lang="en-US" sz="1300" dirty="0"/>
          </a:p>
        </p:txBody>
      </p:sp>
      <p:sp>
        <p:nvSpPr>
          <p:cNvPr id="36" name="Shape 34"/>
          <p:cNvSpPr/>
          <p:nvPr/>
        </p:nvSpPr>
        <p:spPr>
          <a:xfrm>
            <a:off x="8412480" y="1645920"/>
            <a:ext cx="1554480" cy="640080"/>
          </a:xfrm>
          <a:prstGeom prst="rect">
            <a:avLst/>
          </a:prstGeom>
          <a:solidFill>
            <a:srgbClr val="F3F4F6"/>
          </a:solidFill>
          <a:ln/>
        </p:spPr>
      </p:sp>
      <p:sp>
        <p:nvSpPr>
          <p:cNvPr id="37" name="Text 35"/>
          <p:cNvSpPr/>
          <p:nvPr/>
        </p:nvSpPr>
        <p:spPr>
          <a:xfrm>
            <a:off x="8503920" y="1691640"/>
            <a:ext cx="13716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Age\n21–32</a:t>
            </a:r>
            <a:endParaRPr lang="en-US" sz="1000" dirty="0"/>
          </a:p>
        </p:txBody>
      </p:sp>
      <p:sp>
        <p:nvSpPr>
          <p:cNvPr id="38" name="Shape 36"/>
          <p:cNvSpPr/>
          <p:nvPr/>
        </p:nvSpPr>
        <p:spPr>
          <a:xfrm>
            <a:off x="10058400" y="1645920"/>
            <a:ext cx="1554480" cy="640080"/>
          </a:xfrm>
          <a:prstGeom prst="rect">
            <a:avLst/>
          </a:prstGeom>
          <a:solidFill>
            <a:srgbClr val="F3F4F6"/>
          </a:solidFill>
          <a:ln/>
        </p:spPr>
      </p:sp>
      <p:sp>
        <p:nvSpPr>
          <p:cNvPr id="39" name="Text 37"/>
          <p:cNvSpPr/>
          <p:nvPr/>
        </p:nvSpPr>
        <p:spPr>
          <a:xfrm>
            <a:off x="10149840" y="1691640"/>
            <a:ext cx="13716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Income\n₹30K–₹80K/month</a:t>
            </a:r>
            <a:endParaRPr lang="en-US" sz="1000" dirty="0"/>
          </a:p>
        </p:txBody>
      </p:sp>
      <p:sp>
        <p:nvSpPr>
          <p:cNvPr id="40" name="Text 38"/>
          <p:cNvSpPr/>
          <p:nvPr/>
        </p:nvSpPr>
        <p:spPr>
          <a:xfrm>
            <a:off x="8412480" y="2468880"/>
            <a:ext cx="3200400" cy="320040"/>
          </a:xfrm>
          <a:prstGeom prst="rect">
            <a:avLst/>
          </a:prstGeom>
          <a:noFill/>
          <a:ln/>
        </p:spPr>
        <p:txBody>
          <a:bodyPr wrap="square" rtlCol="0" anchor="ctr"/>
          <a:lstStyle/>
          <a:p>
            <a:pPr indent="0" marL="0">
              <a:buNone/>
            </a:pPr>
            <a:r>
              <a:rPr lang="en-US" sz="1000" b="1" dirty="0">
                <a:solidFill>
                  <a:srgbClr val="888888"/>
                </a:solidFill>
                <a:latin typeface="Plus Jakarta Sans" pitchFamily="34" charset="0"/>
                <a:ea typeface="Plus Jakarta Sans" pitchFamily="34" charset="-122"/>
                <a:cs typeface="Plus Jakarta Sans" pitchFamily="34" charset="-120"/>
              </a:rPr>
              <a:t>MINDSET</a:t>
            </a:r>
            <a:endParaRPr lang="en-US" sz="1000" dirty="0"/>
          </a:p>
        </p:txBody>
      </p:sp>
      <p:sp>
        <p:nvSpPr>
          <p:cNvPr id="41" name="Text 39"/>
          <p:cNvSpPr/>
          <p:nvPr/>
        </p:nvSpPr>
        <p:spPr>
          <a:xfrm>
            <a:off x="8412480" y="2651760"/>
            <a:ext cx="320040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Values organic sourcing and sustainable, ethical trade practices.</a:t>
            </a:r>
            <a:endParaRPr lang="en-US" sz="1100" dirty="0"/>
          </a:p>
        </p:txBody>
      </p:sp>
      <p:sp>
        <p:nvSpPr>
          <p:cNvPr id="42" name="Text 40"/>
          <p:cNvSpPr/>
          <p:nvPr/>
        </p:nvSpPr>
        <p:spPr>
          <a:xfrm>
            <a:off x="8412480" y="3566160"/>
            <a:ext cx="3200400" cy="320040"/>
          </a:xfrm>
          <a:prstGeom prst="rect">
            <a:avLst/>
          </a:prstGeom>
          <a:noFill/>
          <a:ln/>
        </p:spPr>
        <p:txBody>
          <a:bodyPr wrap="square" rtlCol="0" anchor="ctr"/>
          <a:lstStyle/>
          <a:p>
            <a:pPr indent="0" marL="0">
              <a:buNone/>
            </a:pPr>
            <a:r>
              <a:rPr lang="en-US" sz="1000" b="1" dirty="0">
                <a:solidFill>
                  <a:srgbClr val="888888"/>
                </a:solidFill>
                <a:latin typeface="Plus Jakarta Sans" pitchFamily="34" charset="0"/>
                <a:ea typeface="Plus Jakarta Sans" pitchFamily="34" charset="-122"/>
                <a:cs typeface="Plus Jakarta Sans" pitchFamily="34" charset="-120"/>
              </a:rPr>
              <a:t>HERO PRODUCTS</a:t>
            </a:r>
            <a:endParaRPr lang="en-US" sz="1000" dirty="0"/>
          </a:p>
        </p:txBody>
      </p:sp>
      <p:sp>
        <p:nvSpPr>
          <p:cNvPr id="43" name="Text 41"/>
          <p:cNvSpPr/>
          <p:nvPr/>
        </p:nvSpPr>
        <p:spPr>
          <a:xfrm>
            <a:off x="8412480" y="3749040"/>
            <a:ext cx="3200400" cy="320040"/>
          </a:xfrm>
          <a:prstGeom prst="rect">
            <a:avLst/>
          </a:prstGeom>
          <a:noFill/>
          <a:ln/>
        </p:spPr>
        <p:txBody>
          <a:bodyPr wrap="square" rtlCol="0" anchor="ctr"/>
          <a:lstStyle/>
          <a:p>
            <a:pPr indent="0" marL="0">
              <a:buNone/>
            </a:pPr>
            <a:r>
              <a:rPr lang="en-US" sz="1100" dirty="0">
                <a:solidFill>
                  <a:srgbClr val="0B1629"/>
                </a:solidFill>
                <a:latin typeface="Plus Jakarta Sans" pitchFamily="34" charset="0"/>
                <a:ea typeface="Plus Jakarta Sans" pitchFamily="34" charset="-122"/>
                <a:cs typeface="Plus Jakarta Sans" pitchFamily="34" charset="-120"/>
              </a:rPr>
              <a:t>Nirvana Brews Bestsellers · Essentials</a:t>
            </a:r>
            <a:endParaRPr lang="en-US" sz="1100" dirty="0"/>
          </a:p>
        </p:txBody>
      </p:sp>
      <p:sp>
        <p:nvSpPr>
          <p:cNvPr id="44" name="Shape 42"/>
          <p:cNvSpPr/>
          <p:nvPr/>
        </p:nvSpPr>
        <p:spPr>
          <a:xfrm>
            <a:off x="8412480" y="4480560"/>
            <a:ext cx="3200400" cy="640080"/>
          </a:xfrm>
          <a:prstGeom prst="rect">
            <a:avLst>
              <a:gd name="adj" fmla="val 7143"/>
            </a:avLst>
          </a:prstGeom>
          <a:solidFill>
            <a:srgbClr val="10B981"/>
          </a:solidFill>
          <a:ln/>
        </p:spPr>
      </p:sp>
      <p:sp>
        <p:nvSpPr>
          <p:cNvPr id="45" name="Text 43"/>
          <p:cNvSpPr/>
          <p:nvPr/>
        </p:nvSpPr>
        <p:spPr>
          <a:xfrm>
            <a:off x="8412480" y="4663440"/>
            <a:ext cx="3200400" cy="320040"/>
          </a:xfrm>
          <a:prstGeom prst="rect">
            <a:avLst/>
          </a:prstGeom>
          <a:noFill/>
          <a:ln/>
        </p:spPr>
        <p:txBody>
          <a:bodyPr wrap="square"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"Your journey starts with the best"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MARKET RESEARCH</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India Premium Coffee Market — Dynamic Retail Opportunity</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2651760" cy="1097280"/>
          </a:xfrm>
          <a:prstGeom prst="rect">
            <a:avLst>
              <a:gd name="adj" fmla="val 4167"/>
            </a:avLst>
          </a:prstGeom>
          <a:solidFill>
            <a:srgbClr val="FFFFFF"/>
          </a:solidFill>
          <a:ln w="25400">
            <a:solidFill>
              <a:srgbClr val="2B4EFF"/>
            </a:solidFill>
            <a:prstDash val="solid"/>
          </a:ln>
        </p:spPr>
      </p:sp>
      <p:sp>
        <p:nvSpPr>
          <p:cNvPr id="8" name="Text 6"/>
          <p:cNvSpPr/>
          <p:nvPr/>
        </p:nvSpPr>
        <p:spPr>
          <a:xfrm>
            <a:off x="640080" y="1097280"/>
            <a:ext cx="2286000" cy="320040"/>
          </a:xfrm>
          <a:prstGeom prst="rect">
            <a:avLst/>
          </a:prstGeom>
          <a:noFill/>
          <a:ln/>
        </p:spPr>
        <p:txBody>
          <a:bodyPr wrap="square" rtlCol="0" anchor="ctr"/>
          <a:lstStyle/>
          <a:p>
            <a:pPr indent="0" marL="0">
              <a:buNone/>
            </a:pPr>
            <a:r>
              <a:rPr lang="en-US" sz="2400" b="1" dirty="0">
                <a:solidFill>
                  <a:srgbClr val="2B4EFF"/>
                </a:solidFill>
                <a:latin typeface="Plus Jakarta Sans" pitchFamily="34" charset="0"/>
                <a:ea typeface="Plus Jakarta Sans" pitchFamily="34" charset="-122"/>
                <a:cs typeface="Plus Jakarta Sans" pitchFamily="34" charset="-120"/>
              </a:rPr>
              <a:t>₹1,20,000 Cr</a:t>
            </a:r>
            <a:endParaRPr lang="en-US" sz="2400" dirty="0"/>
          </a:p>
        </p:txBody>
      </p:sp>
      <p:sp>
        <p:nvSpPr>
          <p:cNvPr id="9" name="Text 7"/>
          <p:cNvSpPr/>
          <p:nvPr/>
        </p:nvSpPr>
        <p:spPr>
          <a:xfrm>
            <a:off x="640080" y="155448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Total India Premium Coffee Retail Market</a:t>
            </a:r>
            <a:endParaRPr lang="en-US" sz="1000" dirty="0"/>
          </a:p>
        </p:txBody>
      </p:sp>
      <p:sp>
        <p:nvSpPr>
          <p:cNvPr id="10" name="Shape 8"/>
          <p:cNvSpPr/>
          <p:nvPr/>
        </p:nvSpPr>
        <p:spPr>
          <a:xfrm>
            <a:off x="3291840" y="1005840"/>
            <a:ext cx="2651760" cy="1097280"/>
          </a:xfrm>
          <a:prstGeom prst="rect">
            <a:avLst>
              <a:gd name="adj" fmla="val 4167"/>
            </a:avLst>
          </a:prstGeom>
          <a:solidFill>
            <a:srgbClr val="FFFFFF"/>
          </a:solidFill>
          <a:ln w="25400">
            <a:solidFill>
              <a:srgbClr val="10B981"/>
            </a:solidFill>
            <a:prstDash val="solid"/>
          </a:ln>
        </p:spPr>
      </p:sp>
      <p:sp>
        <p:nvSpPr>
          <p:cNvPr id="11" name="Text 9"/>
          <p:cNvSpPr/>
          <p:nvPr/>
        </p:nvSpPr>
        <p:spPr>
          <a:xfrm>
            <a:off x="3474720" y="1097280"/>
            <a:ext cx="2286000" cy="320040"/>
          </a:xfrm>
          <a:prstGeom prst="rect">
            <a:avLst/>
          </a:prstGeom>
          <a:noFill/>
          <a:ln/>
        </p:spPr>
        <p:txBody>
          <a:bodyPr wrap="square" rtlCol="0" anchor="ctr"/>
          <a:lstStyle/>
          <a:p>
            <a:pPr indent="0" marL="0">
              <a:buNone/>
            </a:pPr>
            <a:r>
              <a:rPr lang="en-US" sz="2400" b="1" dirty="0">
                <a:solidFill>
                  <a:srgbClr val="10B981"/>
                </a:solidFill>
                <a:latin typeface="Plus Jakarta Sans" pitchFamily="34" charset="0"/>
                <a:ea typeface="Plus Jakarta Sans" pitchFamily="34" charset="-122"/>
                <a:cs typeface="Plus Jakarta Sans" pitchFamily="34" charset="-120"/>
              </a:rPr>
              <a:t>38%</a:t>
            </a:r>
            <a:endParaRPr lang="en-US" sz="2400" dirty="0"/>
          </a:p>
        </p:txBody>
      </p:sp>
      <p:sp>
        <p:nvSpPr>
          <p:cNvPr id="12" name="Text 10"/>
          <p:cNvSpPr/>
          <p:nvPr/>
        </p:nvSpPr>
        <p:spPr>
          <a:xfrm>
            <a:off x="3474720" y="155448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YoY Segment D2C Growth Rate</a:t>
            </a:r>
            <a:endParaRPr lang="en-US" sz="1000" dirty="0"/>
          </a:p>
        </p:txBody>
      </p:sp>
      <p:sp>
        <p:nvSpPr>
          <p:cNvPr id="13" name="Shape 11"/>
          <p:cNvSpPr/>
          <p:nvPr/>
        </p:nvSpPr>
        <p:spPr>
          <a:xfrm>
            <a:off x="6126480" y="1005840"/>
            <a:ext cx="2651760" cy="1097280"/>
          </a:xfrm>
          <a:prstGeom prst="rect">
            <a:avLst>
              <a:gd name="adj" fmla="val 4167"/>
            </a:avLst>
          </a:prstGeom>
          <a:solidFill>
            <a:srgbClr val="FFFFFF"/>
          </a:solidFill>
          <a:ln w="25400">
            <a:solidFill>
              <a:srgbClr val="8B5CF6"/>
            </a:solidFill>
            <a:prstDash val="solid"/>
          </a:ln>
        </p:spPr>
      </p:sp>
      <p:sp>
        <p:nvSpPr>
          <p:cNvPr id="14" name="Text 12"/>
          <p:cNvSpPr/>
          <p:nvPr/>
        </p:nvSpPr>
        <p:spPr>
          <a:xfrm>
            <a:off x="6309360" y="1097280"/>
            <a:ext cx="2286000" cy="320040"/>
          </a:xfrm>
          <a:prstGeom prst="rect">
            <a:avLst/>
          </a:prstGeom>
          <a:noFill/>
          <a:ln/>
        </p:spPr>
        <p:txBody>
          <a:bodyPr wrap="square" rtlCol="0" anchor="ctr"/>
          <a:lstStyle/>
          <a:p>
            <a:pPr indent="0" marL="0">
              <a:buNone/>
            </a:pPr>
            <a:r>
              <a:rPr lang="en-US" sz="2400" b="1" dirty="0">
                <a:solidFill>
                  <a:srgbClr val="8B5CF6"/>
                </a:solidFill>
                <a:latin typeface="Plus Jakarta Sans" pitchFamily="34" charset="0"/>
                <a:ea typeface="Plus Jakarta Sans" pitchFamily="34" charset="-122"/>
                <a:cs typeface="Plus Jakarta Sans" pitchFamily="34" charset="-120"/>
              </a:rPr>
              <a:t>150M+</a:t>
            </a:r>
            <a:endParaRPr lang="en-US" sz="2400" dirty="0"/>
          </a:p>
        </p:txBody>
      </p:sp>
      <p:sp>
        <p:nvSpPr>
          <p:cNvPr id="15" name="Text 13"/>
          <p:cNvSpPr/>
          <p:nvPr/>
        </p:nvSpPr>
        <p:spPr>
          <a:xfrm>
            <a:off x="6309360" y="155448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Active Digital D2C Shoppers</a:t>
            </a:r>
            <a:endParaRPr lang="en-US" sz="1000" dirty="0"/>
          </a:p>
        </p:txBody>
      </p:sp>
      <p:sp>
        <p:nvSpPr>
          <p:cNvPr id="16" name="Shape 14"/>
          <p:cNvSpPr/>
          <p:nvPr/>
        </p:nvSpPr>
        <p:spPr>
          <a:xfrm>
            <a:off x="8961120" y="1005840"/>
            <a:ext cx="2651760" cy="1097280"/>
          </a:xfrm>
          <a:prstGeom prst="rect">
            <a:avLst>
              <a:gd name="adj" fmla="val 4167"/>
            </a:avLst>
          </a:prstGeom>
          <a:solidFill>
            <a:srgbClr val="FFFFFF"/>
          </a:solidFill>
          <a:ln w="25400">
            <a:solidFill>
              <a:srgbClr val="F59E0B"/>
            </a:solidFill>
            <a:prstDash val="solid"/>
          </a:ln>
        </p:spPr>
      </p:sp>
      <p:sp>
        <p:nvSpPr>
          <p:cNvPr id="17" name="Text 15"/>
          <p:cNvSpPr/>
          <p:nvPr/>
        </p:nvSpPr>
        <p:spPr>
          <a:xfrm>
            <a:off x="9144000" y="1097280"/>
            <a:ext cx="2286000" cy="320040"/>
          </a:xfrm>
          <a:prstGeom prst="rect">
            <a:avLst/>
          </a:prstGeom>
          <a:noFill/>
          <a:ln/>
        </p:spPr>
        <p:txBody>
          <a:bodyPr wrap="square" rtlCol="0" anchor="ctr"/>
          <a:lstStyle/>
          <a:p>
            <a:pPr indent="0" marL="0">
              <a:buNone/>
            </a:pPr>
            <a:r>
              <a:rPr lang="en-US" sz="2400" b="1" dirty="0">
                <a:solidFill>
                  <a:srgbClr val="F59E0B"/>
                </a:solidFill>
                <a:latin typeface="Plus Jakarta Sans" pitchFamily="34" charset="0"/>
                <a:ea typeface="Plus Jakarta Sans" pitchFamily="34" charset="-122"/>
                <a:cs typeface="Plus Jakarta Sans" pitchFamily="34" charset="-120"/>
              </a:rPr>
              <a:t>74%</a:t>
            </a:r>
            <a:endParaRPr lang="en-US" sz="2400" dirty="0"/>
          </a:p>
        </p:txBody>
      </p:sp>
      <p:sp>
        <p:nvSpPr>
          <p:cNvPr id="18" name="Text 16"/>
          <p:cNvSpPr/>
          <p:nvPr/>
        </p:nvSpPr>
        <p:spPr>
          <a:xfrm>
            <a:off x="9144000" y="155448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Mobile-First Purchase Rate</a:t>
            </a:r>
            <a:endParaRPr lang="en-US" sz="1000" dirty="0"/>
          </a:p>
        </p:txBody>
      </p:sp>
      <p:sp>
        <p:nvSpPr>
          <p:cNvPr id="19" name="Shape 17"/>
          <p:cNvSpPr/>
          <p:nvPr/>
        </p:nvSpPr>
        <p:spPr>
          <a:xfrm>
            <a:off x="457200" y="2286000"/>
            <a:ext cx="5394960" cy="3931920"/>
          </a:xfrm>
          <a:prstGeom prst="rect">
            <a:avLst>
              <a:gd name="adj" fmla="val 2326"/>
            </a:avLst>
          </a:prstGeom>
          <a:solidFill>
            <a:srgbClr val="FFFFFF"/>
          </a:solidFill>
          <a:ln/>
        </p:spPr>
      </p:sp>
      <p:sp>
        <p:nvSpPr>
          <p:cNvPr id="20" name="Shape 18"/>
          <p:cNvSpPr/>
          <p:nvPr/>
        </p:nvSpPr>
        <p:spPr>
          <a:xfrm>
            <a:off x="457200" y="2286000"/>
            <a:ext cx="5394960" cy="457200"/>
          </a:xfrm>
          <a:prstGeom prst="rect">
            <a:avLst/>
          </a:prstGeom>
          <a:solidFill>
            <a:srgbClr val="0B1629"/>
          </a:solidFill>
          <a:ln/>
        </p:spPr>
      </p:sp>
      <p:sp>
        <p:nvSpPr>
          <p:cNvPr id="21" name="Text 19"/>
          <p:cNvSpPr/>
          <p:nvPr/>
        </p:nvSpPr>
        <p:spPr>
          <a:xfrm>
            <a:off x="640080" y="2423160"/>
            <a:ext cx="50292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MARKET SIZING</a:t>
            </a:r>
            <a:endParaRPr lang="en-US" sz="1200" dirty="0"/>
          </a:p>
        </p:txBody>
      </p:sp>
      <p:sp>
        <p:nvSpPr>
          <p:cNvPr id="22" name="Text 20"/>
          <p:cNvSpPr/>
          <p:nvPr/>
        </p:nvSpPr>
        <p:spPr>
          <a:xfrm>
            <a:off x="640080" y="2926080"/>
            <a:ext cx="5029200" cy="0"/>
          </a:xfrm>
          <a:prstGeom prst="rect">
            <a:avLst/>
          </a:prstGeom>
          <a:noFill/>
          <a:ln/>
        </p:spPr>
        <p:txBody>
          <a:bodyPr wrap="square" rtlCol="0" anchor="ctr"/>
          <a:lstStyle/>
          <a:p>
            <a:pPr indent="0" marL="0">
              <a:lnSpc>
                <a:spcPts val="2600"/>
              </a:lnSpc>
              <a:buNone/>
            </a:pPr>
            <a:r>
              <a:rPr lang="en-US" sz="1200" dirty="0">
                <a:solidFill>
                  <a:srgbClr val="0B1629"/>
                </a:solidFill>
                <a:latin typeface="Plus Jakarta Sans" pitchFamily="34" charset="0"/>
                <a:ea typeface="Plus Jakarta Sans" pitchFamily="34" charset="-122"/>
                <a:cs typeface="Plus Jakarta Sans" pitchFamily="34" charset="-120"/>
              </a:rPr>
              <a:t>TAM: ₹1,20,000 Cr — Total India Premium Coffee retail retail\nSAM: ₹15,000 Cr — Premium D2C D2C segment\nSOM: ₹3–5 Cr ARR — Realistic 12-month target\nGAP: OPEN FIELD — Trust deficit and poor sizing open the market.</a:t>
            </a:r>
            <a:endParaRPr lang="en-US" sz="1200" dirty="0"/>
          </a:p>
        </p:txBody>
      </p:sp>
      <p:sp>
        <p:nvSpPr>
          <p:cNvPr id="23" name="Shape 21"/>
          <p:cNvSpPr/>
          <p:nvPr/>
        </p:nvSpPr>
        <p:spPr>
          <a:xfrm>
            <a:off x="6309360" y="2286000"/>
            <a:ext cx="5394960" cy="3931920"/>
          </a:xfrm>
          <a:prstGeom prst="rect">
            <a:avLst>
              <a:gd name="adj" fmla="val 2326"/>
            </a:avLst>
          </a:prstGeom>
          <a:solidFill>
            <a:srgbClr val="FFFFFF"/>
          </a:solidFill>
          <a:ln/>
        </p:spPr>
      </p:sp>
      <p:sp>
        <p:nvSpPr>
          <p:cNvPr id="24" name="Shape 22"/>
          <p:cNvSpPr/>
          <p:nvPr/>
        </p:nvSpPr>
        <p:spPr>
          <a:xfrm>
            <a:off x="6309360" y="2286000"/>
            <a:ext cx="5394960" cy="457200"/>
          </a:xfrm>
          <a:prstGeom prst="rect">
            <a:avLst/>
          </a:prstGeom>
          <a:solidFill>
            <a:srgbClr val="F59E0B"/>
          </a:solidFill>
          <a:ln/>
        </p:spPr>
      </p:sp>
      <p:sp>
        <p:nvSpPr>
          <p:cNvPr id="25" name="Text 23"/>
          <p:cNvSpPr/>
          <p:nvPr/>
        </p:nvSpPr>
        <p:spPr>
          <a:xfrm>
            <a:off x="6492240" y="2423160"/>
            <a:ext cx="521208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KEY MARKET TRENDS</a:t>
            </a:r>
            <a:endParaRPr lang="en-US" sz="1200" dirty="0"/>
          </a:p>
        </p:txBody>
      </p:sp>
      <p:sp>
        <p:nvSpPr>
          <p:cNvPr id="26" name="Text 24"/>
          <p:cNvSpPr/>
          <p:nvPr/>
        </p:nvSpPr>
        <p:spPr>
          <a:xfrm>
            <a:off x="6492240" y="2926080"/>
            <a:ext cx="5029200" cy="320040"/>
          </a:xfrm>
          <a:prstGeom prst="rect">
            <a:avLst/>
          </a:prstGeom>
          <a:noFill/>
          <a:ln/>
        </p:spPr>
        <p:txBody>
          <a:bodyPr wrap="square" rtlCol="0" anchor="ctr"/>
          <a:lstStyle/>
          <a:p>
            <a:pPr indent="0" marL="0">
              <a:lnSpc>
                <a:spcPts val="2600"/>
              </a:lnSpc>
              <a:buNone/>
            </a:pPr>
            <a:r>
              <a:rPr lang="en-US" sz="1200" dirty="0">
                <a:solidFill>
                  <a:srgbClr val="0B1629"/>
                </a:solidFill>
                <a:latin typeface="Plus Jakarta Sans" pitchFamily="34" charset="0"/>
                <a:ea typeface="Plus Jakarta Sans" pitchFamily="34" charset="-122"/>
                <a:cs typeface="Plus Jakarta Sans" pitchFamily="34" charset="-120"/>
              </a:rPr>
              <a:t>· Brand Trust: Consumers value transparency and genuine reviews.\n· Premiumization: Buyers are trading up to premium products.\n· Creator Commerce: 62% buy based on creator recommendation.\n· Local Sizing Gap: Global sizing ratios do not fit Indian consumers.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COMPETITOR LANDSCAPE</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Where We Win — Attack &amp; Defend Map</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47120" cy="4572000"/>
        </p:xfrm>
        <a:graphic>
          <a:graphicData uri="http://schemas.openxmlformats.org/drawingml/2006/table">
            <a:tbl>
              <a:tblPr/>
              <a:tblGrid>
                <a:gridCol w="1645920"/>
                <a:gridCol w="1371600"/>
                <a:gridCol w="731520"/>
                <a:gridCol w="1371600"/>
                <a:gridCol w="2926080"/>
                <a:gridCol w="3200400"/>
              </a:tblGrid>
              <a:tr h="571500">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BRAND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PRICE RANGE</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D2C?</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THREAT</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THEIR GAP</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NIRVANA BREWS WINS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Legacy Brands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₹999–4,999</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HIGH</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Slow to adapt to digital trends. Impersonal.</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Direct relation + community agility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Mass Market Players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₹299–999</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MEDIUM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Low quality. Discount-addicted.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Premium positioning + high utility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Niche Competitors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₹599–1,499</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HIGH</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Limited product line. Weak visual storytelling.</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Broad product suite + robust brand narrative</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New D2C Entrants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₹499–1,299</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MEDIUM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 custom sizing or fit. Supply chain issues.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Reliable delivery + localized sizing</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Imported Brands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₹2,500+</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LOW</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High customs duty. Not built for India.</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Localized pricing + perfect fit</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Boutique Stores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₹1,500+</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LOW</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Poor online experience. Slow delivery.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Seamless Shopify CRO + fast shipping</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5715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Global Benchmark</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₹5,000+</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BENCHMARK</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Not customized for local market.</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Own domestic market before they enter</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8" name="Shape 5"/>
          <p:cNvSpPr/>
          <p:nvPr/>
        </p:nvSpPr>
        <p:spPr>
          <a:xfrm>
            <a:off x="457200" y="5669280"/>
            <a:ext cx="11247120" cy="548640"/>
          </a:xfrm>
          <a:prstGeom prst="rect">
            <a:avLst>
              <a:gd name="adj" fmla="val 8333"/>
            </a:avLst>
          </a:prstGeom>
          <a:solidFill>
            <a:srgbClr val="F59E0B"/>
          </a:solidFill>
          <a:ln/>
        </p:spPr>
      </p:sp>
      <p:sp>
        <p:nvSpPr>
          <p:cNvPr id="9" name="Text 6"/>
          <p:cNvSpPr/>
          <p:nvPr/>
        </p:nvSpPr>
        <p:spPr>
          <a:xfrm>
            <a:off x="640080" y="5760720"/>
            <a:ext cx="10881360" cy="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KEY INSIGHT: No competitor owns the local Indian story + premium D2C retention setup combined. This is our unclaimed territory.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PRODUCT COMMS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8 Hero Products — Message, Feature &amp; Creative Bible</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2651760" cy="2468880"/>
          </a:xfrm>
          <a:prstGeom prst="rect">
            <a:avLst>
              <a:gd name="adj" fmla="val 3704"/>
            </a:avLst>
          </a:prstGeom>
          <a:solidFill>
            <a:srgbClr val="FFFFFF"/>
          </a:solidFill>
          <a:ln w="12700">
            <a:solidFill>
              <a:srgbClr val="E5E7EB"/>
            </a:solidFill>
            <a:prstDash val="solid"/>
          </a:ln>
        </p:spPr>
      </p:sp>
      <p:sp>
        <p:nvSpPr>
          <p:cNvPr id="8" name="Shape 6"/>
          <p:cNvSpPr/>
          <p:nvPr/>
        </p:nvSpPr>
        <p:spPr>
          <a:xfrm>
            <a:off x="457200" y="1005840"/>
            <a:ext cx="2651760" cy="411480"/>
          </a:xfrm>
          <a:prstGeom prst="rect">
            <a:avLst>
              <a:gd name="adj" fmla="val 22222"/>
            </a:avLst>
          </a:prstGeom>
          <a:solidFill>
            <a:srgbClr val="2B4EFF"/>
          </a:solidFill>
          <a:ln/>
        </p:spPr>
      </p:sp>
      <p:sp>
        <p:nvSpPr>
          <p:cNvPr id="9" name="Text 7"/>
          <p:cNvSpPr/>
          <p:nvPr/>
        </p:nvSpPr>
        <p:spPr>
          <a:xfrm>
            <a:off x="594360" y="109728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HERO · SIGNATURE PRODUCT</a:t>
            </a:r>
            <a:endParaRPr lang="en-US" sz="1100" dirty="0"/>
          </a:p>
        </p:txBody>
      </p:sp>
      <p:sp>
        <p:nvSpPr>
          <p:cNvPr id="10" name="Text 8"/>
          <p:cNvSpPr/>
          <p:nvPr/>
        </p:nvSpPr>
        <p:spPr>
          <a:xfrm>
            <a:off x="594360" y="155448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"Premium quality you can feel"</a:t>
            </a:r>
            <a:endParaRPr lang="en-US" sz="1000" dirty="0"/>
          </a:p>
        </p:txBody>
      </p:sp>
      <p:sp>
        <p:nvSpPr>
          <p:cNvPr id="11" name="Shape 9"/>
          <p:cNvSpPr/>
          <p:nvPr/>
        </p:nvSpPr>
        <p:spPr>
          <a:xfrm>
            <a:off x="594360" y="2103120"/>
            <a:ext cx="2377440" cy="320040"/>
          </a:xfrm>
          <a:prstGeom prst="rect">
            <a:avLst/>
          </a:prstGeom>
          <a:solidFill>
            <a:srgbClr val="F3F4F6"/>
          </a:solidFill>
          <a:ln/>
        </p:spPr>
      </p:sp>
      <p:sp>
        <p:nvSpPr>
          <p:cNvPr id="12" name="Text 10"/>
          <p:cNvSpPr/>
          <p:nvPr/>
        </p:nvSpPr>
        <p:spPr>
          <a:xfrm>
            <a:off x="731520" y="214884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Best-in-Class Inputs</a:t>
            </a:r>
            <a:endParaRPr lang="en-US" sz="1000" dirty="0"/>
          </a:p>
        </p:txBody>
      </p:sp>
      <p:sp>
        <p:nvSpPr>
          <p:cNvPr id="13" name="Shape 11"/>
          <p:cNvSpPr/>
          <p:nvPr/>
        </p:nvSpPr>
        <p:spPr>
          <a:xfrm>
            <a:off x="594360" y="2514600"/>
            <a:ext cx="2377440" cy="320040"/>
          </a:xfrm>
          <a:prstGeom prst="rect">
            <a:avLst/>
          </a:prstGeom>
          <a:solidFill>
            <a:srgbClr val="F3F4F6"/>
          </a:solidFill>
          <a:ln/>
        </p:spPr>
      </p:sp>
      <p:sp>
        <p:nvSpPr>
          <p:cNvPr id="14" name="Text 12"/>
          <p:cNvSpPr/>
          <p:nvPr/>
        </p:nvSpPr>
        <p:spPr>
          <a:xfrm>
            <a:off x="731520" y="256032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Optimized Formulation/Fit</a:t>
            </a:r>
            <a:endParaRPr lang="en-US" sz="1000" dirty="0"/>
          </a:p>
        </p:txBody>
      </p:sp>
      <p:sp>
        <p:nvSpPr>
          <p:cNvPr id="15" name="Shape 13"/>
          <p:cNvSpPr/>
          <p:nvPr/>
        </p:nvSpPr>
        <p:spPr>
          <a:xfrm>
            <a:off x="594360" y="2926080"/>
            <a:ext cx="2377440" cy="320040"/>
          </a:xfrm>
          <a:prstGeom prst="rect">
            <a:avLst/>
          </a:prstGeom>
          <a:solidFill>
            <a:srgbClr val="F3F4F6"/>
          </a:solidFill>
          <a:ln/>
        </p:spPr>
      </p:sp>
      <p:sp>
        <p:nvSpPr>
          <p:cNvPr id="16" name="Text 14"/>
          <p:cNvSpPr/>
          <p:nvPr/>
        </p:nvSpPr>
        <p:spPr>
          <a:xfrm>
            <a:off x="731520" y="29718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Extended Lifetime</a:t>
            </a:r>
            <a:endParaRPr lang="en-US" sz="1000" dirty="0"/>
          </a:p>
        </p:txBody>
      </p:sp>
      <p:sp>
        <p:nvSpPr>
          <p:cNvPr id="17" name="Shape 15"/>
          <p:cNvSpPr/>
          <p:nvPr/>
        </p:nvSpPr>
        <p:spPr>
          <a:xfrm>
            <a:off x="3291840" y="1005840"/>
            <a:ext cx="2651760" cy="2468880"/>
          </a:xfrm>
          <a:prstGeom prst="rect">
            <a:avLst>
              <a:gd name="adj" fmla="val 3704"/>
            </a:avLst>
          </a:prstGeom>
          <a:solidFill>
            <a:srgbClr val="FFFFFF"/>
          </a:solidFill>
          <a:ln w="12700">
            <a:solidFill>
              <a:srgbClr val="E5E7EB"/>
            </a:solidFill>
            <a:prstDash val="solid"/>
          </a:ln>
        </p:spPr>
      </p:sp>
      <p:sp>
        <p:nvSpPr>
          <p:cNvPr id="18" name="Shape 16"/>
          <p:cNvSpPr/>
          <p:nvPr/>
        </p:nvSpPr>
        <p:spPr>
          <a:xfrm>
            <a:off x="3291840" y="1005840"/>
            <a:ext cx="2651760" cy="411480"/>
          </a:xfrm>
          <a:prstGeom prst="rect">
            <a:avLst>
              <a:gd name="adj" fmla="val 22222"/>
            </a:avLst>
          </a:prstGeom>
          <a:solidFill>
            <a:srgbClr val="8B5CF6"/>
          </a:solidFill>
          <a:ln/>
        </p:spPr>
      </p:sp>
      <p:sp>
        <p:nvSpPr>
          <p:cNvPr id="19" name="Text 17"/>
          <p:cNvSpPr/>
          <p:nvPr/>
        </p:nvSpPr>
        <p:spPr>
          <a:xfrm>
            <a:off x="3429000" y="109728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UNISEX · ESSENTIALS KIT</a:t>
            </a:r>
            <a:endParaRPr lang="en-US" sz="1100" dirty="0"/>
          </a:p>
        </p:txBody>
      </p:sp>
      <p:sp>
        <p:nvSpPr>
          <p:cNvPr id="20" name="Text 18"/>
          <p:cNvSpPr/>
          <p:nvPr/>
        </p:nvSpPr>
        <p:spPr>
          <a:xfrm>
            <a:off x="3429000" y="155448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"Your daily D2C checklist complete"</a:t>
            </a:r>
            <a:endParaRPr lang="en-US" sz="1000" dirty="0"/>
          </a:p>
        </p:txBody>
      </p:sp>
      <p:sp>
        <p:nvSpPr>
          <p:cNvPr id="21" name="Shape 19"/>
          <p:cNvSpPr/>
          <p:nvPr/>
        </p:nvSpPr>
        <p:spPr>
          <a:xfrm>
            <a:off x="3429000" y="2103120"/>
            <a:ext cx="2377440" cy="320040"/>
          </a:xfrm>
          <a:prstGeom prst="rect">
            <a:avLst/>
          </a:prstGeom>
          <a:solidFill>
            <a:srgbClr val="F3F4F6"/>
          </a:solidFill>
          <a:ln/>
        </p:spPr>
      </p:sp>
      <p:sp>
        <p:nvSpPr>
          <p:cNvPr id="22" name="Text 20"/>
          <p:cNvSpPr/>
          <p:nvPr/>
        </p:nvSpPr>
        <p:spPr>
          <a:xfrm>
            <a:off x="3566160" y="214884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Multi-pack value</a:t>
            </a:r>
            <a:endParaRPr lang="en-US" sz="1000" dirty="0"/>
          </a:p>
        </p:txBody>
      </p:sp>
      <p:sp>
        <p:nvSpPr>
          <p:cNvPr id="23" name="Shape 21"/>
          <p:cNvSpPr/>
          <p:nvPr/>
        </p:nvSpPr>
        <p:spPr>
          <a:xfrm>
            <a:off x="3429000" y="2514600"/>
            <a:ext cx="2377440" cy="320040"/>
          </a:xfrm>
          <a:prstGeom prst="rect">
            <a:avLst/>
          </a:prstGeom>
          <a:solidFill>
            <a:srgbClr val="F3F4F6"/>
          </a:solidFill>
          <a:ln/>
        </p:spPr>
      </p:sp>
      <p:sp>
        <p:nvSpPr>
          <p:cNvPr id="24" name="Text 22"/>
          <p:cNvSpPr/>
          <p:nvPr/>
        </p:nvSpPr>
        <p:spPr>
          <a:xfrm>
            <a:off x="3566160" y="256032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Standardized Sizing</a:t>
            </a:r>
            <a:endParaRPr lang="en-US" sz="1000" dirty="0"/>
          </a:p>
        </p:txBody>
      </p:sp>
      <p:sp>
        <p:nvSpPr>
          <p:cNvPr id="25" name="Shape 23"/>
          <p:cNvSpPr/>
          <p:nvPr/>
        </p:nvSpPr>
        <p:spPr>
          <a:xfrm>
            <a:off x="3429000" y="2926080"/>
            <a:ext cx="2377440" cy="320040"/>
          </a:xfrm>
          <a:prstGeom prst="rect">
            <a:avLst/>
          </a:prstGeom>
          <a:solidFill>
            <a:srgbClr val="F3F4F6"/>
          </a:solidFill>
          <a:ln/>
        </p:spPr>
      </p:sp>
      <p:sp>
        <p:nvSpPr>
          <p:cNvPr id="26" name="Text 24"/>
          <p:cNvSpPr/>
          <p:nvPr/>
        </p:nvSpPr>
        <p:spPr>
          <a:xfrm>
            <a:off x="3566160" y="29718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Easy Travel Size</a:t>
            </a:r>
            <a:endParaRPr lang="en-US" sz="1000" dirty="0"/>
          </a:p>
        </p:txBody>
      </p:sp>
      <p:sp>
        <p:nvSpPr>
          <p:cNvPr id="27" name="Shape 25"/>
          <p:cNvSpPr/>
          <p:nvPr/>
        </p:nvSpPr>
        <p:spPr>
          <a:xfrm>
            <a:off x="6126480" y="1005840"/>
            <a:ext cx="2651760" cy="2468880"/>
          </a:xfrm>
          <a:prstGeom prst="rect">
            <a:avLst>
              <a:gd name="adj" fmla="val 3704"/>
            </a:avLst>
          </a:prstGeom>
          <a:solidFill>
            <a:srgbClr val="FFFFFF"/>
          </a:solidFill>
          <a:ln w="12700">
            <a:solidFill>
              <a:srgbClr val="E5E7EB"/>
            </a:solidFill>
            <a:prstDash val="solid"/>
          </a:ln>
        </p:spPr>
      </p:sp>
      <p:sp>
        <p:nvSpPr>
          <p:cNvPr id="28" name="Shape 26"/>
          <p:cNvSpPr/>
          <p:nvPr/>
        </p:nvSpPr>
        <p:spPr>
          <a:xfrm>
            <a:off x="6126480" y="1005840"/>
            <a:ext cx="2651760" cy="411480"/>
          </a:xfrm>
          <a:prstGeom prst="rect">
            <a:avLst>
              <a:gd name="adj" fmla="val 22222"/>
            </a:avLst>
          </a:prstGeom>
          <a:solidFill>
            <a:srgbClr val="0B1629"/>
          </a:solidFill>
          <a:ln/>
        </p:spPr>
      </p:sp>
      <p:sp>
        <p:nvSpPr>
          <p:cNvPr id="29" name="Text 27"/>
          <p:cNvSpPr/>
          <p:nvPr/>
        </p:nvSpPr>
        <p:spPr>
          <a:xfrm>
            <a:off x="6263640" y="109728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BEST VALUE · PREMIUM BUNDLE</a:t>
            </a:r>
            <a:endParaRPr lang="en-US" sz="1100" dirty="0"/>
          </a:p>
        </p:txBody>
      </p:sp>
      <p:sp>
        <p:nvSpPr>
          <p:cNvPr id="30" name="Text 28"/>
          <p:cNvSpPr/>
          <p:nvPr/>
        </p:nvSpPr>
        <p:spPr>
          <a:xfrm>
            <a:off x="6263640" y="155448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"Everything you need, in one box"</a:t>
            </a:r>
            <a:endParaRPr lang="en-US" sz="1000" dirty="0"/>
          </a:p>
        </p:txBody>
      </p:sp>
      <p:sp>
        <p:nvSpPr>
          <p:cNvPr id="31" name="Shape 29"/>
          <p:cNvSpPr/>
          <p:nvPr/>
        </p:nvSpPr>
        <p:spPr>
          <a:xfrm>
            <a:off x="6263640" y="2103120"/>
            <a:ext cx="2377440" cy="320040"/>
          </a:xfrm>
          <a:prstGeom prst="rect">
            <a:avLst/>
          </a:prstGeom>
          <a:solidFill>
            <a:srgbClr val="F3F4F6"/>
          </a:solidFill>
          <a:ln/>
        </p:spPr>
      </p:sp>
      <p:sp>
        <p:nvSpPr>
          <p:cNvPr id="32" name="Text 30"/>
          <p:cNvSpPr/>
          <p:nvPr/>
        </p:nvSpPr>
        <p:spPr>
          <a:xfrm>
            <a:off x="6400800" y="214884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Curated Selection</a:t>
            </a:r>
            <a:endParaRPr lang="en-US" sz="1000" dirty="0"/>
          </a:p>
        </p:txBody>
      </p:sp>
      <p:sp>
        <p:nvSpPr>
          <p:cNvPr id="33" name="Shape 31"/>
          <p:cNvSpPr/>
          <p:nvPr/>
        </p:nvSpPr>
        <p:spPr>
          <a:xfrm>
            <a:off x="6263640" y="2514600"/>
            <a:ext cx="2377440" cy="320040"/>
          </a:xfrm>
          <a:prstGeom prst="rect">
            <a:avLst/>
          </a:prstGeom>
          <a:solidFill>
            <a:srgbClr val="F3F4F6"/>
          </a:solidFill>
          <a:ln/>
        </p:spPr>
      </p:sp>
      <p:sp>
        <p:nvSpPr>
          <p:cNvPr id="34" name="Text 32"/>
          <p:cNvSpPr/>
          <p:nvPr/>
        </p:nvSpPr>
        <p:spPr>
          <a:xfrm>
            <a:off x="6400800" y="256032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Gift Boxing included</a:t>
            </a:r>
            <a:endParaRPr lang="en-US" sz="1000" dirty="0"/>
          </a:p>
        </p:txBody>
      </p:sp>
      <p:sp>
        <p:nvSpPr>
          <p:cNvPr id="35" name="Shape 33"/>
          <p:cNvSpPr/>
          <p:nvPr/>
        </p:nvSpPr>
        <p:spPr>
          <a:xfrm>
            <a:off x="6263640" y="2926080"/>
            <a:ext cx="2377440" cy="320040"/>
          </a:xfrm>
          <a:prstGeom prst="rect">
            <a:avLst/>
          </a:prstGeom>
          <a:solidFill>
            <a:srgbClr val="F3F4F6"/>
          </a:solidFill>
          <a:ln/>
        </p:spPr>
      </p:sp>
      <p:sp>
        <p:nvSpPr>
          <p:cNvPr id="36" name="Text 34"/>
          <p:cNvSpPr/>
          <p:nvPr/>
        </p:nvSpPr>
        <p:spPr>
          <a:xfrm>
            <a:off x="6400800" y="29718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Free Shipping Tier</a:t>
            </a:r>
            <a:endParaRPr lang="en-US" sz="1000" dirty="0"/>
          </a:p>
        </p:txBody>
      </p:sp>
      <p:sp>
        <p:nvSpPr>
          <p:cNvPr id="37" name="Shape 35"/>
          <p:cNvSpPr/>
          <p:nvPr/>
        </p:nvSpPr>
        <p:spPr>
          <a:xfrm>
            <a:off x="8961120" y="1005840"/>
            <a:ext cx="2651760" cy="2468880"/>
          </a:xfrm>
          <a:prstGeom prst="rect">
            <a:avLst>
              <a:gd name="adj" fmla="val 3704"/>
            </a:avLst>
          </a:prstGeom>
          <a:solidFill>
            <a:srgbClr val="FFFFFF"/>
          </a:solidFill>
          <a:ln w="12700">
            <a:solidFill>
              <a:srgbClr val="E5E7EB"/>
            </a:solidFill>
            <a:prstDash val="solid"/>
          </a:ln>
        </p:spPr>
      </p:sp>
      <p:sp>
        <p:nvSpPr>
          <p:cNvPr id="38" name="Shape 36"/>
          <p:cNvSpPr/>
          <p:nvPr/>
        </p:nvSpPr>
        <p:spPr>
          <a:xfrm>
            <a:off x="8961120" y="1005840"/>
            <a:ext cx="2651760" cy="411480"/>
          </a:xfrm>
          <a:prstGeom prst="rect">
            <a:avLst>
              <a:gd name="adj" fmla="val 22222"/>
            </a:avLst>
          </a:prstGeom>
          <a:solidFill>
            <a:srgbClr val="F59E0B"/>
          </a:solidFill>
          <a:ln/>
        </p:spPr>
      </p:sp>
      <p:sp>
        <p:nvSpPr>
          <p:cNvPr id="39" name="Text 37"/>
          <p:cNvSpPr/>
          <p:nvPr/>
        </p:nvSpPr>
        <p:spPr>
          <a:xfrm>
            <a:off x="9098280" y="109728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ACCESSORY · TRAVEL PACK</a:t>
            </a:r>
            <a:endParaRPr lang="en-US" sz="1100" dirty="0"/>
          </a:p>
        </p:txBody>
      </p:sp>
      <p:sp>
        <p:nvSpPr>
          <p:cNvPr id="40" name="Text 38"/>
          <p:cNvSpPr/>
          <p:nvPr/>
        </p:nvSpPr>
        <p:spPr>
          <a:xfrm>
            <a:off x="9098280" y="155448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"Take the quality on the road"</a:t>
            </a:r>
            <a:endParaRPr lang="en-US" sz="1000" dirty="0"/>
          </a:p>
        </p:txBody>
      </p:sp>
      <p:sp>
        <p:nvSpPr>
          <p:cNvPr id="41" name="Shape 39"/>
          <p:cNvSpPr/>
          <p:nvPr/>
        </p:nvSpPr>
        <p:spPr>
          <a:xfrm>
            <a:off x="9098280" y="2103120"/>
            <a:ext cx="2377440" cy="320040"/>
          </a:xfrm>
          <a:prstGeom prst="rect">
            <a:avLst/>
          </a:prstGeom>
          <a:solidFill>
            <a:srgbClr val="F3F4F6"/>
          </a:solidFill>
          <a:ln/>
        </p:spPr>
      </p:sp>
      <p:sp>
        <p:nvSpPr>
          <p:cNvPr id="42" name="Text 40"/>
          <p:cNvSpPr/>
          <p:nvPr/>
        </p:nvSpPr>
        <p:spPr>
          <a:xfrm>
            <a:off x="9235440" y="214884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Lightweight</a:t>
            </a:r>
            <a:endParaRPr lang="en-US" sz="1000" dirty="0"/>
          </a:p>
        </p:txBody>
      </p:sp>
      <p:sp>
        <p:nvSpPr>
          <p:cNvPr id="43" name="Shape 41"/>
          <p:cNvSpPr/>
          <p:nvPr/>
        </p:nvSpPr>
        <p:spPr>
          <a:xfrm>
            <a:off x="9098280" y="2514600"/>
            <a:ext cx="2377440" cy="320040"/>
          </a:xfrm>
          <a:prstGeom prst="rect">
            <a:avLst/>
          </a:prstGeom>
          <a:solidFill>
            <a:srgbClr val="F3F4F6"/>
          </a:solidFill>
          <a:ln/>
        </p:spPr>
      </p:sp>
      <p:sp>
        <p:nvSpPr>
          <p:cNvPr id="44" name="Text 42"/>
          <p:cNvSpPr/>
          <p:nvPr/>
        </p:nvSpPr>
        <p:spPr>
          <a:xfrm>
            <a:off x="9235440" y="256032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Leak-proof / Durable</a:t>
            </a:r>
            <a:endParaRPr lang="en-US" sz="1000" dirty="0"/>
          </a:p>
        </p:txBody>
      </p:sp>
      <p:sp>
        <p:nvSpPr>
          <p:cNvPr id="45" name="Shape 43"/>
          <p:cNvSpPr/>
          <p:nvPr/>
        </p:nvSpPr>
        <p:spPr>
          <a:xfrm>
            <a:off x="9098280" y="2926080"/>
            <a:ext cx="2377440" cy="320040"/>
          </a:xfrm>
          <a:prstGeom prst="rect">
            <a:avLst/>
          </a:prstGeom>
          <a:solidFill>
            <a:srgbClr val="F3F4F6"/>
          </a:solidFill>
          <a:ln/>
        </p:spPr>
      </p:sp>
      <p:sp>
        <p:nvSpPr>
          <p:cNvPr id="46" name="Text 44"/>
          <p:cNvSpPr/>
          <p:nvPr/>
        </p:nvSpPr>
        <p:spPr>
          <a:xfrm>
            <a:off x="9235440" y="29718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Refillable</a:t>
            </a:r>
            <a:endParaRPr lang="en-US" sz="1000" dirty="0"/>
          </a:p>
        </p:txBody>
      </p:sp>
      <p:sp>
        <p:nvSpPr>
          <p:cNvPr id="47" name="Shape 45"/>
          <p:cNvSpPr/>
          <p:nvPr/>
        </p:nvSpPr>
        <p:spPr>
          <a:xfrm>
            <a:off x="457200" y="3657600"/>
            <a:ext cx="2651760" cy="2468880"/>
          </a:xfrm>
          <a:prstGeom prst="rect">
            <a:avLst>
              <a:gd name="adj" fmla="val 3704"/>
            </a:avLst>
          </a:prstGeom>
          <a:solidFill>
            <a:srgbClr val="FFFFFF"/>
          </a:solidFill>
          <a:ln w="12700">
            <a:solidFill>
              <a:srgbClr val="E5E7EB"/>
            </a:solidFill>
            <a:prstDash val="solid"/>
          </a:ln>
        </p:spPr>
      </p:sp>
      <p:sp>
        <p:nvSpPr>
          <p:cNvPr id="48" name="Shape 46"/>
          <p:cNvSpPr/>
          <p:nvPr/>
        </p:nvSpPr>
        <p:spPr>
          <a:xfrm>
            <a:off x="457200" y="3657600"/>
            <a:ext cx="2651760" cy="411480"/>
          </a:xfrm>
          <a:prstGeom prst="rect">
            <a:avLst>
              <a:gd name="adj" fmla="val 22222"/>
            </a:avLst>
          </a:prstGeom>
          <a:solidFill>
            <a:srgbClr val="2B4EFF"/>
          </a:solidFill>
          <a:ln/>
        </p:spPr>
      </p:sp>
      <p:sp>
        <p:nvSpPr>
          <p:cNvPr id="49" name="Text 47"/>
          <p:cNvSpPr/>
          <p:nvPr/>
        </p:nvSpPr>
        <p:spPr>
          <a:xfrm>
            <a:off x="594360" y="374904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NEW USER · STARTER PACK</a:t>
            </a:r>
            <a:endParaRPr lang="en-US" sz="1100" dirty="0"/>
          </a:p>
        </p:txBody>
      </p:sp>
      <p:sp>
        <p:nvSpPr>
          <p:cNvPr id="50" name="Text 48"/>
          <p:cNvSpPr/>
          <p:nvPr/>
        </p:nvSpPr>
        <p:spPr>
          <a:xfrm>
            <a:off x="594360" y="420624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"Experience the brand difference"</a:t>
            </a:r>
            <a:endParaRPr lang="en-US" sz="1000" dirty="0"/>
          </a:p>
        </p:txBody>
      </p:sp>
      <p:sp>
        <p:nvSpPr>
          <p:cNvPr id="51" name="Shape 49"/>
          <p:cNvSpPr/>
          <p:nvPr/>
        </p:nvSpPr>
        <p:spPr>
          <a:xfrm>
            <a:off x="594360" y="4754880"/>
            <a:ext cx="2377440" cy="320040"/>
          </a:xfrm>
          <a:prstGeom prst="rect">
            <a:avLst/>
          </a:prstGeom>
          <a:solidFill>
            <a:srgbClr val="F3F4F6"/>
          </a:solidFill>
          <a:ln/>
        </p:spPr>
      </p:sp>
      <p:sp>
        <p:nvSpPr>
          <p:cNvPr id="52" name="Text 50"/>
          <p:cNvSpPr/>
          <p:nvPr/>
        </p:nvSpPr>
        <p:spPr>
          <a:xfrm>
            <a:off x="731520" y="48006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Low trial barrier</a:t>
            </a:r>
            <a:endParaRPr lang="en-US" sz="1000" dirty="0"/>
          </a:p>
        </p:txBody>
      </p:sp>
      <p:sp>
        <p:nvSpPr>
          <p:cNvPr id="53" name="Shape 51"/>
          <p:cNvSpPr/>
          <p:nvPr/>
        </p:nvSpPr>
        <p:spPr>
          <a:xfrm>
            <a:off x="594360" y="5166360"/>
            <a:ext cx="2377440" cy="320040"/>
          </a:xfrm>
          <a:prstGeom prst="rect">
            <a:avLst/>
          </a:prstGeom>
          <a:solidFill>
            <a:srgbClr val="F3F4F6"/>
          </a:solidFill>
          <a:ln/>
        </p:spPr>
      </p:sp>
      <p:sp>
        <p:nvSpPr>
          <p:cNvPr id="54" name="Text 52"/>
          <p:cNvSpPr/>
          <p:nvPr/>
        </p:nvSpPr>
        <p:spPr>
          <a:xfrm>
            <a:off x="731520" y="521208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Money-back guarantee</a:t>
            </a:r>
            <a:endParaRPr lang="en-US" sz="1000" dirty="0"/>
          </a:p>
        </p:txBody>
      </p:sp>
      <p:sp>
        <p:nvSpPr>
          <p:cNvPr id="55" name="Shape 53"/>
          <p:cNvSpPr/>
          <p:nvPr/>
        </p:nvSpPr>
        <p:spPr>
          <a:xfrm>
            <a:off x="594360" y="5577840"/>
            <a:ext cx="2377440" cy="320040"/>
          </a:xfrm>
          <a:prstGeom prst="rect">
            <a:avLst/>
          </a:prstGeom>
          <a:solidFill>
            <a:srgbClr val="F3F4F6"/>
          </a:solidFill>
          <a:ln/>
        </p:spPr>
      </p:sp>
      <p:sp>
        <p:nvSpPr>
          <p:cNvPr id="56" name="Text 54"/>
          <p:cNvSpPr/>
          <p:nvPr/>
        </p:nvSpPr>
        <p:spPr>
          <a:xfrm>
            <a:off x="731520" y="562356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Exclusive Guide</a:t>
            </a:r>
            <a:endParaRPr lang="en-US" sz="1000" dirty="0"/>
          </a:p>
        </p:txBody>
      </p:sp>
      <p:sp>
        <p:nvSpPr>
          <p:cNvPr id="57" name="Shape 55"/>
          <p:cNvSpPr/>
          <p:nvPr/>
        </p:nvSpPr>
        <p:spPr>
          <a:xfrm>
            <a:off x="3291840" y="3657600"/>
            <a:ext cx="2651760" cy="2468880"/>
          </a:xfrm>
          <a:prstGeom prst="rect">
            <a:avLst>
              <a:gd name="adj" fmla="val 3704"/>
            </a:avLst>
          </a:prstGeom>
          <a:solidFill>
            <a:srgbClr val="FFFFFF"/>
          </a:solidFill>
          <a:ln w="12700">
            <a:solidFill>
              <a:srgbClr val="E5E7EB"/>
            </a:solidFill>
            <a:prstDash val="solid"/>
          </a:ln>
        </p:spPr>
      </p:sp>
      <p:sp>
        <p:nvSpPr>
          <p:cNvPr id="58" name="Shape 56"/>
          <p:cNvSpPr/>
          <p:nvPr/>
        </p:nvSpPr>
        <p:spPr>
          <a:xfrm>
            <a:off x="3291840" y="3657600"/>
            <a:ext cx="2651760" cy="411480"/>
          </a:xfrm>
          <a:prstGeom prst="rect">
            <a:avLst>
              <a:gd name="adj" fmla="val 22222"/>
            </a:avLst>
          </a:prstGeom>
          <a:solidFill>
            <a:srgbClr val="10B981"/>
          </a:solidFill>
          <a:ln/>
        </p:spPr>
      </p:sp>
      <p:sp>
        <p:nvSpPr>
          <p:cNvPr id="59" name="Text 57"/>
          <p:cNvSpPr/>
          <p:nvPr/>
        </p:nvSpPr>
        <p:spPr>
          <a:xfrm>
            <a:off x="3429000" y="374904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COLLECTIBLE · LIMITED EDITION</a:t>
            </a:r>
            <a:endParaRPr lang="en-US" sz="1100" dirty="0"/>
          </a:p>
        </p:txBody>
      </p:sp>
      <p:sp>
        <p:nvSpPr>
          <p:cNvPr id="60" name="Text 58"/>
          <p:cNvSpPr/>
          <p:nvPr/>
        </p:nvSpPr>
        <p:spPr>
          <a:xfrm>
            <a:off x="3429000" y="420624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"Special release for the loyal community"</a:t>
            </a:r>
            <a:endParaRPr lang="en-US" sz="1000" dirty="0"/>
          </a:p>
        </p:txBody>
      </p:sp>
      <p:sp>
        <p:nvSpPr>
          <p:cNvPr id="61" name="Shape 59"/>
          <p:cNvSpPr/>
          <p:nvPr/>
        </p:nvSpPr>
        <p:spPr>
          <a:xfrm>
            <a:off x="3429000" y="4754880"/>
            <a:ext cx="2377440" cy="320040"/>
          </a:xfrm>
          <a:prstGeom prst="rect">
            <a:avLst/>
          </a:prstGeom>
          <a:solidFill>
            <a:srgbClr val="F3F4F6"/>
          </a:solidFill>
          <a:ln/>
        </p:spPr>
      </p:sp>
      <p:sp>
        <p:nvSpPr>
          <p:cNvPr id="62" name="Text 60"/>
          <p:cNvSpPr/>
          <p:nvPr/>
        </p:nvSpPr>
        <p:spPr>
          <a:xfrm>
            <a:off x="3566160" y="48006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Scarcity branding</a:t>
            </a:r>
            <a:endParaRPr lang="en-US" sz="1000" dirty="0"/>
          </a:p>
        </p:txBody>
      </p:sp>
      <p:sp>
        <p:nvSpPr>
          <p:cNvPr id="63" name="Shape 61"/>
          <p:cNvSpPr/>
          <p:nvPr/>
        </p:nvSpPr>
        <p:spPr>
          <a:xfrm>
            <a:off x="3429000" y="5166360"/>
            <a:ext cx="2377440" cy="320040"/>
          </a:xfrm>
          <a:prstGeom prst="rect">
            <a:avLst/>
          </a:prstGeom>
          <a:solidFill>
            <a:srgbClr val="F3F4F6"/>
          </a:solidFill>
          <a:ln/>
        </p:spPr>
      </p:sp>
      <p:sp>
        <p:nvSpPr>
          <p:cNvPr id="64" name="Text 62"/>
          <p:cNvSpPr/>
          <p:nvPr/>
        </p:nvSpPr>
        <p:spPr>
          <a:xfrm>
            <a:off x="3566160" y="521208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Custom packaging</a:t>
            </a:r>
            <a:endParaRPr lang="en-US" sz="1000" dirty="0"/>
          </a:p>
        </p:txBody>
      </p:sp>
      <p:sp>
        <p:nvSpPr>
          <p:cNvPr id="65" name="Shape 63"/>
          <p:cNvSpPr/>
          <p:nvPr/>
        </p:nvSpPr>
        <p:spPr>
          <a:xfrm>
            <a:off x="3429000" y="5577840"/>
            <a:ext cx="2377440" cy="320040"/>
          </a:xfrm>
          <a:prstGeom prst="rect">
            <a:avLst/>
          </a:prstGeom>
          <a:solidFill>
            <a:srgbClr val="F3F4F6"/>
          </a:solidFill>
          <a:ln/>
        </p:spPr>
      </p:sp>
      <p:sp>
        <p:nvSpPr>
          <p:cNvPr id="66" name="Text 64"/>
          <p:cNvSpPr/>
          <p:nvPr/>
        </p:nvSpPr>
        <p:spPr>
          <a:xfrm>
            <a:off x="3566160" y="562356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Early member access</a:t>
            </a:r>
            <a:endParaRPr lang="en-US" sz="1000" dirty="0"/>
          </a:p>
        </p:txBody>
      </p:sp>
      <p:sp>
        <p:nvSpPr>
          <p:cNvPr id="67" name="Shape 65"/>
          <p:cNvSpPr/>
          <p:nvPr/>
        </p:nvSpPr>
        <p:spPr>
          <a:xfrm>
            <a:off x="6126480" y="3657600"/>
            <a:ext cx="2651760" cy="2468880"/>
          </a:xfrm>
          <a:prstGeom prst="rect">
            <a:avLst>
              <a:gd name="adj" fmla="val 3704"/>
            </a:avLst>
          </a:prstGeom>
          <a:solidFill>
            <a:srgbClr val="FFFFFF"/>
          </a:solidFill>
          <a:ln w="12700">
            <a:solidFill>
              <a:srgbClr val="E5E7EB"/>
            </a:solidFill>
            <a:prstDash val="solid"/>
          </a:ln>
        </p:spPr>
      </p:sp>
      <p:sp>
        <p:nvSpPr>
          <p:cNvPr id="68" name="Shape 66"/>
          <p:cNvSpPr/>
          <p:nvPr/>
        </p:nvSpPr>
        <p:spPr>
          <a:xfrm>
            <a:off x="6126480" y="3657600"/>
            <a:ext cx="2651760" cy="411480"/>
          </a:xfrm>
          <a:prstGeom prst="rect">
            <a:avLst>
              <a:gd name="adj" fmla="val 22222"/>
            </a:avLst>
          </a:prstGeom>
          <a:solidFill>
            <a:srgbClr val="EF4444"/>
          </a:solidFill>
          <a:ln/>
        </p:spPr>
      </p:sp>
      <p:sp>
        <p:nvSpPr>
          <p:cNvPr id="69" name="Text 67"/>
          <p:cNvSpPr/>
          <p:nvPr/>
        </p:nvSpPr>
        <p:spPr>
          <a:xfrm>
            <a:off x="6263640" y="374904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FESTIVE · GIFTING SET</a:t>
            </a:r>
            <a:endParaRPr lang="en-US" sz="1100" dirty="0"/>
          </a:p>
        </p:txBody>
      </p:sp>
      <p:sp>
        <p:nvSpPr>
          <p:cNvPr id="70" name="Text 68"/>
          <p:cNvSpPr/>
          <p:nvPr/>
        </p:nvSpPr>
        <p:spPr>
          <a:xfrm>
            <a:off x="6263640" y="420624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"Perfect expression of care"</a:t>
            </a:r>
            <a:endParaRPr lang="en-US" sz="1000" dirty="0"/>
          </a:p>
        </p:txBody>
      </p:sp>
      <p:sp>
        <p:nvSpPr>
          <p:cNvPr id="71" name="Shape 69"/>
          <p:cNvSpPr/>
          <p:nvPr/>
        </p:nvSpPr>
        <p:spPr>
          <a:xfrm>
            <a:off x="6263640" y="4754880"/>
            <a:ext cx="2377440" cy="320040"/>
          </a:xfrm>
          <a:prstGeom prst="rect">
            <a:avLst/>
          </a:prstGeom>
          <a:solidFill>
            <a:srgbClr val="F3F4F6"/>
          </a:solidFill>
          <a:ln/>
        </p:spPr>
      </p:sp>
      <p:sp>
        <p:nvSpPr>
          <p:cNvPr id="72" name="Text 70"/>
          <p:cNvSpPr/>
          <p:nvPr/>
        </p:nvSpPr>
        <p:spPr>
          <a:xfrm>
            <a:off x="6400800" y="48006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Luxury presentation</a:t>
            </a:r>
            <a:endParaRPr lang="en-US" sz="1000" dirty="0"/>
          </a:p>
        </p:txBody>
      </p:sp>
      <p:sp>
        <p:nvSpPr>
          <p:cNvPr id="73" name="Shape 71"/>
          <p:cNvSpPr/>
          <p:nvPr/>
        </p:nvSpPr>
        <p:spPr>
          <a:xfrm>
            <a:off x="6263640" y="5166360"/>
            <a:ext cx="2377440" cy="320040"/>
          </a:xfrm>
          <a:prstGeom prst="rect">
            <a:avLst/>
          </a:prstGeom>
          <a:solidFill>
            <a:srgbClr val="F3F4F6"/>
          </a:solidFill>
          <a:ln/>
        </p:spPr>
      </p:sp>
      <p:sp>
        <p:nvSpPr>
          <p:cNvPr id="74" name="Text 72"/>
          <p:cNvSpPr/>
          <p:nvPr/>
        </p:nvSpPr>
        <p:spPr>
          <a:xfrm>
            <a:off x="6400800" y="521208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Custom message card</a:t>
            </a:r>
            <a:endParaRPr lang="en-US" sz="1000" dirty="0"/>
          </a:p>
        </p:txBody>
      </p:sp>
      <p:sp>
        <p:nvSpPr>
          <p:cNvPr id="75" name="Shape 73"/>
          <p:cNvSpPr/>
          <p:nvPr/>
        </p:nvSpPr>
        <p:spPr>
          <a:xfrm>
            <a:off x="6263640" y="5577840"/>
            <a:ext cx="2377440" cy="320040"/>
          </a:xfrm>
          <a:prstGeom prst="rect">
            <a:avLst/>
          </a:prstGeom>
          <a:solidFill>
            <a:srgbClr val="F3F4F6"/>
          </a:solidFill>
          <a:ln/>
        </p:spPr>
      </p:sp>
      <p:sp>
        <p:nvSpPr>
          <p:cNvPr id="76" name="Text 74"/>
          <p:cNvSpPr/>
          <p:nvPr/>
        </p:nvSpPr>
        <p:spPr>
          <a:xfrm>
            <a:off x="6400800" y="562356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All-occasion fit</a:t>
            </a:r>
            <a:endParaRPr lang="en-US" sz="1000" dirty="0"/>
          </a:p>
        </p:txBody>
      </p:sp>
      <p:sp>
        <p:nvSpPr>
          <p:cNvPr id="77" name="Shape 75"/>
          <p:cNvSpPr/>
          <p:nvPr/>
        </p:nvSpPr>
        <p:spPr>
          <a:xfrm>
            <a:off x="8961120" y="3657600"/>
            <a:ext cx="2651760" cy="2468880"/>
          </a:xfrm>
          <a:prstGeom prst="rect">
            <a:avLst>
              <a:gd name="adj" fmla="val 3704"/>
            </a:avLst>
          </a:prstGeom>
          <a:solidFill>
            <a:srgbClr val="FFFFFF"/>
          </a:solidFill>
          <a:ln w="12700">
            <a:solidFill>
              <a:srgbClr val="E5E7EB"/>
            </a:solidFill>
            <a:prstDash val="solid"/>
          </a:ln>
        </p:spPr>
      </p:sp>
      <p:sp>
        <p:nvSpPr>
          <p:cNvPr id="78" name="Shape 76"/>
          <p:cNvSpPr/>
          <p:nvPr/>
        </p:nvSpPr>
        <p:spPr>
          <a:xfrm>
            <a:off x="8961120" y="3657600"/>
            <a:ext cx="2651760" cy="411480"/>
          </a:xfrm>
          <a:prstGeom prst="rect">
            <a:avLst>
              <a:gd name="adj" fmla="val 22222"/>
            </a:avLst>
          </a:prstGeom>
          <a:solidFill>
            <a:srgbClr val="8B5CF6"/>
          </a:solidFill>
          <a:ln/>
        </p:spPr>
      </p:sp>
      <p:sp>
        <p:nvSpPr>
          <p:cNvPr id="79" name="Text 77"/>
          <p:cNvSpPr/>
          <p:nvPr/>
        </p:nvSpPr>
        <p:spPr>
          <a:xfrm>
            <a:off x="9098280" y="3749040"/>
            <a:ext cx="237744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LOYALTY · REFILL / SUBSCRIPTION</a:t>
            </a:r>
            <a:endParaRPr lang="en-US" sz="1100" dirty="0"/>
          </a:p>
        </p:txBody>
      </p:sp>
      <p:sp>
        <p:nvSpPr>
          <p:cNvPr id="80" name="Text 78"/>
          <p:cNvSpPr/>
          <p:nvPr/>
        </p:nvSpPr>
        <p:spPr>
          <a:xfrm>
            <a:off x="9098280" y="4206240"/>
            <a:ext cx="2377440" cy="320040"/>
          </a:xfrm>
          <a:prstGeom prst="rect">
            <a:avLst/>
          </a:prstGeom>
          <a:noFill/>
          <a:ln/>
        </p:spPr>
        <p:txBody>
          <a:bodyPr wrap="square" rtlCol="0" anchor="ctr"/>
          <a:lstStyle/>
          <a:p>
            <a:pPr indent="0" marL="0">
              <a:buNone/>
            </a:pPr>
            <a:r>
              <a:rPr lang="en-US" sz="1000" b="1" i="1" dirty="0">
                <a:solidFill>
                  <a:srgbClr val="0B1629"/>
                </a:solidFill>
                <a:latin typeface="Plus Jakarta Sans" pitchFamily="34" charset="0"/>
                <a:ea typeface="Plus Jakarta Sans" pitchFamily="34" charset="-122"/>
                <a:cs typeface="Plus Jakarta Sans" pitchFamily="34" charset="-120"/>
              </a:rPr>
              <a:t>"Never run out of your favorites"</a:t>
            </a:r>
            <a:endParaRPr lang="en-US" sz="1000" dirty="0"/>
          </a:p>
        </p:txBody>
      </p:sp>
      <p:sp>
        <p:nvSpPr>
          <p:cNvPr id="81" name="Shape 79"/>
          <p:cNvSpPr/>
          <p:nvPr/>
        </p:nvSpPr>
        <p:spPr>
          <a:xfrm>
            <a:off x="9098280" y="4754880"/>
            <a:ext cx="2377440" cy="320040"/>
          </a:xfrm>
          <a:prstGeom prst="rect">
            <a:avLst/>
          </a:prstGeom>
          <a:solidFill>
            <a:srgbClr val="F3F4F6"/>
          </a:solidFill>
          <a:ln/>
        </p:spPr>
      </p:sp>
      <p:sp>
        <p:nvSpPr>
          <p:cNvPr id="82" name="Text 80"/>
          <p:cNvSpPr/>
          <p:nvPr/>
        </p:nvSpPr>
        <p:spPr>
          <a:xfrm>
            <a:off x="9235440" y="480060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Automated delivery</a:t>
            </a:r>
            <a:endParaRPr lang="en-US" sz="1000" dirty="0"/>
          </a:p>
        </p:txBody>
      </p:sp>
      <p:sp>
        <p:nvSpPr>
          <p:cNvPr id="83" name="Shape 81"/>
          <p:cNvSpPr/>
          <p:nvPr/>
        </p:nvSpPr>
        <p:spPr>
          <a:xfrm>
            <a:off x="9098280" y="5166360"/>
            <a:ext cx="2377440" cy="320040"/>
          </a:xfrm>
          <a:prstGeom prst="rect">
            <a:avLst/>
          </a:prstGeom>
          <a:solidFill>
            <a:srgbClr val="F3F4F6"/>
          </a:solidFill>
          <a:ln/>
        </p:spPr>
      </p:sp>
      <p:sp>
        <p:nvSpPr>
          <p:cNvPr id="84" name="Text 82"/>
          <p:cNvSpPr/>
          <p:nvPr/>
        </p:nvSpPr>
        <p:spPr>
          <a:xfrm>
            <a:off x="9235440" y="521208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15% discount built-in</a:t>
            </a:r>
            <a:endParaRPr lang="en-US" sz="1000" dirty="0"/>
          </a:p>
        </p:txBody>
      </p:sp>
      <p:sp>
        <p:nvSpPr>
          <p:cNvPr id="85" name="Shape 83"/>
          <p:cNvSpPr/>
          <p:nvPr/>
        </p:nvSpPr>
        <p:spPr>
          <a:xfrm>
            <a:off x="9098280" y="5577840"/>
            <a:ext cx="2377440" cy="320040"/>
          </a:xfrm>
          <a:prstGeom prst="rect">
            <a:avLst/>
          </a:prstGeom>
          <a:solidFill>
            <a:srgbClr val="F3F4F6"/>
          </a:solidFill>
          <a:ln/>
        </p:spPr>
      </p:sp>
      <p:sp>
        <p:nvSpPr>
          <p:cNvPr id="86" name="Text 84"/>
          <p:cNvSpPr/>
          <p:nvPr/>
        </p:nvSpPr>
        <p:spPr>
          <a:xfrm>
            <a:off x="9235440" y="5623560"/>
            <a:ext cx="22860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Priority support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FUNNEL &amp; JOURNEY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Acquisition-to-Cult Funnel — Every Stage &amp; Channel</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457200" cy="594360"/>
          </a:xfrm>
          <a:prstGeom prst="rect">
            <a:avLst/>
          </a:prstGeom>
          <a:solidFill>
            <a:srgbClr val="2B4EFF"/>
          </a:solidFill>
          <a:ln/>
        </p:spPr>
      </p:sp>
      <p:sp>
        <p:nvSpPr>
          <p:cNvPr id="8" name="Text 6"/>
          <p:cNvSpPr/>
          <p:nvPr/>
        </p:nvSpPr>
        <p:spPr>
          <a:xfrm>
            <a:off x="457200" y="1143000"/>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1</a:t>
            </a:r>
            <a:endParaRPr lang="en-US" sz="1800" dirty="0"/>
          </a:p>
        </p:txBody>
      </p:sp>
      <p:sp>
        <p:nvSpPr>
          <p:cNvPr id="9" name="Shape 7"/>
          <p:cNvSpPr/>
          <p:nvPr/>
        </p:nvSpPr>
        <p:spPr>
          <a:xfrm>
            <a:off x="1005840" y="1005840"/>
            <a:ext cx="10698480" cy="594360"/>
          </a:xfrm>
          <a:prstGeom prst="rect">
            <a:avLst>
              <a:gd name="adj" fmla="val 7692"/>
            </a:avLst>
          </a:prstGeom>
          <a:solidFill>
            <a:srgbClr val="FFFFFF"/>
          </a:solidFill>
          <a:ln w="12700">
            <a:solidFill>
              <a:srgbClr val="E5E7EB"/>
            </a:solidFill>
            <a:prstDash val="solid"/>
          </a:ln>
        </p:spPr>
      </p:sp>
      <p:sp>
        <p:nvSpPr>
          <p:cNvPr id="10" name="Text 8"/>
          <p:cNvSpPr/>
          <p:nvPr/>
        </p:nvSpPr>
        <p:spPr>
          <a:xfrm>
            <a:off x="1188720" y="1097280"/>
            <a:ext cx="1005840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AWARENESS</a:t>
            </a:r>
            <a:endParaRPr lang="en-US" sz="1100" dirty="0"/>
          </a:p>
        </p:txBody>
      </p:sp>
      <p:sp>
        <p:nvSpPr>
          <p:cNvPr id="11" name="Text 9"/>
          <p:cNvSpPr/>
          <p:nvPr/>
        </p:nvSpPr>
        <p:spPr>
          <a:xfrm>
            <a:off x="1188720" y="1325880"/>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0</a:t>
            </a:r>
            <a:endParaRPr lang="en-US" sz="900" dirty="0"/>
          </a:p>
        </p:txBody>
      </p:sp>
      <p:sp>
        <p:nvSpPr>
          <p:cNvPr id="12" name="Text 10"/>
          <p:cNvSpPr/>
          <p:nvPr/>
        </p:nvSpPr>
        <p:spPr>
          <a:xfrm>
            <a:off x="2926080" y="1097280"/>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Meta Broad · YouTube · Influencer</a:t>
            </a:r>
            <a:endParaRPr lang="en-US" sz="1000" dirty="0"/>
          </a:p>
        </p:txBody>
      </p:sp>
      <p:sp>
        <p:nvSpPr>
          <p:cNvPr id="13" name="Text 11"/>
          <p:cNvSpPr/>
          <p:nvPr/>
        </p:nvSpPr>
        <p:spPr>
          <a:xfrm>
            <a:off x="5852160" y="1097280"/>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Product feature story — show the tech</a:t>
            </a:r>
            <a:endParaRPr lang="en-US" sz="1000" dirty="0"/>
          </a:p>
        </p:txBody>
      </p:sp>
      <p:sp>
        <p:nvSpPr>
          <p:cNvPr id="14" name="Text 12"/>
          <p:cNvSpPr/>
          <p:nvPr/>
        </p:nvSpPr>
        <p:spPr>
          <a:xfrm>
            <a:off x="8961120" y="1097280"/>
            <a:ext cx="2560320" cy="320040"/>
          </a:xfrm>
          <a:prstGeom prst="rect">
            <a:avLst/>
          </a:prstGeom>
          <a:noFill/>
          <a:ln/>
        </p:spPr>
        <p:txBody>
          <a:bodyPr wrap="square" rtlCol="0" anchor="ctr"/>
          <a:lstStyle/>
          <a:p>
            <a:pPr indent="0" marL="0">
              <a:buNone/>
            </a:pPr>
            <a:r>
              <a:rPr lang="en-US" sz="1000" b="1" dirty="0">
                <a:solidFill>
                  <a:srgbClr val="2B4EFF"/>
                </a:solidFill>
                <a:latin typeface="Plus Jakarta Sans" pitchFamily="34" charset="0"/>
                <a:ea typeface="Plus Jakarta Sans" pitchFamily="34" charset="-122"/>
                <a:cs typeface="Plus Jakarta Sans" pitchFamily="34" charset="-120"/>
              </a:rPr>
              <a:t>Visual product demo videos</a:t>
            </a:r>
            <a:endParaRPr lang="en-US" sz="1000" dirty="0"/>
          </a:p>
        </p:txBody>
      </p:sp>
      <p:sp>
        <p:nvSpPr>
          <p:cNvPr id="15" name="Shape 13"/>
          <p:cNvSpPr/>
          <p:nvPr/>
        </p:nvSpPr>
        <p:spPr>
          <a:xfrm>
            <a:off x="457200" y="1664208"/>
            <a:ext cx="457200" cy="594360"/>
          </a:xfrm>
          <a:prstGeom prst="rect">
            <a:avLst/>
          </a:prstGeom>
          <a:solidFill>
            <a:srgbClr val="8B5CF6"/>
          </a:solidFill>
          <a:ln/>
        </p:spPr>
      </p:sp>
      <p:sp>
        <p:nvSpPr>
          <p:cNvPr id="16" name="Text 14"/>
          <p:cNvSpPr/>
          <p:nvPr/>
        </p:nvSpPr>
        <p:spPr>
          <a:xfrm>
            <a:off x="457200" y="1801368"/>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2</a:t>
            </a:r>
            <a:endParaRPr lang="en-US" sz="1800" dirty="0"/>
          </a:p>
        </p:txBody>
      </p:sp>
      <p:sp>
        <p:nvSpPr>
          <p:cNvPr id="17" name="Shape 15"/>
          <p:cNvSpPr/>
          <p:nvPr/>
        </p:nvSpPr>
        <p:spPr>
          <a:xfrm>
            <a:off x="1005840" y="1664208"/>
            <a:ext cx="10698480" cy="594360"/>
          </a:xfrm>
          <a:prstGeom prst="rect">
            <a:avLst>
              <a:gd name="adj" fmla="val 7692"/>
            </a:avLst>
          </a:prstGeom>
          <a:solidFill>
            <a:srgbClr val="FFFFFF"/>
          </a:solidFill>
          <a:ln w="12700">
            <a:solidFill>
              <a:srgbClr val="E5E7EB"/>
            </a:solidFill>
            <a:prstDash val="solid"/>
          </a:ln>
        </p:spPr>
      </p:sp>
      <p:sp>
        <p:nvSpPr>
          <p:cNvPr id="18" name="Text 16"/>
          <p:cNvSpPr/>
          <p:nvPr/>
        </p:nvSpPr>
        <p:spPr>
          <a:xfrm>
            <a:off x="1188720" y="1755648"/>
            <a:ext cx="10058400" cy="320040"/>
          </a:xfrm>
          <a:prstGeom prst="rect">
            <a:avLst/>
          </a:prstGeom>
          <a:noFill/>
          <a:ln/>
        </p:spPr>
        <p:txBody>
          <a:bodyPr wrap="square" rtlCol="0" anchor="ctr"/>
          <a:lstStyle/>
          <a:p>
            <a:pPr indent="0" marL="0">
              <a:buNone/>
            </a:pPr>
            <a:r>
              <a:rPr lang="en-US" sz="1100" b="1" dirty="0">
                <a:solidFill>
                  <a:srgbClr val="8B5CF6"/>
                </a:solidFill>
                <a:latin typeface="Plus Jakarta Sans" pitchFamily="34" charset="0"/>
                <a:ea typeface="Plus Jakarta Sans" pitchFamily="34" charset="-122"/>
                <a:cs typeface="Plus Jakarta Sans" pitchFamily="34" charset="-120"/>
              </a:rPr>
              <a:t>INTEREST</a:t>
            </a:r>
            <a:endParaRPr lang="en-US" sz="1100" dirty="0"/>
          </a:p>
        </p:txBody>
      </p:sp>
      <p:sp>
        <p:nvSpPr>
          <p:cNvPr id="19" name="Text 17"/>
          <p:cNvSpPr/>
          <p:nvPr/>
        </p:nvSpPr>
        <p:spPr>
          <a:xfrm>
            <a:off x="1188720" y="1984248"/>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0</a:t>
            </a:r>
            <a:endParaRPr lang="en-US" sz="900" dirty="0"/>
          </a:p>
        </p:txBody>
      </p:sp>
      <p:sp>
        <p:nvSpPr>
          <p:cNvPr id="20" name="Text 18"/>
          <p:cNvSpPr/>
          <p:nvPr/>
        </p:nvSpPr>
        <p:spPr>
          <a:xfrm>
            <a:off x="2926080" y="1755648"/>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Meta Engagers · IG Organic · Stories</a:t>
            </a:r>
            <a:endParaRPr lang="en-US" sz="1000" dirty="0"/>
          </a:p>
        </p:txBody>
      </p:sp>
      <p:sp>
        <p:nvSpPr>
          <p:cNvPr id="21" name="Text 19"/>
          <p:cNvSpPr/>
          <p:nvPr/>
        </p:nvSpPr>
        <p:spPr>
          <a:xfrm>
            <a:off x="5852160" y="1755648"/>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Social proof + brand identity story</a:t>
            </a:r>
            <a:endParaRPr lang="en-US" sz="1000" dirty="0"/>
          </a:p>
        </p:txBody>
      </p:sp>
      <p:sp>
        <p:nvSpPr>
          <p:cNvPr id="22" name="Text 20"/>
          <p:cNvSpPr/>
          <p:nvPr/>
        </p:nvSpPr>
        <p:spPr>
          <a:xfrm>
            <a:off x="8961120" y="1755648"/>
            <a:ext cx="2560320" cy="320040"/>
          </a:xfrm>
          <a:prstGeom prst="rect">
            <a:avLst/>
          </a:prstGeom>
          <a:noFill/>
          <a:ln/>
        </p:spPr>
        <p:txBody>
          <a:bodyPr wrap="square" rtlCol="0" anchor="ctr"/>
          <a:lstStyle/>
          <a:p>
            <a:pPr indent="0" marL="0">
              <a:buNone/>
            </a:pPr>
            <a:r>
              <a:rPr lang="en-US" sz="1000" b="1" dirty="0">
                <a:solidFill>
                  <a:srgbClr val="8B5CF6"/>
                </a:solidFill>
                <a:latin typeface="Plus Jakarta Sans" pitchFamily="34" charset="0"/>
                <a:ea typeface="Plus Jakarta Sans" pitchFamily="34" charset="-122"/>
                <a:cs typeface="Plus Jakarta Sans" pitchFamily="34" charset="-120"/>
              </a:rPr>
              <a:t>UGC posts, creator reviews</a:t>
            </a:r>
            <a:endParaRPr lang="en-US" sz="1000" dirty="0"/>
          </a:p>
        </p:txBody>
      </p:sp>
      <p:sp>
        <p:nvSpPr>
          <p:cNvPr id="23" name="Shape 21"/>
          <p:cNvSpPr/>
          <p:nvPr/>
        </p:nvSpPr>
        <p:spPr>
          <a:xfrm>
            <a:off x="457200" y="2322576"/>
            <a:ext cx="457200" cy="594360"/>
          </a:xfrm>
          <a:prstGeom prst="rect">
            <a:avLst/>
          </a:prstGeom>
          <a:solidFill>
            <a:srgbClr val="0B1629"/>
          </a:solidFill>
          <a:ln/>
        </p:spPr>
      </p:sp>
      <p:sp>
        <p:nvSpPr>
          <p:cNvPr id="24" name="Text 22"/>
          <p:cNvSpPr/>
          <p:nvPr/>
        </p:nvSpPr>
        <p:spPr>
          <a:xfrm>
            <a:off x="457200" y="2459736"/>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3</a:t>
            </a:r>
            <a:endParaRPr lang="en-US" sz="1800" dirty="0"/>
          </a:p>
        </p:txBody>
      </p:sp>
      <p:sp>
        <p:nvSpPr>
          <p:cNvPr id="25" name="Shape 23"/>
          <p:cNvSpPr/>
          <p:nvPr/>
        </p:nvSpPr>
        <p:spPr>
          <a:xfrm>
            <a:off x="1005840" y="2322576"/>
            <a:ext cx="10698480" cy="594360"/>
          </a:xfrm>
          <a:prstGeom prst="rect">
            <a:avLst>
              <a:gd name="adj" fmla="val 7692"/>
            </a:avLst>
          </a:prstGeom>
          <a:solidFill>
            <a:srgbClr val="FFFFFF"/>
          </a:solidFill>
          <a:ln w="12700">
            <a:solidFill>
              <a:srgbClr val="E5E7EB"/>
            </a:solidFill>
            <a:prstDash val="solid"/>
          </a:ln>
        </p:spPr>
      </p:sp>
      <p:sp>
        <p:nvSpPr>
          <p:cNvPr id="26" name="Text 24"/>
          <p:cNvSpPr/>
          <p:nvPr/>
        </p:nvSpPr>
        <p:spPr>
          <a:xfrm>
            <a:off x="1188720" y="2414016"/>
            <a:ext cx="10058400" cy="320040"/>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CONSIDERATION</a:t>
            </a:r>
            <a:endParaRPr lang="en-US" sz="1100" dirty="0"/>
          </a:p>
        </p:txBody>
      </p:sp>
      <p:sp>
        <p:nvSpPr>
          <p:cNvPr id="27" name="Text 25"/>
          <p:cNvSpPr/>
          <p:nvPr/>
        </p:nvSpPr>
        <p:spPr>
          <a:xfrm>
            <a:off x="1188720" y="2642616"/>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0–1</a:t>
            </a:r>
            <a:endParaRPr lang="en-US" sz="900" dirty="0"/>
          </a:p>
        </p:txBody>
      </p:sp>
      <p:sp>
        <p:nvSpPr>
          <p:cNvPr id="28" name="Text 26"/>
          <p:cNvSpPr/>
          <p:nvPr/>
        </p:nvSpPr>
        <p:spPr>
          <a:xfrm>
            <a:off x="2926080" y="2414016"/>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Meta Retargeting · Google Shopping</a:t>
            </a:r>
            <a:endParaRPr lang="en-US" sz="1000" dirty="0"/>
          </a:p>
        </p:txBody>
      </p:sp>
      <p:sp>
        <p:nvSpPr>
          <p:cNvPr id="29" name="Text 27"/>
          <p:cNvSpPr/>
          <p:nvPr/>
        </p:nvSpPr>
        <p:spPr>
          <a:xfrm>
            <a:off x="5852160" y="2414016"/>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Feature comparison + customer reviews</a:t>
            </a:r>
            <a:endParaRPr lang="en-US" sz="1000" dirty="0"/>
          </a:p>
        </p:txBody>
      </p:sp>
      <p:sp>
        <p:nvSpPr>
          <p:cNvPr id="30" name="Text 28"/>
          <p:cNvSpPr/>
          <p:nvPr/>
        </p:nvSpPr>
        <p:spPr>
          <a:xfrm>
            <a:off x="8961120" y="2414016"/>
            <a:ext cx="256032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Carousels, product close-ups</a:t>
            </a:r>
            <a:endParaRPr lang="en-US" sz="1000" dirty="0"/>
          </a:p>
        </p:txBody>
      </p:sp>
      <p:sp>
        <p:nvSpPr>
          <p:cNvPr id="31" name="Shape 29"/>
          <p:cNvSpPr/>
          <p:nvPr/>
        </p:nvSpPr>
        <p:spPr>
          <a:xfrm>
            <a:off x="457200" y="2980944"/>
            <a:ext cx="457200" cy="594360"/>
          </a:xfrm>
          <a:prstGeom prst="rect">
            <a:avLst/>
          </a:prstGeom>
          <a:solidFill>
            <a:srgbClr val="F59E0B"/>
          </a:solidFill>
          <a:ln/>
        </p:spPr>
      </p:sp>
      <p:sp>
        <p:nvSpPr>
          <p:cNvPr id="32" name="Text 30"/>
          <p:cNvSpPr/>
          <p:nvPr/>
        </p:nvSpPr>
        <p:spPr>
          <a:xfrm>
            <a:off x="457200" y="3118104"/>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4</a:t>
            </a:r>
            <a:endParaRPr lang="en-US" sz="1800" dirty="0"/>
          </a:p>
        </p:txBody>
      </p:sp>
      <p:sp>
        <p:nvSpPr>
          <p:cNvPr id="33" name="Shape 31"/>
          <p:cNvSpPr/>
          <p:nvPr/>
        </p:nvSpPr>
        <p:spPr>
          <a:xfrm>
            <a:off x="1005840" y="2980944"/>
            <a:ext cx="10698480" cy="594360"/>
          </a:xfrm>
          <a:prstGeom prst="rect">
            <a:avLst>
              <a:gd name="adj" fmla="val 7692"/>
            </a:avLst>
          </a:prstGeom>
          <a:solidFill>
            <a:srgbClr val="FFFFFF"/>
          </a:solidFill>
          <a:ln w="12700">
            <a:solidFill>
              <a:srgbClr val="E5E7EB"/>
            </a:solidFill>
            <a:prstDash val="solid"/>
          </a:ln>
        </p:spPr>
      </p:sp>
      <p:sp>
        <p:nvSpPr>
          <p:cNvPr id="34" name="Text 32"/>
          <p:cNvSpPr/>
          <p:nvPr/>
        </p:nvSpPr>
        <p:spPr>
          <a:xfrm>
            <a:off x="1188720" y="3072384"/>
            <a:ext cx="10058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PURCHASE</a:t>
            </a:r>
            <a:endParaRPr lang="en-US" sz="1100" dirty="0"/>
          </a:p>
        </p:txBody>
      </p:sp>
      <p:sp>
        <p:nvSpPr>
          <p:cNvPr id="35" name="Text 33"/>
          <p:cNvSpPr/>
          <p:nvPr/>
        </p:nvSpPr>
        <p:spPr>
          <a:xfrm>
            <a:off x="1188720" y="3300984"/>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1</a:t>
            </a:r>
            <a:endParaRPr lang="en-US" sz="900" dirty="0"/>
          </a:p>
        </p:txBody>
      </p:sp>
      <p:sp>
        <p:nvSpPr>
          <p:cNvPr id="36" name="Text 34"/>
          <p:cNvSpPr/>
          <p:nvPr/>
        </p:nvSpPr>
        <p:spPr>
          <a:xfrm>
            <a:off x="2926080" y="3072384"/>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Meta BOFU · Google Search · WhatsApp</a:t>
            </a:r>
            <a:endParaRPr lang="en-US" sz="1000" dirty="0"/>
          </a:p>
        </p:txBody>
      </p:sp>
      <p:sp>
        <p:nvSpPr>
          <p:cNvPr id="37" name="Text 35"/>
          <p:cNvSpPr/>
          <p:nvPr/>
        </p:nvSpPr>
        <p:spPr>
          <a:xfrm>
            <a:off x="5852160" y="3072384"/>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Offer + urgency + trust signals</a:t>
            </a:r>
            <a:endParaRPr lang="en-US" sz="1000" dirty="0"/>
          </a:p>
        </p:txBody>
      </p:sp>
      <p:sp>
        <p:nvSpPr>
          <p:cNvPr id="38" name="Text 36"/>
          <p:cNvSpPr/>
          <p:nvPr/>
        </p:nvSpPr>
        <p:spPr>
          <a:xfrm>
            <a:off x="8961120" y="3072384"/>
            <a:ext cx="2560320" cy="320040"/>
          </a:xfrm>
          <a:prstGeom prst="rect">
            <a:avLst/>
          </a:prstGeom>
          <a:noFill/>
          <a:ln/>
        </p:spPr>
        <p:txBody>
          <a:bodyPr wrap="square" rtlCol="0" anchor="ctr"/>
          <a:lstStyle/>
          <a:p>
            <a:pPr indent="0" marL="0">
              <a:buNone/>
            </a:pPr>
            <a:r>
              <a:rPr lang="en-US" sz="1000" b="1" dirty="0">
                <a:solidFill>
                  <a:srgbClr val="F59E0B"/>
                </a:solidFill>
                <a:latin typeface="Plus Jakarta Sans" pitchFamily="34" charset="0"/>
                <a:ea typeface="Plus Jakarta Sans" pitchFamily="34" charset="-122"/>
                <a:cs typeface="Plus Jakarta Sans" pitchFamily="34" charset="-120"/>
              </a:rPr>
              <a:t>Product + CTA + free gift</a:t>
            </a:r>
            <a:endParaRPr lang="en-US" sz="1000" dirty="0"/>
          </a:p>
        </p:txBody>
      </p:sp>
      <p:sp>
        <p:nvSpPr>
          <p:cNvPr id="39" name="Shape 37"/>
          <p:cNvSpPr/>
          <p:nvPr/>
        </p:nvSpPr>
        <p:spPr>
          <a:xfrm>
            <a:off x="457200" y="3639312"/>
            <a:ext cx="457200" cy="594360"/>
          </a:xfrm>
          <a:prstGeom prst="rect">
            <a:avLst/>
          </a:prstGeom>
          <a:solidFill>
            <a:srgbClr val="10B981"/>
          </a:solidFill>
          <a:ln/>
        </p:spPr>
      </p:sp>
      <p:sp>
        <p:nvSpPr>
          <p:cNvPr id="40" name="Text 38"/>
          <p:cNvSpPr/>
          <p:nvPr/>
        </p:nvSpPr>
        <p:spPr>
          <a:xfrm>
            <a:off x="457200" y="3776472"/>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5</a:t>
            </a:r>
            <a:endParaRPr lang="en-US" sz="1800" dirty="0"/>
          </a:p>
        </p:txBody>
      </p:sp>
      <p:sp>
        <p:nvSpPr>
          <p:cNvPr id="41" name="Shape 39"/>
          <p:cNvSpPr/>
          <p:nvPr/>
        </p:nvSpPr>
        <p:spPr>
          <a:xfrm>
            <a:off x="1005840" y="3639312"/>
            <a:ext cx="10698480" cy="594360"/>
          </a:xfrm>
          <a:prstGeom prst="rect">
            <a:avLst>
              <a:gd name="adj" fmla="val 7692"/>
            </a:avLst>
          </a:prstGeom>
          <a:solidFill>
            <a:srgbClr val="FFFFFF"/>
          </a:solidFill>
          <a:ln w="12700">
            <a:solidFill>
              <a:srgbClr val="E5E7EB"/>
            </a:solidFill>
            <a:prstDash val="solid"/>
          </a:ln>
        </p:spPr>
      </p:sp>
      <p:sp>
        <p:nvSpPr>
          <p:cNvPr id="42" name="Text 40"/>
          <p:cNvSpPr/>
          <p:nvPr/>
        </p:nvSpPr>
        <p:spPr>
          <a:xfrm>
            <a:off x="1188720" y="3730752"/>
            <a:ext cx="10058400" cy="32004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DELIGHT</a:t>
            </a:r>
            <a:endParaRPr lang="en-US" sz="1100" dirty="0"/>
          </a:p>
        </p:txBody>
      </p:sp>
      <p:sp>
        <p:nvSpPr>
          <p:cNvPr id="43" name="Text 41"/>
          <p:cNvSpPr/>
          <p:nvPr/>
        </p:nvSpPr>
        <p:spPr>
          <a:xfrm>
            <a:off x="1188720" y="3959352"/>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2–7</a:t>
            </a:r>
            <a:endParaRPr lang="en-US" sz="900" dirty="0"/>
          </a:p>
        </p:txBody>
      </p:sp>
      <p:sp>
        <p:nvSpPr>
          <p:cNvPr id="44" name="Text 42"/>
          <p:cNvSpPr/>
          <p:nvPr/>
        </p:nvSpPr>
        <p:spPr>
          <a:xfrm>
            <a:off x="2926080" y="3730752"/>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WhatsApp · Email · Confirmation</a:t>
            </a:r>
            <a:endParaRPr lang="en-US" sz="1000" dirty="0"/>
          </a:p>
        </p:txBody>
      </p:sp>
      <p:sp>
        <p:nvSpPr>
          <p:cNvPr id="45" name="Text 43"/>
          <p:cNvSpPr/>
          <p:nvPr/>
        </p:nvSpPr>
        <p:spPr>
          <a:xfrm>
            <a:off x="5852160" y="3730752"/>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Brand welcome + wear guide + care tips</a:t>
            </a:r>
            <a:endParaRPr lang="en-US" sz="1000" dirty="0"/>
          </a:p>
        </p:txBody>
      </p:sp>
      <p:sp>
        <p:nvSpPr>
          <p:cNvPr id="46" name="Text 44"/>
          <p:cNvSpPr/>
          <p:nvPr/>
        </p:nvSpPr>
        <p:spPr>
          <a:xfrm>
            <a:off x="8961120" y="3730752"/>
            <a:ext cx="2560320" cy="320040"/>
          </a:xfrm>
          <a:prstGeom prst="rect">
            <a:avLst/>
          </a:prstGeom>
          <a:noFill/>
          <a:ln/>
        </p:spPr>
        <p:txBody>
          <a:bodyPr wrap="square" rtlCol="0" anchor="ctr"/>
          <a:lstStyle/>
          <a:p>
            <a:pPr indent="0" marL="0">
              <a:buNone/>
            </a:pPr>
            <a:r>
              <a:rPr lang="en-US" sz="1000" b="1" dirty="0">
                <a:solidFill>
                  <a:srgbClr val="10B981"/>
                </a:solidFill>
                <a:latin typeface="Plus Jakarta Sans" pitchFamily="34" charset="0"/>
                <a:ea typeface="Plus Jakarta Sans" pitchFamily="34" charset="-122"/>
                <a:cs typeface="Plus Jakarta Sans" pitchFamily="34" charset="-120"/>
              </a:rPr>
              <a:t>Thank you sequence, styling</a:t>
            </a:r>
            <a:endParaRPr lang="en-US" sz="1000" dirty="0"/>
          </a:p>
        </p:txBody>
      </p:sp>
      <p:sp>
        <p:nvSpPr>
          <p:cNvPr id="47" name="Shape 45"/>
          <p:cNvSpPr/>
          <p:nvPr/>
        </p:nvSpPr>
        <p:spPr>
          <a:xfrm>
            <a:off x="457200" y="4297680"/>
            <a:ext cx="457200" cy="594360"/>
          </a:xfrm>
          <a:prstGeom prst="rect">
            <a:avLst/>
          </a:prstGeom>
          <a:solidFill>
            <a:srgbClr val="8B5CF6"/>
          </a:solidFill>
          <a:ln/>
        </p:spPr>
      </p:sp>
      <p:sp>
        <p:nvSpPr>
          <p:cNvPr id="48" name="Text 46"/>
          <p:cNvSpPr/>
          <p:nvPr/>
        </p:nvSpPr>
        <p:spPr>
          <a:xfrm>
            <a:off x="457200" y="4434840"/>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6</a:t>
            </a:r>
            <a:endParaRPr lang="en-US" sz="1800" dirty="0"/>
          </a:p>
        </p:txBody>
      </p:sp>
      <p:sp>
        <p:nvSpPr>
          <p:cNvPr id="49" name="Shape 47"/>
          <p:cNvSpPr/>
          <p:nvPr/>
        </p:nvSpPr>
        <p:spPr>
          <a:xfrm>
            <a:off x="1005840" y="4297680"/>
            <a:ext cx="10698480" cy="594360"/>
          </a:xfrm>
          <a:prstGeom prst="rect">
            <a:avLst>
              <a:gd name="adj" fmla="val 7692"/>
            </a:avLst>
          </a:prstGeom>
          <a:solidFill>
            <a:srgbClr val="FFFFFF"/>
          </a:solidFill>
          <a:ln w="12700">
            <a:solidFill>
              <a:srgbClr val="E5E7EB"/>
            </a:solidFill>
            <a:prstDash val="solid"/>
          </a:ln>
        </p:spPr>
      </p:sp>
      <p:sp>
        <p:nvSpPr>
          <p:cNvPr id="50" name="Text 48"/>
          <p:cNvSpPr/>
          <p:nvPr/>
        </p:nvSpPr>
        <p:spPr>
          <a:xfrm>
            <a:off x="1188720" y="4389120"/>
            <a:ext cx="10058400" cy="320040"/>
          </a:xfrm>
          <a:prstGeom prst="rect">
            <a:avLst/>
          </a:prstGeom>
          <a:noFill/>
          <a:ln/>
        </p:spPr>
        <p:txBody>
          <a:bodyPr wrap="square" rtlCol="0" anchor="ctr"/>
          <a:lstStyle/>
          <a:p>
            <a:pPr indent="0" marL="0">
              <a:buNone/>
            </a:pPr>
            <a:r>
              <a:rPr lang="en-US" sz="1100" b="1" dirty="0">
                <a:solidFill>
                  <a:srgbClr val="8B5CF6"/>
                </a:solidFill>
                <a:latin typeface="Plus Jakarta Sans" pitchFamily="34" charset="0"/>
                <a:ea typeface="Plus Jakarta Sans" pitchFamily="34" charset="-122"/>
                <a:cs typeface="Plus Jakarta Sans" pitchFamily="34" charset="-120"/>
              </a:rPr>
              <a:t>LOYALTY</a:t>
            </a:r>
            <a:endParaRPr lang="en-US" sz="1100" dirty="0"/>
          </a:p>
        </p:txBody>
      </p:sp>
      <p:sp>
        <p:nvSpPr>
          <p:cNvPr id="51" name="Text 49"/>
          <p:cNvSpPr/>
          <p:nvPr/>
        </p:nvSpPr>
        <p:spPr>
          <a:xfrm>
            <a:off x="1188720" y="4617720"/>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14–45</a:t>
            </a:r>
            <a:endParaRPr lang="en-US" sz="900" dirty="0"/>
          </a:p>
        </p:txBody>
      </p:sp>
      <p:sp>
        <p:nvSpPr>
          <p:cNvPr id="52" name="Text 50"/>
          <p:cNvSpPr/>
          <p:nvPr/>
        </p:nvSpPr>
        <p:spPr>
          <a:xfrm>
            <a:off x="2926080" y="4389120"/>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WhatsApp · Email · Push</a:t>
            </a:r>
            <a:endParaRPr lang="en-US" sz="1000" dirty="0"/>
          </a:p>
        </p:txBody>
      </p:sp>
      <p:sp>
        <p:nvSpPr>
          <p:cNvPr id="53" name="Text 51"/>
          <p:cNvSpPr/>
          <p:nvPr/>
        </p:nvSpPr>
        <p:spPr>
          <a:xfrm>
            <a:off x="5852160" y="4389120"/>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New drops + personalised next reco</a:t>
            </a:r>
            <a:endParaRPr lang="en-US" sz="1000" dirty="0"/>
          </a:p>
        </p:txBody>
      </p:sp>
      <p:sp>
        <p:nvSpPr>
          <p:cNvPr id="54" name="Text 52"/>
          <p:cNvSpPr/>
          <p:nvPr/>
        </p:nvSpPr>
        <p:spPr>
          <a:xfrm>
            <a:off x="8961120" y="4389120"/>
            <a:ext cx="2560320" cy="320040"/>
          </a:xfrm>
          <a:prstGeom prst="rect">
            <a:avLst/>
          </a:prstGeom>
          <a:noFill/>
          <a:ln/>
        </p:spPr>
        <p:txBody>
          <a:bodyPr wrap="square" rtlCol="0" anchor="ctr"/>
          <a:lstStyle/>
          <a:p>
            <a:pPr indent="0" marL="0">
              <a:buNone/>
            </a:pPr>
            <a:r>
              <a:rPr lang="en-US" sz="1000" b="1" dirty="0">
                <a:solidFill>
                  <a:srgbClr val="8B5CF6"/>
                </a:solidFill>
                <a:latin typeface="Plus Jakarta Sans" pitchFamily="34" charset="0"/>
                <a:ea typeface="Plus Jakarta Sans" pitchFamily="34" charset="-122"/>
                <a:cs typeface="Plus Jakarta Sans" pitchFamily="34" charset="-120"/>
              </a:rPr>
              <a:t>Retention series, early access</a:t>
            </a:r>
            <a:endParaRPr lang="en-US" sz="1000" dirty="0"/>
          </a:p>
        </p:txBody>
      </p:sp>
      <p:sp>
        <p:nvSpPr>
          <p:cNvPr id="55" name="Shape 53"/>
          <p:cNvSpPr/>
          <p:nvPr/>
        </p:nvSpPr>
        <p:spPr>
          <a:xfrm>
            <a:off x="457200" y="4956048"/>
            <a:ext cx="457200" cy="594360"/>
          </a:xfrm>
          <a:prstGeom prst="rect">
            <a:avLst/>
          </a:prstGeom>
          <a:solidFill>
            <a:srgbClr val="EF4444"/>
          </a:solidFill>
          <a:ln/>
        </p:spPr>
      </p:sp>
      <p:sp>
        <p:nvSpPr>
          <p:cNvPr id="56" name="Text 54"/>
          <p:cNvSpPr/>
          <p:nvPr/>
        </p:nvSpPr>
        <p:spPr>
          <a:xfrm>
            <a:off x="457200" y="5093208"/>
            <a:ext cx="457200" cy="320040"/>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7</a:t>
            </a:r>
            <a:endParaRPr lang="en-US" sz="1800" dirty="0"/>
          </a:p>
        </p:txBody>
      </p:sp>
      <p:sp>
        <p:nvSpPr>
          <p:cNvPr id="57" name="Shape 55"/>
          <p:cNvSpPr/>
          <p:nvPr/>
        </p:nvSpPr>
        <p:spPr>
          <a:xfrm>
            <a:off x="1005840" y="4956048"/>
            <a:ext cx="10698480" cy="594360"/>
          </a:xfrm>
          <a:prstGeom prst="rect">
            <a:avLst>
              <a:gd name="adj" fmla="val 7692"/>
            </a:avLst>
          </a:prstGeom>
          <a:solidFill>
            <a:srgbClr val="FFFFFF"/>
          </a:solidFill>
          <a:ln w="12700">
            <a:solidFill>
              <a:srgbClr val="E5E7EB"/>
            </a:solidFill>
            <a:prstDash val="solid"/>
          </a:ln>
        </p:spPr>
      </p:sp>
      <p:sp>
        <p:nvSpPr>
          <p:cNvPr id="58" name="Text 56"/>
          <p:cNvSpPr/>
          <p:nvPr/>
        </p:nvSpPr>
        <p:spPr>
          <a:xfrm>
            <a:off x="1188720" y="5047488"/>
            <a:ext cx="10058400" cy="320040"/>
          </a:xfrm>
          <a:prstGeom prst="rect">
            <a:avLst/>
          </a:prstGeom>
          <a:noFill/>
          <a:ln/>
        </p:spPr>
        <p:txBody>
          <a:bodyPr wrap="square" rtlCol="0" anchor="ctr"/>
          <a:lstStyle/>
          <a:p>
            <a:pPr indent="0" marL="0">
              <a:buNone/>
            </a:pPr>
            <a:r>
              <a:rPr lang="en-US" sz="1100" b="1" dirty="0">
                <a:solidFill>
                  <a:srgbClr val="EF4444"/>
                </a:solidFill>
                <a:latin typeface="Plus Jakarta Sans" pitchFamily="34" charset="0"/>
                <a:ea typeface="Plus Jakarta Sans" pitchFamily="34" charset="-122"/>
                <a:cs typeface="Plus Jakarta Sans" pitchFamily="34" charset="-120"/>
              </a:rPr>
              <a:t>ADVOCACY</a:t>
            </a:r>
            <a:endParaRPr lang="en-US" sz="1100" dirty="0"/>
          </a:p>
        </p:txBody>
      </p:sp>
      <p:sp>
        <p:nvSpPr>
          <p:cNvPr id="59" name="Text 57"/>
          <p:cNvSpPr/>
          <p:nvPr/>
        </p:nvSpPr>
        <p:spPr>
          <a:xfrm>
            <a:off x="1188720" y="5276088"/>
            <a:ext cx="10058400" cy="320040"/>
          </a:xfrm>
          <a:prstGeom prst="rect">
            <a:avLst/>
          </a:prstGeom>
          <a:noFill/>
          <a:ln/>
        </p:spPr>
        <p:txBody>
          <a:bodyPr wrap="square" rtlCol="0" anchor="ctr"/>
          <a:lstStyle/>
          <a:p>
            <a:pPr indent="0" marL="0">
              <a:buNone/>
            </a:pPr>
            <a:r>
              <a:rPr lang="en-US" sz="900" dirty="0">
                <a:solidFill>
                  <a:srgbClr val="888888"/>
                </a:solidFill>
                <a:latin typeface="Plus Jakarta Sans" pitchFamily="34" charset="0"/>
                <a:ea typeface="Plus Jakarta Sans" pitchFamily="34" charset="-122"/>
                <a:cs typeface="Plus Jakarta Sans" pitchFamily="34" charset="-120"/>
              </a:rPr>
              <a:t>Day 60+</a:t>
            </a:r>
            <a:endParaRPr lang="en-US" sz="900" dirty="0"/>
          </a:p>
        </p:txBody>
      </p:sp>
      <p:sp>
        <p:nvSpPr>
          <p:cNvPr id="60" name="Text 58"/>
          <p:cNvSpPr/>
          <p:nvPr/>
        </p:nvSpPr>
        <p:spPr>
          <a:xfrm>
            <a:off x="2926080" y="5047488"/>
            <a:ext cx="274320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Instagram UGC · Community · Referral</a:t>
            </a:r>
            <a:endParaRPr lang="en-US" sz="1000" dirty="0"/>
          </a:p>
        </p:txBody>
      </p:sp>
      <p:sp>
        <p:nvSpPr>
          <p:cNvPr id="61" name="Text 59"/>
          <p:cNvSpPr/>
          <p:nvPr/>
        </p:nvSpPr>
        <p:spPr>
          <a:xfrm>
            <a:off x="5852160" y="5047488"/>
            <a:ext cx="3017520" cy="320040"/>
          </a:xfrm>
          <a:prstGeom prst="rect">
            <a:avLst/>
          </a:prstGeom>
          <a:noFill/>
          <a:ln/>
        </p:spPr>
        <p:txBody>
          <a:bodyPr wrap="square" rtlCol="0" anchor="ctr"/>
          <a:lstStyle/>
          <a:p>
            <a:pPr indent="0" marL="0">
              <a:buNone/>
            </a:pPr>
            <a:r>
              <a:rPr lang="en-US" sz="1000" dirty="0">
                <a:solidFill>
                  <a:srgbClr val="0B1629"/>
                </a:solidFill>
                <a:latin typeface="Plus Jakarta Sans" pitchFamily="34" charset="0"/>
                <a:ea typeface="Plus Jakarta Sans" pitchFamily="34" charset="-122"/>
                <a:cs typeface="Plus Jakarta Sans" pitchFamily="34" charset="-120"/>
              </a:rPr>
              <a:t>"I am Nirvana Brews" identity content</a:t>
            </a:r>
            <a:endParaRPr lang="en-US" sz="1000" dirty="0"/>
          </a:p>
        </p:txBody>
      </p:sp>
      <p:sp>
        <p:nvSpPr>
          <p:cNvPr id="62" name="Text 60"/>
          <p:cNvSpPr/>
          <p:nvPr/>
        </p:nvSpPr>
        <p:spPr>
          <a:xfrm>
            <a:off x="8961120" y="5047488"/>
            <a:ext cx="2560320" cy="320040"/>
          </a:xfrm>
          <a:prstGeom prst="rect">
            <a:avLst/>
          </a:prstGeom>
          <a:noFill/>
          <a:ln/>
        </p:spPr>
        <p:txBody>
          <a:bodyPr wrap="square" rtlCol="0" anchor="ctr"/>
          <a:lstStyle/>
          <a:p>
            <a:pPr indent="0" marL="0">
              <a:buNone/>
            </a:pPr>
            <a:r>
              <a:rPr lang="en-US" sz="1000" b="1" dirty="0">
                <a:solidFill>
                  <a:srgbClr val="EF4444"/>
                </a:solidFill>
                <a:latin typeface="Plus Jakarta Sans" pitchFamily="34" charset="0"/>
                <a:ea typeface="Plus Jakarta Sans" pitchFamily="34" charset="-122"/>
                <a:cs typeface="Plus Jakarta Sans" pitchFamily="34" charset="-120"/>
              </a:rPr>
              <a:t>UGC reposts, community events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BUDGET STRATEGY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Monthly Budget — Where Every Rupee Goes &amp; Why</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5029200" cy="5120640"/>
          </a:xfrm>
          <a:prstGeom prst="rect">
            <a:avLst>
              <a:gd name="adj" fmla="val 1818"/>
            </a:avLst>
          </a:prstGeom>
          <a:solidFill>
            <a:srgbClr val="FFFFFF"/>
          </a:solidFill>
          <a:ln/>
        </p:spPr>
      </p:sp>
      <p:sp>
        <p:nvSpPr>
          <p:cNvPr id="8" name="Shape 6"/>
          <p:cNvSpPr/>
          <p:nvPr/>
        </p:nvSpPr>
        <p:spPr>
          <a:xfrm>
            <a:off x="1371600" y="1645920"/>
            <a:ext cx="3200400" cy="3200400"/>
          </a:xfrm>
          <a:prstGeom prst="oval">
            <a:avLst/>
          </a:prstGeom>
          <a:solidFill>
            <a:srgbClr val="2B4EFF"/>
          </a:solidFill>
          <a:ln/>
        </p:spPr>
      </p:sp>
      <p:sp>
        <p:nvSpPr>
          <p:cNvPr id="9" name="Shape 7"/>
          <p:cNvSpPr/>
          <p:nvPr/>
        </p:nvSpPr>
        <p:spPr>
          <a:xfrm>
            <a:off x="1645920" y="1920240"/>
            <a:ext cx="2651760" cy="2651760"/>
          </a:xfrm>
          <a:prstGeom prst="oval">
            <a:avLst/>
          </a:prstGeom>
          <a:solidFill>
            <a:srgbClr val="F59E0B"/>
          </a:solidFill>
          <a:ln/>
        </p:spPr>
      </p:sp>
      <p:sp>
        <p:nvSpPr>
          <p:cNvPr id="10" name="Shape 8"/>
          <p:cNvSpPr/>
          <p:nvPr/>
        </p:nvSpPr>
        <p:spPr>
          <a:xfrm>
            <a:off x="1920240" y="2194560"/>
            <a:ext cx="2103120" cy="2103120"/>
          </a:xfrm>
          <a:prstGeom prst="oval">
            <a:avLst/>
          </a:prstGeom>
          <a:solidFill>
            <a:srgbClr val="10B981"/>
          </a:solidFill>
          <a:ln/>
        </p:spPr>
      </p:sp>
      <p:sp>
        <p:nvSpPr>
          <p:cNvPr id="11" name="Shape 9"/>
          <p:cNvSpPr/>
          <p:nvPr/>
        </p:nvSpPr>
        <p:spPr>
          <a:xfrm>
            <a:off x="2194560" y="2468880"/>
            <a:ext cx="1554480" cy="1554480"/>
          </a:xfrm>
          <a:prstGeom prst="oval">
            <a:avLst/>
          </a:prstGeom>
          <a:solidFill>
            <a:srgbClr val="FFFFFF"/>
          </a:solidFill>
          <a:ln/>
        </p:spPr>
      </p:sp>
      <p:sp>
        <p:nvSpPr>
          <p:cNvPr id="12" name="Text 10"/>
          <p:cNvSpPr/>
          <p:nvPr/>
        </p:nvSpPr>
        <p:spPr>
          <a:xfrm>
            <a:off x="2194560" y="2926080"/>
            <a:ext cx="1554480" cy="320040"/>
          </a:xfrm>
          <a:prstGeom prst="rect">
            <a:avLst/>
          </a:prstGeom>
          <a:noFill/>
          <a:ln/>
        </p:spPr>
        <p:txBody>
          <a:bodyPr wrap="square" rtlCol="0" anchor="ctr"/>
          <a:lstStyle/>
          <a:p>
            <a:pPr algn="ctr" indent="0" marL="0">
              <a:buNone/>
            </a:pPr>
            <a:r>
              <a:rPr lang="en-US" sz="1200" b="1" dirty="0">
                <a:solidFill>
                  <a:srgbClr val="0B1629"/>
                </a:solidFill>
                <a:latin typeface="Plus Jakarta Sans" pitchFamily="34" charset="0"/>
                <a:ea typeface="Plus Jakarta Sans" pitchFamily="34" charset="-122"/>
                <a:cs typeface="Plus Jakarta Sans" pitchFamily="34" charset="-120"/>
              </a:rPr>
              <a:t>BUDGET\nSPLIT</a:t>
            </a:r>
            <a:endParaRPr lang="en-US" sz="1200" dirty="0"/>
          </a:p>
        </p:txBody>
      </p:sp>
      <p:sp>
        <p:nvSpPr>
          <p:cNvPr id="13" name="Shape 11"/>
          <p:cNvSpPr/>
          <p:nvPr/>
        </p:nvSpPr>
        <p:spPr>
          <a:xfrm>
            <a:off x="5943600" y="1005840"/>
            <a:ext cx="5760720" cy="734568"/>
          </a:xfrm>
          <a:prstGeom prst="rect">
            <a:avLst>
              <a:gd name="adj" fmla="val 6224"/>
            </a:avLst>
          </a:prstGeom>
          <a:solidFill>
            <a:srgbClr val="FFFFFF"/>
          </a:solidFill>
          <a:ln/>
        </p:spPr>
      </p:sp>
      <p:sp>
        <p:nvSpPr>
          <p:cNvPr id="14" name="Shape 12"/>
          <p:cNvSpPr/>
          <p:nvPr/>
        </p:nvSpPr>
        <p:spPr>
          <a:xfrm>
            <a:off x="5943600" y="1005840"/>
            <a:ext cx="91440" cy="734568"/>
          </a:xfrm>
          <a:prstGeom prst="rect">
            <a:avLst/>
          </a:prstGeom>
          <a:solidFill>
            <a:srgbClr val="2B4EFF"/>
          </a:solidFill>
          <a:ln/>
        </p:spPr>
      </p:sp>
      <p:sp>
        <p:nvSpPr>
          <p:cNvPr id="15" name="Text 13"/>
          <p:cNvSpPr/>
          <p:nvPr/>
        </p:nvSpPr>
        <p:spPr>
          <a:xfrm>
            <a:off x="6126480" y="1042568"/>
            <a:ext cx="822960" cy="330556"/>
          </a:xfrm>
          <a:prstGeom prst="rect">
            <a:avLst/>
          </a:prstGeom>
          <a:noFill/>
          <a:ln/>
        </p:spPr>
        <p:txBody>
          <a:bodyPr wrap="square" rtlCol="0" anchor="ctr"/>
          <a:lstStyle/>
          <a:p>
            <a:pPr indent="0" marL="0">
              <a:buNone/>
            </a:pPr>
            <a:r>
              <a:rPr lang="en-US" sz="1300" b="1" dirty="0">
                <a:solidFill>
                  <a:srgbClr val="2B4EFF"/>
                </a:solidFill>
                <a:latin typeface="Plus Jakarta Sans" pitchFamily="34" charset="0"/>
                <a:ea typeface="Plus Jakarta Sans" pitchFamily="34" charset="-122"/>
                <a:cs typeface="Plus Jakarta Sans" pitchFamily="34" charset="-120"/>
              </a:rPr>
              <a:t>40.0%</a:t>
            </a:r>
            <a:endParaRPr lang="en-US" sz="1300" dirty="0"/>
          </a:p>
        </p:txBody>
      </p:sp>
      <p:sp>
        <p:nvSpPr>
          <p:cNvPr id="16" name="Text 14"/>
          <p:cNvSpPr/>
          <p:nvPr/>
        </p:nvSpPr>
        <p:spPr>
          <a:xfrm>
            <a:off x="6126480" y="1373124"/>
            <a:ext cx="822960" cy="330556"/>
          </a:xfrm>
          <a:prstGeom prst="rect">
            <a:avLst/>
          </a:prstGeom>
          <a:noFill/>
          <a:ln/>
        </p:spPr>
        <p:txBody>
          <a:bodyPr wrap="square" rtlCol="0" anchor="ctr"/>
          <a:lstStyle/>
          <a:p>
            <a:pPr indent="0" marL="0">
              <a:buNone/>
            </a:pPr>
            <a:r>
              <a:rPr lang="en-US" sz="1000" b="1" dirty="0">
                <a:solidFill>
                  <a:srgbClr val="666666"/>
                </a:solidFill>
                <a:latin typeface="Plus Jakarta Sans" pitchFamily="34" charset="0"/>
                <a:ea typeface="Plus Jakarta Sans" pitchFamily="34" charset="-122"/>
                <a:cs typeface="Plus Jakarta Sans" pitchFamily="34" charset="-120"/>
              </a:rPr>
              <a:t>₹2,00,000</a:t>
            </a:r>
            <a:endParaRPr lang="en-US" sz="1000" dirty="0"/>
          </a:p>
        </p:txBody>
      </p:sp>
      <p:sp>
        <p:nvSpPr>
          <p:cNvPr id="17" name="Text 15"/>
          <p:cNvSpPr/>
          <p:nvPr/>
        </p:nvSpPr>
        <p:spPr>
          <a:xfrm>
            <a:off x="7040880" y="1042568"/>
            <a:ext cx="4572000" cy="330556"/>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Meta Ads (FB + IG)</a:t>
            </a:r>
            <a:endParaRPr lang="en-US" sz="1100" dirty="0"/>
          </a:p>
        </p:txBody>
      </p:sp>
      <p:sp>
        <p:nvSpPr>
          <p:cNvPr id="18" name="Text 16"/>
          <p:cNvSpPr/>
          <p:nvPr/>
        </p:nvSpPr>
        <p:spPr>
          <a:xfrm>
            <a:off x="7040880" y="1373124"/>
            <a:ext cx="4572000" cy="330556"/>
          </a:xfrm>
          <a:prstGeom prst="rect">
            <a:avLst/>
          </a:prstGeom>
          <a:noFill/>
          <a:ln/>
        </p:spPr>
        <p:txBody>
          <a:bodyPr wrap="square" rtlCol="0" anchor="ctr"/>
          <a:lstStyle/>
          <a:p>
            <a:pPr indent="0" marL="0">
              <a:buNone/>
            </a:pPr>
            <a:r>
              <a:rPr lang="en-US" sz="950" dirty="0">
                <a:solidFill>
                  <a:srgbClr val="666666"/>
                </a:solidFill>
                <a:latin typeface="Plus Jakarta Sans" pitchFamily="34" charset="0"/>
                <a:ea typeface="Plus Jakarta Sans" pitchFamily="34" charset="-122"/>
                <a:cs typeface="Plus Jakarta Sans" pitchFamily="34" charset="-120"/>
              </a:rPr>
              <a:t>Acquisition via brewing reels &amp; tasting promos</a:t>
            </a:r>
            <a:endParaRPr lang="en-US" sz="950" dirty="0"/>
          </a:p>
        </p:txBody>
      </p:sp>
      <p:sp>
        <p:nvSpPr>
          <p:cNvPr id="19" name="Shape 17"/>
          <p:cNvSpPr/>
          <p:nvPr/>
        </p:nvSpPr>
        <p:spPr>
          <a:xfrm>
            <a:off x="5943600" y="1813560"/>
            <a:ext cx="5760720" cy="734568"/>
          </a:xfrm>
          <a:prstGeom prst="rect">
            <a:avLst>
              <a:gd name="adj" fmla="val 6224"/>
            </a:avLst>
          </a:prstGeom>
          <a:solidFill>
            <a:srgbClr val="FFFFFF"/>
          </a:solidFill>
          <a:ln/>
        </p:spPr>
      </p:sp>
      <p:sp>
        <p:nvSpPr>
          <p:cNvPr id="20" name="Shape 18"/>
          <p:cNvSpPr/>
          <p:nvPr/>
        </p:nvSpPr>
        <p:spPr>
          <a:xfrm>
            <a:off x="5943600" y="1813560"/>
            <a:ext cx="91440" cy="734568"/>
          </a:xfrm>
          <a:prstGeom prst="rect">
            <a:avLst/>
          </a:prstGeom>
          <a:solidFill>
            <a:srgbClr val="10B981"/>
          </a:solidFill>
          <a:ln/>
        </p:spPr>
      </p:sp>
      <p:sp>
        <p:nvSpPr>
          <p:cNvPr id="21" name="Text 19"/>
          <p:cNvSpPr/>
          <p:nvPr/>
        </p:nvSpPr>
        <p:spPr>
          <a:xfrm>
            <a:off x="6126480" y="1850288"/>
            <a:ext cx="822960" cy="330556"/>
          </a:xfrm>
          <a:prstGeom prst="rect">
            <a:avLst/>
          </a:prstGeom>
          <a:noFill/>
          <a:ln/>
        </p:spPr>
        <p:txBody>
          <a:bodyPr wrap="square" rtlCol="0" anchor="ctr"/>
          <a:lstStyle/>
          <a:p>
            <a:pPr indent="0" marL="0">
              <a:buNone/>
            </a:pPr>
            <a:r>
              <a:rPr lang="en-US" sz="1300" b="1" dirty="0">
                <a:solidFill>
                  <a:srgbClr val="10B981"/>
                </a:solidFill>
                <a:latin typeface="Plus Jakarta Sans" pitchFamily="34" charset="0"/>
                <a:ea typeface="Plus Jakarta Sans" pitchFamily="34" charset="-122"/>
                <a:cs typeface="Plus Jakarta Sans" pitchFamily="34" charset="-120"/>
              </a:rPr>
              <a:t>24.0%</a:t>
            </a:r>
            <a:endParaRPr lang="en-US" sz="1300" dirty="0"/>
          </a:p>
        </p:txBody>
      </p:sp>
      <p:sp>
        <p:nvSpPr>
          <p:cNvPr id="22" name="Text 20"/>
          <p:cNvSpPr/>
          <p:nvPr/>
        </p:nvSpPr>
        <p:spPr>
          <a:xfrm>
            <a:off x="6126480" y="2180844"/>
            <a:ext cx="822960" cy="330556"/>
          </a:xfrm>
          <a:prstGeom prst="rect">
            <a:avLst/>
          </a:prstGeom>
          <a:noFill/>
          <a:ln/>
        </p:spPr>
        <p:txBody>
          <a:bodyPr wrap="square" rtlCol="0" anchor="ctr"/>
          <a:lstStyle/>
          <a:p>
            <a:pPr indent="0" marL="0">
              <a:buNone/>
            </a:pPr>
            <a:r>
              <a:rPr lang="en-US" sz="1000" b="1" dirty="0">
                <a:solidFill>
                  <a:srgbClr val="666666"/>
                </a:solidFill>
                <a:latin typeface="Plus Jakarta Sans" pitchFamily="34" charset="0"/>
                <a:ea typeface="Plus Jakarta Sans" pitchFamily="34" charset="-122"/>
                <a:cs typeface="Plus Jakarta Sans" pitchFamily="34" charset="-120"/>
              </a:rPr>
              <a:t>₹1,20,000</a:t>
            </a:r>
            <a:endParaRPr lang="en-US" sz="1000" dirty="0"/>
          </a:p>
        </p:txBody>
      </p:sp>
      <p:sp>
        <p:nvSpPr>
          <p:cNvPr id="23" name="Text 21"/>
          <p:cNvSpPr/>
          <p:nvPr/>
        </p:nvSpPr>
        <p:spPr>
          <a:xfrm>
            <a:off x="7040880" y="1850288"/>
            <a:ext cx="4572000" cy="330556"/>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Google Ads (Shopping+Search)</a:t>
            </a:r>
            <a:endParaRPr lang="en-US" sz="1100" dirty="0"/>
          </a:p>
        </p:txBody>
      </p:sp>
      <p:sp>
        <p:nvSpPr>
          <p:cNvPr id="24" name="Text 22"/>
          <p:cNvSpPr/>
          <p:nvPr/>
        </p:nvSpPr>
        <p:spPr>
          <a:xfrm>
            <a:off x="7040880" y="2180844"/>
            <a:ext cx="4572000" cy="330556"/>
          </a:xfrm>
          <a:prstGeom prst="rect">
            <a:avLst/>
          </a:prstGeom>
          <a:noFill/>
          <a:ln/>
        </p:spPr>
        <p:txBody>
          <a:bodyPr wrap="square" rtlCol="0" anchor="ctr"/>
          <a:lstStyle/>
          <a:p>
            <a:pPr indent="0" marL="0">
              <a:buNone/>
            </a:pPr>
            <a:r>
              <a:rPr lang="en-US" sz="950" dirty="0">
                <a:solidFill>
                  <a:srgbClr val="666666"/>
                </a:solidFill>
                <a:latin typeface="Plus Jakarta Sans" pitchFamily="34" charset="0"/>
                <a:ea typeface="Plus Jakarta Sans" pitchFamily="34" charset="-122"/>
                <a:cs typeface="Plus Jakarta Sans" pitchFamily="34" charset="-120"/>
              </a:rPr>
              <a:t>Targeting high-intent coffee queries</a:t>
            </a:r>
            <a:endParaRPr lang="en-US" sz="950" dirty="0"/>
          </a:p>
        </p:txBody>
      </p:sp>
      <p:sp>
        <p:nvSpPr>
          <p:cNvPr id="25" name="Shape 23"/>
          <p:cNvSpPr/>
          <p:nvPr/>
        </p:nvSpPr>
        <p:spPr>
          <a:xfrm>
            <a:off x="5943600" y="2621280"/>
            <a:ext cx="5760720" cy="734568"/>
          </a:xfrm>
          <a:prstGeom prst="rect">
            <a:avLst>
              <a:gd name="adj" fmla="val 6224"/>
            </a:avLst>
          </a:prstGeom>
          <a:solidFill>
            <a:srgbClr val="FFFFFF"/>
          </a:solidFill>
          <a:ln/>
        </p:spPr>
      </p:sp>
      <p:sp>
        <p:nvSpPr>
          <p:cNvPr id="26" name="Shape 24"/>
          <p:cNvSpPr/>
          <p:nvPr/>
        </p:nvSpPr>
        <p:spPr>
          <a:xfrm>
            <a:off x="5943600" y="2621280"/>
            <a:ext cx="91440" cy="734568"/>
          </a:xfrm>
          <a:prstGeom prst="rect">
            <a:avLst/>
          </a:prstGeom>
          <a:solidFill>
            <a:srgbClr val="F59E0B"/>
          </a:solidFill>
          <a:ln/>
        </p:spPr>
      </p:sp>
      <p:sp>
        <p:nvSpPr>
          <p:cNvPr id="27" name="Text 25"/>
          <p:cNvSpPr/>
          <p:nvPr/>
        </p:nvSpPr>
        <p:spPr>
          <a:xfrm>
            <a:off x="6126480" y="2658008"/>
            <a:ext cx="822960" cy="330556"/>
          </a:xfrm>
          <a:prstGeom prst="rect">
            <a:avLst/>
          </a:prstGeom>
          <a:noFill/>
          <a:ln/>
        </p:spPr>
        <p:txBody>
          <a:bodyPr wrap="square" rtlCol="0" anchor="ctr"/>
          <a:lstStyle/>
          <a:p>
            <a:pPr indent="0" marL="0">
              <a:buNone/>
            </a:pPr>
            <a:r>
              <a:rPr lang="en-US" sz="1300" b="1" dirty="0">
                <a:solidFill>
                  <a:srgbClr val="F59E0B"/>
                </a:solidFill>
                <a:latin typeface="Plus Jakarta Sans" pitchFamily="34" charset="0"/>
                <a:ea typeface="Plus Jakarta Sans" pitchFamily="34" charset="-122"/>
                <a:cs typeface="Plus Jakarta Sans" pitchFamily="34" charset="-120"/>
              </a:rPr>
              <a:t>16.0%</a:t>
            </a:r>
            <a:endParaRPr lang="en-US" sz="1300" dirty="0"/>
          </a:p>
        </p:txBody>
      </p:sp>
      <p:sp>
        <p:nvSpPr>
          <p:cNvPr id="28" name="Text 26"/>
          <p:cNvSpPr/>
          <p:nvPr/>
        </p:nvSpPr>
        <p:spPr>
          <a:xfrm>
            <a:off x="6126480" y="2988564"/>
            <a:ext cx="822960" cy="330556"/>
          </a:xfrm>
          <a:prstGeom prst="rect">
            <a:avLst/>
          </a:prstGeom>
          <a:noFill/>
          <a:ln/>
        </p:spPr>
        <p:txBody>
          <a:bodyPr wrap="square" rtlCol="0" anchor="ctr"/>
          <a:lstStyle/>
          <a:p>
            <a:pPr indent="0" marL="0">
              <a:buNone/>
            </a:pPr>
            <a:r>
              <a:rPr lang="en-US" sz="1000" b="1" dirty="0">
                <a:solidFill>
                  <a:srgbClr val="666666"/>
                </a:solidFill>
                <a:latin typeface="Plus Jakarta Sans" pitchFamily="34" charset="0"/>
                <a:ea typeface="Plus Jakarta Sans" pitchFamily="34" charset="-122"/>
                <a:cs typeface="Plus Jakarta Sans" pitchFamily="34" charset="-120"/>
              </a:rPr>
              <a:t>₹80,000</a:t>
            </a:r>
            <a:endParaRPr lang="en-US" sz="1000" dirty="0"/>
          </a:p>
        </p:txBody>
      </p:sp>
      <p:sp>
        <p:nvSpPr>
          <p:cNvPr id="29" name="Text 27"/>
          <p:cNvSpPr/>
          <p:nvPr/>
        </p:nvSpPr>
        <p:spPr>
          <a:xfrm>
            <a:off x="7040880" y="2658008"/>
            <a:ext cx="4572000" cy="330556"/>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YouTube Ads</a:t>
            </a:r>
            <a:endParaRPr lang="en-US" sz="1100" dirty="0"/>
          </a:p>
        </p:txBody>
      </p:sp>
      <p:sp>
        <p:nvSpPr>
          <p:cNvPr id="30" name="Text 28"/>
          <p:cNvSpPr/>
          <p:nvPr/>
        </p:nvSpPr>
        <p:spPr>
          <a:xfrm>
            <a:off x="7040880" y="2988564"/>
            <a:ext cx="4572000" cy="330556"/>
          </a:xfrm>
          <a:prstGeom prst="rect">
            <a:avLst/>
          </a:prstGeom>
          <a:noFill/>
          <a:ln/>
        </p:spPr>
        <p:txBody>
          <a:bodyPr wrap="square" rtlCol="0" anchor="ctr"/>
          <a:lstStyle/>
          <a:p>
            <a:pPr indent="0" marL="0">
              <a:buNone/>
            </a:pPr>
            <a:r>
              <a:rPr lang="en-US" sz="950" dirty="0">
                <a:solidFill>
                  <a:srgbClr val="666666"/>
                </a:solidFill>
                <a:latin typeface="Plus Jakarta Sans" pitchFamily="34" charset="0"/>
                <a:ea typeface="Plus Jakarta Sans" pitchFamily="34" charset="-122"/>
                <a:cs typeface="Plus Jakarta Sans" pitchFamily="34" charset="-120"/>
              </a:rPr>
              <a:t>Recipe videos &amp; lifestyle bumper ads</a:t>
            </a:r>
            <a:endParaRPr lang="en-US" sz="950" dirty="0"/>
          </a:p>
        </p:txBody>
      </p:sp>
      <p:sp>
        <p:nvSpPr>
          <p:cNvPr id="31" name="Shape 29"/>
          <p:cNvSpPr/>
          <p:nvPr/>
        </p:nvSpPr>
        <p:spPr>
          <a:xfrm>
            <a:off x="5943600" y="3429000"/>
            <a:ext cx="5760720" cy="734568"/>
          </a:xfrm>
          <a:prstGeom prst="rect">
            <a:avLst>
              <a:gd name="adj" fmla="val 6224"/>
            </a:avLst>
          </a:prstGeom>
          <a:solidFill>
            <a:srgbClr val="FFFFFF"/>
          </a:solidFill>
          <a:ln/>
        </p:spPr>
      </p:sp>
      <p:sp>
        <p:nvSpPr>
          <p:cNvPr id="32" name="Shape 30"/>
          <p:cNvSpPr/>
          <p:nvPr/>
        </p:nvSpPr>
        <p:spPr>
          <a:xfrm>
            <a:off x="5943600" y="3429000"/>
            <a:ext cx="91440" cy="734568"/>
          </a:xfrm>
          <a:prstGeom prst="rect">
            <a:avLst/>
          </a:prstGeom>
          <a:solidFill>
            <a:srgbClr val="8B5CF6"/>
          </a:solidFill>
          <a:ln/>
        </p:spPr>
      </p:sp>
      <p:sp>
        <p:nvSpPr>
          <p:cNvPr id="33" name="Text 31"/>
          <p:cNvSpPr/>
          <p:nvPr/>
        </p:nvSpPr>
        <p:spPr>
          <a:xfrm>
            <a:off x="6126480" y="3465728"/>
            <a:ext cx="822960" cy="330556"/>
          </a:xfrm>
          <a:prstGeom prst="rect">
            <a:avLst/>
          </a:prstGeom>
          <a:noFill/>
          <a:ln/>
        </p:spPr>
        <p:txBody>
          <a:bodyPr wrap="square" rtlCol="0" anchor="ctr"/>
          <a:lstStyle/>
          <a:p>
            <a:pPr indent="0" marL="0">
              <a:buNone/>
            </a:pPr>
            <a:r>
              <a:rPr lang="en-US" sz="1300" b="1" dirty="0">
                <a:solidFill>
                  <a:srgbClr val="8B5CF6"/>
                </a:solidFill>
                <a:latin typeface="Plus Jakarta Sans" pitchFamily="34" charset="0"/>
                <a:ea typeface="Plus Jakarta Sans" pitchFamily="34" charset="-122"/>
                <a:cs typeface="Plus Jakarta Sans" pitchFamily="34" charset="-120"/>
              </a:rPr>
              <a:t>10.0%</a:t>
            </a:r>
            <a:endParaRPr lang="en-US" sz="1300" dirty="0"/>
          </a:p>
        </p:txBody>
      </p:sp>
      <p:sp>
        <p:nvSpPr>
          <p:cNvPr id="34" name="Text 32"/>
          <p:cNvSpPr/>
          <p:nvPr/>
        </p:nvSpPr>
        <p:spPr>
          <a:xfrm>
            <a:off x="6126480" y="3796284"/>
            <a:ext cx="822960" cy="330556"/>
          </a:xfrm>
          <a:prstGeom prst="rect">
            <a:avLst/>
          </a:prstGeom>
          <a:noFill/>
          <a:ln/>
        </p:spPr>
        <p:txBody>
          <a:bodyPr wrap="square" rtlCol="0" anchor="ctr"/>
          <a:lstStyle/>
          <a:p>
            <a:pPr indent="0" marL="0">
              <a:buNone/>
            </a:pPr>
            <a:r>
              <a:rPr lang="en-US" sz="1000" b="1" dirty="0">
                <a:solidFill>
                  <a:srgbClr val="666666"/>
                </a:solidFill>
                <a:latin typeface="Plus Jakarta Sans" pitchFamily="34" charset="0"/>
                <a:ea typeface="Plus Jakarta Sans" pitchFamily="34" charset="-122"/>
                <a:cs typeface="Plus Jakarta Sans" pitchFamily="34" charset="-120"/>
              </a:rPr>
              <a:t>₹50,000</a:t>
            </a:r>
            <a:endParaRPr lang="en-US" sz="1000" dirty="0"/>
          </a:p>
        </p:txBody>
      </p:sp>
      <p:sp>
        <p:nvSpPr>
          <p:cNvPr id="35" name="Text 33"/>
          <p:cNvSpPr/>
          <p:nvPr/>
        </p:nvSpPr>
        <p:spPr>
          <a:xfrm>
            <a:off x="7040880" y="3465728"/>
            <a:ext cx="4572000" cy="330556"/>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Influencer Marketing</a:t>
            </a:r>
            <a:endParaRPr lang="en-US" sz="1100" dirty="0"/>
          </a:p>
        </p:txBody>
      </p:sp>
      <p:sp>
        <p:nvSpPr>
          <p:cNvPr id="36" name="Text 34"/>
          <p:cNvSpPr/>
          <p:nvPr/>
        </p:nvSpPr>
        <p:spPr>
          <a:xfrm>
            <a:off x="7040880" y="3796284"/>
            <a:ext cx="4572000" cy="330556"/>
          </a:xfrm>
          <a:prstGeom prst="rect">
            <a:avLst/>
          </a:prstGeom>
          <a:noFill/>
          <a:ln/>
        </p:spPr>
        <p:txBody>
          <a:bodyPr wrap="square" rtlCol="0" anchor="ctr"/>
          <a:lstStyle/>
          <a:p>
            <a:pPr indent="0" marL="0">
              <a:buNone/>
            </a:pPr>
            <a:r>
              <a:rPr lang="en-US" sz="950" dirty="0">
                <a:solidFill>
                  <a:srgbClr val="666666"/>
                </a:solidFill>
                <a:latin typeface="Plus Jakarta Sans" pitchFamily="34" charset="0"/>
                <a:ea typeface="Plus Jakarta Sans" pitchFamily="34" charset="-122"/>
                <a:cs typeface="Plus Jakarta Sans" pitchFamily="34" charset="-120"/>
              </a:rPr>
              <a:t>Coffee creators unboxing &amp; taste reviews</a:t>
            </a:r>
            <a:endParaRPr lang="en-US" sz="950" dirty="0"/>
          </a:p>
        </p:txBody>
      </p:sp>
      <p:sp>
        <p:nvSpPr>
          <p:cNvPr id="37" name="Shape 35"/>
          <p:cNvSpPr/>
          <p:nvPr/>
        </p:nvSpPr>
        <p:spPr>
          <a:xfrm>
            <a:off x="5943600" y="4236720"/>
            <a:ext cx="5760720" cy="734568"/>
          </a:xfrm>
          <a:prstGeom prst="rect">
            <a:avLst>
              <a:gd name="adj" fmla="val 6224"/>
            </a:avLst>
          </a:prstGeom>
          <a:solidFill>
            <a:srgbClr val="FFFFFF"/>
          </a:solidFill>
          <a:ln/>
        </p:spPr>
      </p:sp>
      <p:sp>
        <p:nvSpPr>
          <p:cNvPr id="38" name="Shape 36"/>
          <p:cNvSpPr/>
          <p:nvPr/>
        </p:nvSpPr>
        <p:spPr>
          <a:xfrm>
            <a:off x="5943600" y="4236720"/>
            <a:ext cx="91440" cy="734568"/>
          </a:xfrm>
          <a:prstGeom prst="rect">
            <a:avLst/>
          </a:prstGeom>
          <a:solidFill>
            <a:srgbClr val="EF4444"/>
          </a:solidFill>
          <a:ln/>
        </p:spPr>
      </p:sp>
      <p:sp>
        <p:nvSpPr>
          <p:cNvPr id="39" name="Text 37"/>
          <p:cNvSpPr/>
          <p:nvPr/>
        </p:nvSpPr>
        <p:spPr>
          <a:xfrm>
            <a:off x="6126480" y="4273448"/>
            <a:ext cx="822960" cy="330556"/>
          </a:xfrm>
          <a:prstGeom prst="rect">
            <a:avLst/>
          </a:prstGeom>
          <a:noFill/>
          <a:ln/>
        </p:spPr>
        <p:txBody>
          <a:bodyPr wrap="square" rtlCol="0" anchor="ctr"/>
          <a:lstStyle/>
          <a:p>
            <a:pPr indent="0" marL="0">
              <a:buNone/>
            </a:pPr>
            <a:r>
              <a:rPr lang="en-US" sz="1300" b="1" dirty="0">
                <a:solidFill>
                  <a:srgbClr val="EF4444"/>
                </a:solidFill>
                <a:latin typeface="Plus Jakarta Sans" pitchFamily="34" charset="0"/>
                <a:ea typeface="Plus Jakarta Sans" pitchFamily="34" charset="-122"/>
                <a:cs typeface="Plus Jakarta Sans" pitchFamily="34" charset="-120"/>
              </a:rPr>
              <a:t>6.0%</a:t>
            </a:r>
            <a:endParaRPr lang="en-US" sz="1300" dirty="0"/>
          </a:p>
        </p:txBody>
      </p:sp>
      <p:sp>
        <p:nvSpPr>
          <p:cNvPr id="40" name="Text 38"/>
          <p:cNvSpPr/>
          <p:nvPr/>
        </p:nvSpPr>
        <p:spPr>
          <a:xfrm>
            <a:off x="6126480" y="4604004"/>
            <a:ext cx="822960" cy="330556"/>
          </a:xfrm>
          <a:prstGeom prst="rect">
            <a:avLst/>
          </a:prstGeom>
          <a:noFill/>
          <a:ln/>
        </p:spPr>
        <p:txBody>
          <a:bodyPr wrap="square" rtlCol="0" anchor="ctr"/>
          <a:lstStyle/>
          <a:p>
            <a:pPr indent="0" marL="0">
              <a:buNone/>
            </a:pPr>
            <a:r>
              <a:rPr lang="en-US" sz="1000" b="1" dirty="0">
                <a:solidFill>
                  <a:srgbClr val="666666"/>
                </a:solidFill>
                <a:latin typeface="Plus Jakarta Sans" pitchFamily="34" charset="0"/>
                <a:ea typeface="Plus Jakarta Sans" pitchFamily="34" charset="-122"/>
                <a:cs typeface="Plus Jakarta Sans" pitchFamily="34" charset="-120"/>
              </a:rPr>
              <a:t>₹30,000</a:t>
            </a:r>
            <a:endParaRPr lang="en-US" sz="1000" dirty="0"/>
          </a:p>
        </p:txBody>
      </p:sp>
      <p:sp>
        <p:nvSpPr>
          <p:cNvPr id="41" name="Text 39"/>
          <p:cNvSpPr/>
          <p:nvPr/>
        </p:nvSpPr>
        <p:spPr>
          <a:xfrm>
            <a:off x="7040880" y="4273448"/>
            <a:ext cx="4572000" cy="330556"/>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Email + WhatsApp</a:t>
            </a:r>
            <a:endParaRPr lang="en-US" sz="1100" dirty="0"/>
          </a:p>
        </p:txBody>
      </p:sp>
      <p:sp>
        <p:nvSpPr>
          <p:cNvPr id="42" name="Text 40"/>
          <p:cNvSpPr/>
          <p:nvPr/>
        </p:nvSpPr>
        <p:spPr>
          <a:xfrm>
            <a:off x="7040880" y="4604004"/>
            <a:ext cx="4572000" cy="330556"/>
          </a:xfrm>
          <a:prstGeom prst="rect">
            <a:avLst/>
          </a:prstGeom>
          <a:noFill/>
          <a:ln/>
        </p:spPr>
        <p:txBody>
          <a:bodyPr wrap="square" rtlCol="0" anchor="ctr"/>
          <a:lstStyle/>
          <a:p>
            <a:pPr indent="0" marL="0">
              <a:buNone/>
            </a:pPr>
            <a:r>
              <a:rPr lang="en-US" sz="950" dirty="0">
                <a:solidFill>
                  <a:srgbClr val="666666"/>
                </a:solidFill>
                <a:latin typeface="Plus Jakarta Sans" pitchFamily="34" charset="0"/>
                <a:ea typeface="Plus Jakarta Sans" pitchFamily="34" charset="-122"/>
                <a:cs typeface="Plus Jakarta Sans" pitchFamily="34" charset="-120"/>
              </a:rPr>
              <a:t>Subscription retention and drop alerts</a:t>
            </a:r>
            <a:endParaRPr lang="en-US" sz="950" dirty="0"/>
          </a:p>
        </p:txBody>
      </p:sp>
      <p:sp>
        <p:nvSpPr>
          <p:cNvPr id="43" name="Shape 41"/>
          <p:cNvSpPr/>
          <p:nvPr/>
        </p:nvSpPr>
        <p:spPr>
          <a:xfrm>
            <a:off x="5943600" y="5044440"/>
            <a:ext cx="5760720" cy="734568"/>
          </a:xfrm>
          <a:prstGeom prst="rect">
            <a:avLst>
              <a:gd name="adj" fmla="val 6224"/>
            </a:avLst>
          </a:prstGeom>
          <a:solidFill>
            <a:srgbClr val="FFFFFF"/>
          </a:solidFill>
          <a:ln/>
        </p:spPr>
      </p:sp>
      <p:sp>
        <p:nvSpPr>
          <p:cNvPr id="44" name="Shape 42"/>
          <p:cNvSpPr/>
          <p:nvPr/>
        </p:nvSpPr>
        <p:spPr>
          <a:xfrm>
            <a:off x="5943600" y="5044440"/>
            <a:ext cx="91440" cy="734568"/>
          </a:xfrm>
          <a:prstGeom prst="rect">
            <a:avLst/>
          </a:prstGeom>
          <a:solidFill>
            <a:srgbClr val="0B1629"/>
          </a:solidFill>
          <a:ln/>
        </p:spPr>
      </p:sp>
      <p:sp>
        <p:nvSpPr>
          <p:cNvPr id="45" name="Text 43"/>
          <p:cNvSpPr/>
          <p:nvPr/>
        </p:nvSpPr>
        <p:spPr>
          <a:xfrm>
            <a:off x="6126480" y="5081168"/>
            <a:ext cx="822960" cy="330556"/>
          </a:xfrm>
          <a:prstGeom prst="rect">
            <a:avLst/>
          </a:prstGeom>
          <a:noFill/>
          <a:ln/>
        </p:spPr>
        <p:txBody>
          <a:bodyPr wrap="square" rtlCol="0" anchor="ctr"/>
          <a:lstStyle/>
          <a:p>
            <a:pPr indent="0" marL="0">
              <a:buNone/>
            </a:pPr>
            <a:r>
              <a:rPr lang="en-US" sz="1300" b="1" dirty="0">
                <a:solidFill>
                  <a:srgbClr val="0B1629"/>
                </a:solidFill>
                <a:latin typeface="Plus Jakarta Sans" pitchFamily="34" charset="0"/>
                <a:ea typeface="Plus Jakarta Sans" pitchFamily="34" charset="-122"/>
                <a:cs typeface="Plus Jakarta Sans" pitchFamily="34" charset="-120"/>
              </a:rPr>
              <a:t>4.0%</a:t>
            </a:r>
            <a:endParaRPr lang="en-US" sz="1300" dirty="0"/>
          </a:p>
        </p:txBody>
      </p:sp>
      <p:sp>
        <p:nvSpPr>
          <p:cNvPr id="46" name="Text 44"/>
          <p:cNvSpPr/>
          <p:nvPr/>
        </p:nvSpPr>
        <p:spPr>
          <a:xfrm>
            <a:off x="6126480" y="5411724"/>
            <a:ext cx="822960" cy="330556"/>
          </a:xfrm>
          <a:prstGeom prst="rect">
            <a:avLst/>
          </a:prstGeom>
          <a:noFill/>
          <a:ln/>
        </p:spPr>
        <p:txBody>
          <a:bodyPr wrap="square" rtlCol="0" anchor="ctr"/>
          <a:lstStyle/>
          <a:p>
            <a:pPr indent="0" marL="0">
              <a:buNone/>
            </a:pPr>
            <a:r>
              <a:rPr lang="en-US" sz="1000" b="1" dirty="0">
                <a:solidFill>
                  <a:srgbClr val="666666"/>
                </a:solidFill>
                <a:latin typeface="Plus Jakarta Sans" pitchFamily="34" charset="0"/>
                <a:ea typeface="Plus Jakarta Sans" pitchFamily="34" charset="-122"/>
                <a:cs typeface="Plus Jakarta Sans" pitchFamily="34" charset="-120"/>
              </a:rPr>
              <a:t>₹20,000</a:t>
            </a:r>
            <a:endParaRPr lang="en-US" sz="1000" dirty="0"/>
          </a:p>
        </p:txBody>
      </p:sp>
      <p:sp>
        <p:nvSpPr>
          <p:cNvPr id="47" name="Text 45"/>
          <p:cNvSpPr/>
          <p:nvPr/>
        </p:nvSpPr>
        <p:spPr>
          <a:xfrm>
            <a:off x="7040880" y="5081168"/>
            <a:ext cx="4572000" cy="330556"/>
          </a:xfrm>
          <a:prstGeom prst="rect">
            <a:avLst/>
          </a:prstGeom>
          <a:noFill/>
          <a:ln/>
        </p:spPr>
        <p:txBody>
          <a:bodyPr wrap="square" rtlCol="0" anchor="ctr"/>
          <a:lstStyle/>
          <a:p>
            <a:pPr indent="0" marL="0">
              <a:buNone/>
            </a:pPr>
            <a:r>
              <a:rPr lang="en-US" sz="1100" b="1" dirty="0">
                <a:solidFill>
                  <a:srgbClr val="0B1629"/>
                </a:solidFill>
                <a:latin typeface="Plus Jakarta Sans" pitchFamily="34" charset="0"/>
                <a:ea typeface="Plus Jakarta Sans" pitchFamily="34" charset="-122"/>
                <a:cs typeface="Plus Jakarta Sans" pitchFamily="34" charset="-120"/>
              </a:rPr>
              <a:t>SEO Content</a:t>
            </a:r>
            <a:endParaRPr lang="en-US" sz="1100" dirty="0"/>
          </a:p>
        </p:txBody>
      </p:sp>
      <p:sp>
        <p:nvSpPr>
          <p:cNvPr id="48" name="Text 46"/>
          <p:cNvSpPr/>
          <p:nvPr/>
        </p:nvSpPr>
        <p:spPr>
          <a:xfrm>
            <a:off x="7040880" y="5411724"/>
            <a:ext cx="4572000" cy="330556"/>
          </a:xfrm>
          <a:prstGeom prst="rect">
            <a:avLst/>
          </a:prstGeom>
          <a:noFill/>
          <a:ln/>
        </p:spPr>
        <p:txBody>
          <a:bodyPr wrap="square" rtlCol="0" anchor="ctr"/>
          <a:lstStyle/>
          <a:p>
            <a:pPr indent="0" marL="0">
              <a:buNone/>
            </a:pPr>
            <a:r>
              <a:rPr lang="en-US" sz="950" dirty="0">
                <a:solidFill>
                  <a:srgbClr val="666666"/>
                </a:solidFill>
                <a:latin typeface="Plus Jakarta Sans" pitchFamily="34" charset="0"/>
                <a:ea typeface="Plus Jakarta Sans" pitchFamily="34" charset="-122"/>
                <a:cs typeface="Plus Jakarta Sans" pitchFamily="34" charset="-120"/>
              </a:rPr>
              <a:t>Organic ranking on coffee brewing guides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META ADS STRATEGY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Facebook &amp; Instagram — Dynamic Acquisition Funnel</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4572000"/>
          </a:xfrm>
          <a:prstGeom prst="rect">
            <a:avLst>
              <a:gd name="adj" fmla="val 2564"/>
            </a:avLst>
          </a:prstGeom>
          <a:solidFill>
            <a:srgbClr val="FFFFFF"/>
          </a:solidFill>
          <a:ln w="25400">
            <a:solidFill>
              <a:srgbClr val="2B4EFF"/>
            </a:solidFill>
            <a:prstDash val="solid"/>
          </a:ln>
        </p:spPr>
      </p:sp>
      <p:sp>
        <p:nvSpPr>
          <p:cNvPr id="8" name="Shape 6"/>
          <p:cNvSpPr/>
          <p:nvPr/>
        </p:nvSpPr>
        <p:spPr>
          <a:xfrm>
            <a:off x="457200" y="1005840"/>
            <a:ext cx="3566160" cy="548640"/>
          </a:xfrm>
          <a:prstGeom prst="rect">
            <a:avLst/>
          </a:prstGeom>
          <a:solidFill>
            <a:srgbClr val="2B4EFF"/>
          </a:solidFill>
          <a:ln/>
        </p:spPr>
      </p:sp>
      <p:sp>
        <p:nvSpPr>
          <p:cNvPr id="9" name="Text 7"/>
          <p:cNvSpPr/>
          <p:nvPr/>
        </p:nvSpPr>
        <p:spPr>
          <a:xfrm>
            <a:off x="548640" y="1051560"/>
            <a:ext cx="33832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TOFU (Awareness)</a:t>
            </a:r>
            <a:endParaRPr lang="en-US" sz="1300" dirty="0"/>
          </a:p>
        </p:txBody>
      </p:sp>
      <p:sp>
        <p:nvSpPr>
          <p:cNvPr id="10" name="Text 8"/>
          <p:cNvSpPr/>
          <p:nvPr/>
        </p:nvSpPr>
        <p:spPr>
          <a:xfrm>
            <a:off x="548640" y="1280160"/>
            <a:ext cx="3383280" cy="320040"/>
          </a:xfrm>
          <a:prstGeom prst="rect">
            <a:avLst/>
          </a:prstGeom>
          <a:noFill/>
          <a:ln/>
        </p:spPr>
        <p:txBody>
          <a:bodyPr wrap="square" rtlCol="0" anchor="ctr"/>
          <a:lstStyle/>
          <a:p>
            <a:pPr algn="ctr" indent="0" marL="0">
              <a:buNone/>
            </a:pPr>
            <a:r>
              <a:rPr lang="en-US" sz="1100" dirty="0">
                <a:solidFill>
                  <a:srgbClr val="FFFFFF"/>
                </a:solidFill>
                <a:latin typeface="Plus Jakarta Sans" pitchFamily="34" charset="0"/>
                <a:ea typeface="Plus Jakarta Sans" pitchFamily="34" charset="-122"/>
                <a:cs typeface="Plus Jakarta Sans" pitchFamily="34" charset="-120"/>
              </a:rPr>
              <a:t>40% Budget</a:t>
            </a:r>
            <a:endParaRPr lang="en-US" sz="1100" dirty="0"/>
          </a:p>
        </p:txBody>
      </p:sp>
      <p:sp>
        <p:nvSpPr>
          <p:cNvPr id="11" name="Text 9"/>
          <p:cNvSpPr/>
          <p:nvPr/>
        </p:nvSpPr>
        <p:spPr>
          <a:xfrm>
            <a:off x="640080" y="169164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AUDIENCE\nPremium Coffee Interests · Lookalikes · Broad Demographic · Pan India</a:t>
            </a:r>
            <a:endParaRPr lang="en-US" sz="1000" dirty="0"/>
          </a:p>
        </p:txBody>
      </p:sp>
      <p:sp>
        <p:nvSpPr>
          <p:cNvPr id="12" name="Text 10"/>
          <p:cNvSpPr/>
          <p:nvPr/>
        </p:nvSpPr>
        <p:spPr>
          <a:xfrm>
            <a:off x="640080" y="242316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FORMAT\n15-30 sec Video Reels · Lifestyle shoots</a:t>
            </a:r>
            <a:endParaRPr lang="en-US" sz="1000" dirty="0"/>
          </a:p>
        </p:txBody>
      </p:sp>
      <p:sp>
        <p:nvSpPr>
          <p:cNvPr id="13" name="Text 11"/>
          <p:cNvSpPr/>
          <p:nvPr/>
        </p:nvSpPr>
        <p:spPr>
          <a:xfrm>
            <a:off x="640080" y="31546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CREATIVE\nProduct features + visual demo reels</a:t>
            </a:r>
            <a:endParaRPr lang="en-US" sz="1000" dirty="0"/>
          </a:p>
        </p:txBody>
      </p:sp>
      <p:sp>
        <p:nvSpPr>
          <p:cNvPr id="14" name="Text 12"/>
          <p:cNvSpPr/>
          <p:nvPr/>
        </p:nvSpPr>
        <p:spPr>
          <a:xfrm>
            <a:off x="640080" y="3886200"/>
            <a:ext cx="3200400" cy="320040"/>
          </a:xfrm>
          <a:prstGeom prst="rect">
            <a:avLst/>
          </a:prstGeom>
          <a:noFill/>
          <a:ln/>
        </p:spPr>
        <p:txBody>
          <a:bodyPr wrap="square" rtlCol="0" anchor="ctr"/>
          <a:lstStyle/>
          <a:p>
            <a:pPr indent="0" marL="0">
              <a:buNone/>
            </a:pPr>
            <a:r>
              <a:rPr lang="en-US" sz="1000" b="1" dirty="0">
                <a:solidFill>
                  <a:srgbClr val="2B4EFF"/>
                </a:solidFill>
                <a:latin typeface="Plus Jakarta Sans" pitchFamily="34" charset="0"/>
                <a:ea typeface="Plus Jakarta Sans" pitchFamily="34" charset="-122"/>
                <a:cs typeface="Plus Jakarta Sans" pitchFamily="34" charset="-120"/>
              </a:rPr>
              <a:t>KEY TARGET KPIs\nCPM &lt; ₹100 · Video View Rate 25%+</a:t>
            </a:r>
            <a:endParaRPr lang="en-US" sz="1000" dirty="0"/>
          </a:p>
        </p:txBody>
      </p:sp>
      <p:sp>
        <p:nvSpPr>
          <p:cNvPr id="15" name="Shape 13"/>
          <p:cNvSpPr/>
          <p:nvPr/>
        </p:nvSpPr>
        <p:spPr>
          <a:xfrm>
            <a:off x="4343400" y="1005840"/>
            <a:ext cx="3566160" cy="4572000"/>
          </a:xfrm>
          <a:prstGeom prst="rect">
            <a:avLst>
              <a:gd name="adj" fmla="val 2564"/>
            </a:avLst>
          </a:prstGeom>
          <a:solidFill>
            <a:srgbClr val="FFFFFF"/>
          </a:solidFill>
          <a:ln w="25400">
            <a:solidFill>
              <a:srgbClr val="8B5CF6"/>
            </a:solidFill>
            <a:prstDash val="solid"/>
          </a:ln>
        </p:spPr>
      </p:sp>
      <p:sp>
        <p:nvSpPr>
          <p:cNvPr id="16" name="Shape 14"/>
          <p:cNvSpPr/>
          <p:nvPr/>
        </p:nvSpPr>
        <p:spPr>
          <a:xfrm>
            <a:off x="4343400" y="1005840"/>
            <a:ext cx="3566160" cy="548640"/>
          </a:xfrm>
          <a:prstGeom prst="rect">
            <a:avLst/>
          </a:prstGeom>
          <a:solidFill>
            <a:srgbClr val="8B5CF6"/>
          </a:solidFill>
          <a:ln/>
        </p:spPr>
      </p:sp>
      <p:sp>
        <p:nvSpPr>
          <p:cNvPr id="17" name="Text 15"/>
          <p:cNvSpPr/>
          <p:nvPr/>
        </p:nvSpPr>
        <p:spPr>
          <a:xfrm>
            <a:off x="4434840" y="1051560"/>
            <a:ext cx="33832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MOFU (Nurture)</a:t>
            </a:r>
            <a:endParaRPr lang="en-US" sz="1300" dirty="0"/>
          </a:p>
        </p:txBody>
      </p:sp>
      <p:sp>
        <p:nvSpPr>
          <p:cNvPr id="18" name="Text 16"/>
          <p:cNvSpPr/>
          <p:nvPr/>
        </p:nvSpPr>
        <p:spPr>
          <a:xfrm>
            <a:off x="4434840" y="1280160"/>
            <a:ext cx="3383280" cy="320040"/>
          </a:xfrm>
          <a:prstGeom prst="rect">
            <a:avLst/>
          </a:prstGeom>
          <a:noFill/>
          <a:ln/>
        </p:spPr>
        <p:txBody>
          <a:bodyPr wrap="square" rtlCol="0" anchor="ctr"/>
          <a:lstStyle/>
          <a:p>
            <a:pPr algn="ctr" indent="0" marL="0">
              <a:buNone/>
            </a:pPr>
            <a:r>
              <a:rPr lang="en-US" sz="1100" dirty="0">
                <a:solidFill>
                  <a:srgbClr val="FFFFFF"/>
                </a:solidFill>
                <a:latin typeface="Plus Jakarta Sans" pitchFamily="34" charset="0"/>
                <a:ea typeface="Plus Jakarta Sans" pitchFamily="34" charset="-122"/>
                <a:cs typeface="Plus Jakarta Sans" pitchFamily="34" charset="-120"/>
              </a:rPr>
              <a:t>30% Budget</a:t>
            </a:r>
            <a:endParaRPr lang="en-US" sz="1100" dirty="0"/>
          </a:p>
        </p:txBody>
      </p:sp>
      <p:sp>
        <p:nvSpPr>
          <p:cNvPr id="19" name="Text 17"/>
          <p:cNvSpPr/>
          <p:nvPr/>
        </p:nvSpPr>
        <p:spPr>
          <a:xfrm>
            <a:off x="4526280" y="169164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AUDIENCE\nVideo viewers 50%+ · Social Engagers · Site visitors 30d</a:t>
            </a:r>
            <a:endParaRPr lang="en-US" sz="1000" dirty="0"/>
          </a:p>
        </p:txBody>
      </p:sp>
      <p:sp>
        <p:nvSpPr>
          <p:cNvPr id="20" name="Text 18"/>
          <p:cNvSpPr/>
          <p:nvPr/>
        </p:nvSpPr>
        <p:spPr>
          <a:xfrm>
            <a:off x="4526280" y="242316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FORMAT\nCarousel Ads · Collection Ads · Slideshows</a:t>
            </a:r>
            <a:endParaRPr lang="en-US" sz="1000" dirty="0"/>
          </a:p>
        </p:txBody>
      </p:sp>
      <p:sp>
        <p:nvSpPr>
          <p:cNvPr id="21" name="Text 19"/>
          <p:cNvSpPr/>
          <p:nvPr/>
        </p:nvSpPr>
        <p:spPr>
          <a:xfrm>
            <a:off x="4526280" y="31546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CREATIVE\nFeatures + reviews + brand story + unboxings</a:t>
            </a:r>
            <a:endParaRPr lang="en-US" sz="1000" dirty="0"/>
          </a:p>
        </p:txBody>
      </p:sp>
      <p:sp>
        <p:nvSpPr>
          <p:cNvPr id="22" name="Text 20"/>
          <p:cNvSpPr/>
          <p:nvPr/>
        </p:nvSpPr>
        <p:spPr>
          <a:xfrm>
            <a:off x="4526280" y="3886200"/>
            <a:ext cx="3200400" cy="320040"/>
          </a:xfrm>
          <a:prstGeom prst="rect">
            <a:avLst/>
          </a:prstGeom>
          <a:noFill/>
          <a:ln/>
        </p:spPr>
        <p:txBody>
          <a:bodyPr wrap="square" rtlCol="0" anchor="ctr"/>
          <a:lstStyle/>
          <a:p>
            <a:pPr indent="0" marL="0">
              <a:buNone/>
            </a:pPr>
            <a:r>
              <a:rPr lang="en-US" sz="1000" b="1" dirty="0">
                <a:solidFill>
                  <a:srgbClr val="8B5CF6"/>
                </a:solidFill>
                <a:latin typeface="Plus Jakarta Sans" pitchFamily="34" charset="0"/>
                <a:ea typeface="Plus Jakarta Sans" pitchFamily="34" charset="-122"/>
                <a:cs typeface="Plus Jakarta Sans" pitchFamily="34" charset="-120"/>
              </a:rPr>
              <a:t>KEY TARGET KPIs\nCTR 1.5%+ · Add-to-Cart Rate 4%+</a:t>
            </a:r>
            <a:endParaRPr lang="en-US" sz="1000" dirty="0"/>
          </a:p>
        </p:txBody>
      </p:sp>
      <p:sp>
        <p:nvSpPr>
          <p:cNvPr id="23" name="Shape 21"/>
          <p:cNvSpPr/>
          <p:nvPr/>
        </p:nvSpPr>
        <p:spPr>
          <a:xfrm>
            <a:off x="8229600" y="1005840"/>
            <a:ext cx="3566160" cy="4572000"/>
          </a:xfrm>
          <a:prstGeom prst="rect">
            <a:avLst>
              <a:gd name="adj" fmla="val 2564"/>
            </a:avLst>
          </a:prstGeom>
          <a:solidFill>
            <a:srgbClr val="FFFFFF"/>
          </a:solidFill>
          <a:ln w="25400">
            <a:solidFill>
              <a:srgbClr val="10B981"/>
            </a:solidFill>
            <a:prstDash val="solid"/>
          </a:ln>
        </p:spPr>
      </p:sp>
      <p:sp>
        <p:nvSpPr>
          <p:cNvPr id="24" name="Shape 22"/>
          <p:cNvSpPr/>
          <p:nvPr/>
        </p:nvSpPr>
        <p:spPr>
          <a:xfrm>
            <a:off x="8229600" y="1005840"/>
            <a:ext cx="3566160" cy="548640"/>
          </a:xfrm>
          <a:prstGeom prst="rect">
            <a:avLst/>
          </a:prstGeom>
          <a:solidFill>
            <a:srgbClr val="10B981"/>
          </a:solidFill>
          <a:ln/>
        </p:spPr>
      </p:sp>
      <p:sp>
        <p:nvSpPr>
          <p:cNvPr id="25" name="Text 23"/>
          <p:cNvSpPr/>
          <p:nvPr/>
        </p:nvSpPr>
        <p:spPr>
          <a:xfrm>
            <a:off x="8321040" y="1051560"/>
            <a:ext cx="3383280" cy="320040"/>
          </a:xfrm>
          <a:prstGeom prst="rect">
            <a:avLst/>
          </a:prstGeom>
          <a:noFill/>
          <a:ln/>
        </p:spPr>
        <p:txBody>
          <a:bodyPr wrap="square"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BOFU (Convert)</a:t>
            </a:r>
            <a:endParaRPr lang="en-US" sz="1300" dirty="0"/>
          </a:p>
        </p:txBody>
      </p:sp>
      <p:sp>
        <p:nvSpPr>
          <p:cNvPr id="26" name="Text 24"/>
          <p:cNvSpPr/>
          <p:nvPr/>
        </p:nvSpPr>
        <p:spPr>
          <a:xfrm>
            <a:off x="8321040" y="1280160"/>
            <a:ext cx="3383280" cy="320040"/>
          </a:xfrm>
          <a:prstGeom prst="rect">
            <a:avLst/>
          </a:prstGeom>
          <a:noFill/>
          <a:ln/>
        </p:spPr>
        <p:txBody>
          <a:bodyPr wrap="square" rtlCol="0" anchor="ctr"/>
          <a:lstStyle/>
          <a:p>
            <a:pPr algn="ctr" indent="0" marL="0">
              <a:buNone/>
            </a:pPr>
            <a:r>
              <a:rPr lang="en-US" sz="1100" dirty="0">
                <a:solidFill>
                  <a:srgbClr val="FFFFFF"/>
                </a:solidFill>
                <a:latin typeface="Plus Jakarta Sans" pitchFamily="34" charset="0"/>
                <a:ea typeface="Plus Jakarta Sans" pitchFamily="34" charset="-122"/>
                <a:cs typeface="Plus Jakarta Sans" pitchFamily="34" charset="-120"/>
              </a:rPr>
              <a:t>30% Budget</a:t>
            </a:r>
            <a:endParaRPr lang="en-US" sz="1100" dirty="0"/>
          </a:p>
        </p:txBody>
      </p:sp>
      <p:sp>
        <p:nvSpPr>
          <p:cNvPr id="27" name="Text 25"/>
          <p:cNvSpPr/>
          <p:nvPr/>
        </p:nvSpPr>
        <p:spPr>
          <a:xfrm>
            <a:off x="8412480" y="169164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AUDIENCE\nAdd to cart + checkout abandoners · 7-day visitors</a:t>
            </a:r>
            <a:endParaRPr lang="en-US" sz="1000" dirty="0"/>
          </a:p>
        </p:txBody>
      </p:sp>
      <p:sp>
        <p:nvSpPr>
          <p:cNvPr id="28" name="Text 26"/>
          <p:cNvSpPr/>
          <p:nvPr/>
        </p:nvSpPr>
        <p:spPr>
          <a:xfrm>
            <a:off x="8412480" y="242316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FORMAT\nSingle Product Ads · Dynamic Product Ads (DPA)</a:t>
            </a:r>
            <a:endParaRPr lang="en-US" sz="1000" dirty="0"/>
          </a:p>
        </p:txBody>
      </p:sp>
      <p:sp>
        <p:nvSpPr>
          <p:cNvPr id="29" name="Text 27"/>
          <p:cNvSpPr/>
          <p:nvPr/>
        </p:nvSpPr>
        <p:spPr>
          <a:xfrm>
            <a:off x="8412480" y="31546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CREATIVE\nProduct + Free Premium Frother on orders above ₹1,499</a:t>
            </a:r>
            <a:endParaRPr lang="en-US" sz="1000" dirty="0"/>
          </a:p>
        </p:txBody>
      </p:sp>
      <p:sp>
        <p:nvSpPr>
          <p:cNvPr id="30" name="Text 28"/>
          <p:cNvSpPr/>
          <p:nvPr/>
        </p:nvSpPr>
        <p:spPr>
          <a:xfrm>
            <a:off x="8412480" y="3886200"/>
            <a:ext cx="3200400" cy="320040"/>
          </a:xfrm>
          <a:prstGeom prst="rect">
            <a:avLst/>
          </a:prstGeom>
          <a:noFill/>
          <a:ln/>
        </p:spPr>
        <p:txBody>
          <a:bodyPr wrap="square" rtlCol="0" anchor="ctr"/>
          <a:lstStyle/>
          <a:p>
            <a:pPr indent="0" marL="0">
              <a:buNone/>
            </a:pPr>
            <a:r>
              <a:rPr lang="en-US" sz="1000" b="1" dirty="0">
                <a:solidFill>
                  <a:srgbClr val="10B981"/>
                </a:solidFill>
                <a:latin typeface="Plus Jakarta Sans" pitchFamily="34" charset="0"/>
                <a:ea typeface="Plus Jakarta Sans" pitchFamily="34" charset="-122"/>
                <a:cs typeface="Plus Jakarta Sans" pitchFamily="34" charset="-120"/>
              </a:rPr>
              <a:t>KEY TARGET KPIs\nROAS 4x+ · CPA &lt; ₹450 limit</a:t>
            </a:r>
            <a:endParaRPr lang="en-US" sz="1000" dirty="0"/>
          </a:p>
        </p:txBody>
      </p:sp>
      <p:sp>
        <p:nvSpPr>
          <p:cNvPr id="31" name="Shape 29"/>
          <p:cNvSpPr/>
          <p:nvPr/>
        </p:nvSpPr>
        <p:spPr>
          <a:xfrm>
            <a:off x="457200" y="5669280"/>
            <a:ext cx="11247120" cy="548640"/>
          </a:xfrm>
          <a:prstGeom prst="rect">
            <a:avLst/>
          </a:prstGeom>
          <a:solidFill>
            <a:srgbClr val="0B1629"/>
          </a:solidFill>
          <a:ln/>
        </p:spPr>
      </p:sp>
      <p:sp>
        <p:nvSpPr>
          <p:cNvPr id="32" name="Text 30"/>
          <p:cNvSpPr/>
          <p:nvPr/>
        </p:nvSpPr>
        <p:spPr>
          <a:xfrm>
            <a:off x="640080" y="5806440"/>
            <a:ext cx="10881360" cy="320040"/>
          </a:xfrm>
          <a:prstGeom prst="rect">
            <a:avLst/>
          </a:prstGeom>
          <a:noFill/>
          <a:ln/>
        </p:spPr>
        <p:txBody>
          <a:bodyPr wrap="square" rtlCol="0" anchor="ctr"/>
          <a:lstStyle/>
          <a:p>
            <a:pPr indent="0" marL="0">
              <a:buNone/>
            </a:pPr>
            <a:r>
              <a:rPr lang="en-US" sz="1000" b="1" dirty="0">
                <a:solidFill>
                  <a:srgbClr val="FFFFFF"/>
                </a:solidFill>
                <a:latin typeface="Plus Jakarta Sans" pitchFamily="34" charset="0"/>
                <a:ea typeface="Plus Jakarta Sans" pitchFamily="34" charset="-122"/>
                <a:cs typeface="Plus Jakarta Sans" pitchFamily="34" charset="-120"/>
              </a:rPr>
              <a:t>5 CREATIVE ANGLES TO TEST IN PARALLEL: Feature Explainer · Customer Testimonial · Brand Film · Raw UGC · Creator Endorsement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GOOGLE &amp; YOUTUBE</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Intent Capture + Visual Brand Building</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5394960" cy="5120640"/>
          </a:xfrm>
          <a:prstGeom prst="rect">
            <a:avLst>
              <a:gd name="adj" fmla="val 1786"/>
            </a:avLst>
          </a:prstGeom>
          <a:solidFill>
            <a:srgbClr val="FFFFFF"/>
          </a:solidFill>
          <a:ln w="25400">
            <a:solidFill>
              <a:srgbClr val="2B4EFF"/>
            </a:solidFill>
            <a:prstDash val="solid"/>
          </a:ln>
        </p:spPr>
      </p:sp>
      <p:sp>
        <p:nvSpPr>
          <p:cNvPr id="8" name="Shape 6"/>
          <p:cNvSpPr/>
          <p:nvPr/>
        </p:nvSpPr>
        <p:spPr>
          <a:xfrm>
            <a:off x="457200" y="1005840"/>
            <a:ext cx="5394960" cy="548640"/>
          </a:xfrm>
          <a:prstGeom prst="rect">
            <a:avLst/>
          </a:prstGeom>
          <a:solidFill>
            <a:srgbClr val="2B4EFF"/>
          </a:solidFill>
          <a:ln/>
        </p:spPr>
      </p:sp>
      <p:sp>
        <p:nvSpPr>
          <p:cNvPr id="9" name="Text 7"/>
          <p:cNvSpPr/>
          <p:nvPr/>
        </p:nvSpPr>
        <p:spPr>
          <a:xfrm>
            <a:off x="640080" y="1143000"/>
            <a:ext cx="9144000" cy="0"/>
          </a:xfrm>
          <a:prstGeom prst="rect">
            <a:avLst/>
          </a:prstGeom>
          <a:noFill/>
          <a:ln/>
        </p:spPr>
        <p:txBody>
          <a:bodyPr wrap="square" rtlCol="0" anchor="ctr"/>
          <a:lstStyle/>
          <a:p>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GOOGLE ADS — Intent Capture</a:t>
            </a:r>
            <a:endParaRPr lang="en-US" sz="1400" dirty="0"/>
          </a:p>
        </p:txBody>
      </p:sp>
      <p:sp>
        <p:nvSpPr>
          <p:cNvPr id="10" name="Text 8"/>
          <p:cNvSpPr/>
          <p:nvPr/>
        </p:nvSpPr>
        <p:spPr>
          <a:xfrm>
            <a:off x="640080" y="1737360"/>
            <a:ext cx="5029200" cy="0"/>
          </a:xfrm>
          <a:prstGeom prst="rect">
            <a:avLst/>
          </a:prstGeom>
          <a:noFill/>
          <a:ln/>
        </p:spPr>
        <p:txBody>
          <a:bodyPr wrap="square" rtlCol="0" anchor="ctr"/>
          <a:lstStyle/>
          <a:p>
            <a:pPr indent="0" marL="0">
              <a:lnSpc>
                <a:spcPts val="2000"/>
              </a:lnSpc>
              <a:buNone/>
            </a:pPr>
            <a:r>
              <a:rPr lang="en-US" sz="1100" dirty="0">
                <a:solidFill>
                  <a:srgbClr val="0B1629"/>
                </a:solidFill>
                <a:latin typeface="Plus Jakarta Sans" pitchFamily="34" charset="0"/>
                <a:ea typeface="Plus Jakarta Sans" pitchFamily="34" charset="-122"/>
                <a:cs typeface="Plus Jakarta Sans" pitchFamily="34" charset="-120"/>
              </a:rPr>
              <a:t>Shopping Campaigns\n· All hero SKUs with SEO-optimised titles.\n· Format: "Nirvana Brews [Product] — Premium Quality | Best Price".\n· Keywords: "premium coffee India", "buy premium coffee".\n\nSearch Campaigns\n· Brand Bid: "Nirvana Brews Official" — brand protection..\n· Competitor conquests: "buy mass competitor", "premium competitor alternatives".\n· Non-brand: "best premium coffee India", "premium premium coffee online".</a:t>
            </a:r>
            <a:endParaRPr lang="en-US" sz="1100" dirty="0"/>
          </a:p>
        </p:txBody>
      </p:sp>
      <p:sp>
        <p:nvSpPr>
          <p:cNvPr id="11" name="Shape 9"/>
          <p:cNvSpPr/>
          <p:nvPr/>
        </p:nvSpPr>
        <p:spPr>
          <a:xfrm>
            <a:off x="640080" y="4389120"/>
            <a:ext cx="5029200" cy="1463040"/>
          </a:xfrm>
          <a:prstGeom prst="rect">
            <a:avLst>
              <a:gd name="adj" fmla="val 3125"/>
            </a:avLst>
          </a:prstGeom>
          <a:solidFill>
            <a:srgbClr val="0B1629"/>
          </a:solidFill>
          <a:ln/>
        </p:spPr>
      </p:sp>
      <p:sp>
        <p:nvSpPr>
          <p:cNvPr id="12" name="Text 10"/>
          <p:cNvSpPr/>
          <p:nvPr/>
        </p:nvSpPr>
        <p:spPr>
          <a:xfrm>
            <a:off x="731520" y="4526280"/>
            <a:ext cx="4846320" cy="320040"/>
          </a:xfrm>
          <a:prstGeom prst="rect">
            <a:avLst/>
          </a:prstGeom>
          <a:noFill/>
          <a:ln/>
        </p:spPr>
        <p:txBody>
          <a:bodyPr wrap="square" rtlCol="0" anchor="ctr"/>
          <a:lstStyle/>
          <a:p>
            <a:pPr indent="0" marL="0">
              <a:buNone/>
            </a:pPr>
            <a:r>
              <a:rPr lang="en-US" sz="1000" i="1" dirty="0">
                <a:solidFill>
                  <a:srgbClr val="FFFFFF"/>
                </a:solidFill>
                <a:latin typeface="Plus Jakarta Sans" pitchFamily="34" charset="0"/>
                <a:ea typeface="Plus Jakarta Sans" pitchFamily="34" charset="-122"/>
                <a:cs typeface="Plus Jakarta Sans" pitchFamily="34" charset="-120"/>
              </a:rPr>
              <a:t>SAMPLE AD SCRIPT (15-sec)\n[Problem hook] "Tired of low-quality premium coffee?" [Cut to Nirvana Brews Product] "Premium Quality. Engineered for India." [CTA: Buy Now]</a:t>
            </a:r>
            <a:endParaRPr lang="en-US" sz="1000" dirty="0"/>
          </a:p>
        </p:txBody>
      </p:sp>
      <p:sp>
        <p:nvSpPr>
          <p:cNvPr id="13" name="Shape 11"/>
          <p:cNvSpPr/>
          <p:nvPr/>
        </p:nvSpPr>
        <p:spPr>
          <a:xfrm>
            <a:off x="6309360" y="1005840"/>
            <a:ext cx="5394960" cy="5120640"/>
          </a:xfrm>
          <a:prstGeom prst="rect">
            <a:avLst>
              <a:gd name="adj" fmla="val 1786"/>
            </a:avLst>
          </a:prstGeom>
          <a:solidFill>
            <a:srgbClr val="FFFFFF"/>
          </a:solidFill>
          <a:ln w="25400">
            <a:solidFill>
              <a:srgbClr val="EF4444"/>
            </a:solidFill>
            <a:prstDash val="solid"/>
          </a:ln>
        </p:spPr>
      </p:sp>
      <p:sp>
        <p:nvSpPr>
          <p:cNvPr id="14" name="Shape 12"/>
          <p:cNvSpPr/>
          <p:nvPr/>
        </p:nvSpPr>
        <p:spPr>
          <a:xfrm>
            <a:off x="6309360" y="1005840"/>
            <a:ext cx="5394960" cy="548640"/>
          </a:xfrm>
          <a:prstGeom prst="rect">
            <a:avLst/>
          </a:prstGeom>
          <a:solidFill>
            <a:srgbClr val="EF4444"/>
          </a:solidFill>
          <a:ln/>
        </p:spPr>
      </p:sp>
      <p:sp>
        <p:nvSpPr>
          <p:cNvPr id="15" name="Text 13"/>
          <p:cNvSpPr/>
          <p:nvPr/>
        </p:nvSpPr>
        <p:spPr>
          <a:xfrm>
            <a:off x="6492240" y="1143000"/>
            <a:ext cx="9144000" cy="0"/>
          </a:xfrm>
          <a:prstGeom prst="rect">
            <a:avLst/>
          </a:prstGeom>
          <a:noFill/>
          <a:ln/>
        </p:spPr>
        <p:txBody>
          <a:bodyPr wrap="square" rtlCol="0" anchor="ctr"/>
          <a:lstStyle/>
          <a:p>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YOUTUBE ADS — Video Reach</a:t>
            </a:r>
            <a:endParaRPr lang="en-US" sz="1400" dirty="0"/>
          </a:p>
        </p:txBody>
      </p:sp>
      <p:sp>
        <p:nvSpPr>
          <p:cNvPr id="16" name="Text 14"/>
          <p:cNvSpPr/>
          <p:nvPr/>
        </p:nvSpPr>
        <p:spPr>
          <a:xfrm>
            <a:off x="6492240" y="1737360"/>
            <a:ext cx="5029200" cy="0"/>
          </a:xfrm>
          <a:prstGeom prst="rect">
            <a:avLst/>
          </a:prstGeom>
          <a:noFill/>
          <a:ln/>
        </p:spPr>
        <p:txBody>
          <a:bodyPr wrap="square" rtlCol="0" anchor="ctr"/>
          <a:lstStyle/>
          <a:p>
            <a:pPr indent="0" marL="0">
              <a:lnSpc>
                <a:spcPts val="2200"/>
              </a:lnSpc>
              <a:buNone/>
            </a:pPr>
            <a:r>
              <a:rPr lang="en-US" sz="1100" dirty="0">
                <a:solidFill>
                  <a:srgbClr val="0B1629"/>
                </a:solidFill>
                <a:latin typeface="Plus Jakarta Sans" pitchFamily="34" charset="0"/>
                <a:ea typeface="Plus Jakarta Sans" pitchFamily="34" charset="-122"/>
                <a:cs typeface="Plus Jakarta Sans" pitchFamily="34" charset="-120"/>
              </a:rPr>
              <a:t>6-Second Bumper Ads\n· Clean visuals + product spotlight + single hook. Unskippable.\n· "Premium quality. Ethically sourced. Built for India."\n\n15–30 Sec Pre-Roll\n· Structure: Problem → Feature → Proof → CTA.\n· Target: Lifestyle channels, product reviews vlogs.\n\nTarget Channels:\n· Industry influencer channels\n· Niche lifestyle and review channels\n· Family and home vlogs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INFLUENCER STRATEGY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Creator Omnipresence — Maximum Impact Seeding</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11247120" cy="548640"/>
          </a:xfrm>
          <a:prstGeom prst="rect">
            <a:avLst/>
          </a:prstGeom>
          <a:solidFill>
            <a:srgbClr val="0B1629"/>
          </a:solidFill>
          <a:ln/>
        </p:spPr>
      </p:sp>
      <p:sp>
        <p:nvSpPr>
          <p:cNvPr id="8" name="Text 6"/>
          <p:cNvSpPr/>
          <p:nvPr/>
        </p:nvSpPr>
        <p:spPr>
          <a:xfrm>
            <a:off x="640080" y="1143000"/>
            <a:ext cx="10881360" cy="0"/>
          </a:xfrm>
          <a:prstGeom prst="rect">
            <a:avLst/>
          </a:prstGeom>
          <a:noFill/>
          <a:ln/>
        </p:spPr>
        <p:txBody>
          <a:bodyPr wrap="square" rtlCol="0" anchor="ctr"/>
          <a:lstStyle/>
          <a:p>
            <a:pPr indent="0" marL="0">
              <a:buNone/>
            </a:pPr>
            <a:r>
              <a:rPr lang="en-US" sz="1000" b="1" dirty="0">
                <a:solidFill>
                  <a:srgbClr val="F59E0B"/>
                </a:solidFill>
                <a:latin typeface="Plus Jakarta Sans" pitchFamily="34" charset="0"/>
                <a:ea typeface="Plus Jakarta Sans" pitchFamily="34" charset="-122"/>
                <a:cs typeface="Plus Jakarta Sans" pitchFamily="34" charset="-120"/>
              </a:rPr>
              <a:t>THE OMNIPRESENCE GOAL: When someone opens Instagram in India looking for Premium Coffee, they see Nirvana Brews on 3+ different creators within a week. Not viral — just everywhere.</a:t>
            </a:r>
            <a:endParaRPr lang="en-US" sz="1000" dirty="0"/>
          </a:p>
        </p:txBody>
      </p:sp>
      <p:sp>
        <p:nvSpPr>
          <p:cNvPr id="9" name="Shape 7"/>
          <p:cNvSpPr/>
          <p:nvPr/>
        </p:nvSpPr>
        <p:spPr>
          <a:xfrm>
            <a:off x="457200" y="1691640"/>
            <a:ext cx="3566160" cy="4389120"/>
          </a:xfrm>
          <a:prstGeom prst="rect">
            <a:avLst>
              <a:gd name="adj" fmla="val 2564"/>
            </a:avLst>
          </a:prstGeom>
          <a:solidFill>
            <a:srgbClr val="FFFFFF"/>
          </a:solidFill>
          <a:ln w="25400">
            <a:solidFill>
              <a:srgbClr val="2B4EFF"/>
            </a:solidFill>
            <a:prstDash val="solid"/>
          </a:ln>
        </p:spPr>
      </p:sp>
      <p:sp>
        <p:nvSpPr>
          <p:cNvPr id="10" name="Shape 8"/>
          <p:cNvSpPr/>
          <p:nvPr/>
        </p:nvSpPr>
        <p:spPr>
          <a:xfrm>
            <a:off x="457200" y="1691640"/>
            <a:ext cx="3566160" cy="457200"/>
          </a:xfrm>
          <a:prstGeom prst="rect">
            <a:avLst/>
          </a:prstGeom>
          <a:solidFill>
            <a:srgbClr val="2B4EFF"/>
          </a:solidFill>
          <a:ln/>
        </p:spPr>
      </p:sp>
      <p:sp>
        <p:nvSpPr>
          <p:cNvPr id="11" name="Text 9"/>
          <p:cNvSpPr/>
          <p:nvPr/>
        </p:nvSpPr>
        <p:spPr>
          <a:xfrm>
            <a:off x="548640" y="1737360"/>
            <a:ext cx="201168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MICRO CREATORS</a:t>
            </a:r>
            <a:endParaRPr lang="en-US" sz="1100" dirty="0"/>
          </a:p>
        </p:txBody>
      </p:sp>
      <p:sp>
        <p:nvSpPr>
          <p:cNvPr id="12" name="Text 10"/>
          <p:cNvSpPr/>
          <p:nvPr/>
        </p:nvSpPr>
        <p:spPr>
          <a:xfrm>
            <a:off x="2560320" y="1737360"/>
            <a:ext cx="13716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8 Creators · Seeding</a:t>
            </a:r>
            <a:endParaRPr lang="en-US" sz="1000" dirty="0"/>
          </a:p>
        </p:txBody>
      </p:sp>
      <p:sp>
        <p:nvSpPr>
          <p:cNvPr id="13" name="Text 11"/>
          <p:cNvSpPr/>
          <p:nvPr/>
        </p:nvSpPr>
        <p:spPr>
          <a:xfrm>
            <a:off x="640080" y="228600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WHY\nHighest engagement rates (8–12%). Niche audiences. Most authentic content. Direct community trust.</a:t>
            </a:r>
            <a:endParaRPr lang="en-US" sz="1000" dirty="0"/>
          </a:p>
        </p:txBody>
      </p:sp>
      <p:sp>
        <p:nvSpPr>
          <p:cNvPr id="14" name="Text 12"/>
          <p:cNvSpPr/>
          <p:nvPr/>
        </p:nvSpPr>
        <p:spPr>
          <a:xfrm>
            <a:off x="640080" y="3291840"/>
            <a:ext cx="3200400" cy="320040"/>
          </a:xfrm>
          <a:prstGeom prst="rect">
            <a:avLst/>
          </a:prstGeom>
          <a:noFill/>
          <a:ln/>
        </p:spPr>
        <p:txBody>
          <a:bodyPr wrap="square" rtlCol="0" anchor="ctr"/>
          <a:lstStyle/>
          <a:p>
            <a:pPr indent="0" marL="0">
              <a:buNone/>
            </a:pPr>
            <a:r>
              <a:rPr lang="en-US" sz="1000" b="1" dirty="0">
                <a:solidFill>
                  <a:srgbClr val="2B4EFF"/>
                </a:solidFill>
                <a:latin typeface="Plus Jakarta Sans" pitchFamily="34" charset="0"/>
                <a:ea typeface="Plus Jakarta Sans" pitchFamily="34" charset="-122"/>
                <a:cs typeface="Plus Jakarta Sans" pitchFamily="34" charset="-120"/>
              </a:rPr>
              <a:t>DELIVERABLES\n1 REEL — Product in everyday use/styling. Show aesthetic, design, benefits.\n2 STORIES — Unboxing reaction.\n1 STATIC POST — Clean product shot.</a:t>
            </a:r>
            <a:endParaRPr lang="en-US" sz="1000" dirty="0"/>
          </a:p>
        </p:txBody>
      </p:sp>
      <p:sp>
        <p:nvSpPr>
          <p:cNvPr id="15" name="Shape 13"/>
          <p:cNvSpPr/>
          <p:nvPr/>
        </p:nvSpPr>
        <p:spPr>
          <a:xfrm>
            <a:off x="4343400" y="1691640"/>
            <a:ext cx="3566160" cy="4389120"/>
          </a:xfrm>
          <a:prstGeom prst="rect">
            <a:avLst>
              <a:gd name="adj" fmla="val 2564"/>
            </a:avLst>
          </a:prstGeom>
          <a:solidFill>
            <a:srgbClr val="FFFFFF"/>
          </a:solidFill>
          <a:ln w="25400">
            <a:solidFill>
              <a:srgbClr val="8B5CF6"/>
            </a:solidFill>
            <a:prstDash val="solid"/>
          </a:ln>
        </p:spPr>
      </p:sp>
      <p:sp>
        <p:nvSpPr>
          <p:cNvPr id="16" name="Shape 14"/>
          <p:cNvSpPr/>
          <p:nvPr/>
        </p:nvSpPr>
        <p:spPr>
          <a:xfrm>
            <a:off x="4343400" y="1691640"/>
            <a:ext cx="3566160" cy="457200"/>
          </a:xfrm>
          <a:prstGeom prst="rect">
            <a:avLst/>
          </a:prstGeom>
          <a:solidFill>
            <a:srgbClr val="8B5CF6"/>
          </a:solidFill>
          <a:ln/>
        </p:spPr>
      </p:sp>
      <p:sp>
        <p:nvSpPr>
          <p:cNvPr id="17" name="Text 15"/>
          <p:cNvSpPr/>
          <p:nvPr/>
        </p:nvSpPr>
        <p:spPr>
          <a:xfrm>
            <a:off x="4434840" y="1737360"/>
            <a:ext cx="201168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MID-MACRO CREATOR</a:t>
            </a:r>
            <a:endParaRPr lang="en-US" sz="1100" dirty="0"/>
          </a:p>
        </p:txBody>
      </p:sp>
      <p:sp>
        <p:nvSpPr>
          <p:cNvPr id="18" name="Text 16"/>
          <p:cNvSpPr/>
          <p:nvPr/>
        </p:nvSpPr>
        <p:spPr>
          <a:xfrm>
            <a:off x="6446520" y="1737360"/>
            <a:ext cx="13716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1 Creator · Authority</a:t>
            </a:r>
            <a:endParaRPr lang="en-US" sz="1000" dirty="0"/>
          </a:p>
        </p:txBody>
      </p:sp>
      <p:sp>
        <p:nvSpPr>
          <p:cNvPr id="19" name="Text 17"/>
          <p:cNvSpPr/>
          <p:nvPr/>
        </p:nvSpPr>
        <p:spPr>
          <a:xfrm>
            <a:off x="4526280" y="228600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WHY\nBroader reach for brand authority. Signals we are a real, fast-growing premium D2C brand.</a:t>
            </a:r>
            <a:endParaRPr lang="en-US" sz="1000" dirty="0"/>
          </a:p>
        </p:txBody>
      </p:sp>
      <p:sp>
        <p:nvSpPr>
          <p:cNvPr id="20" name="Text 18"/>
          <p:cNvSpPr/>
          <p:nvPr/>
        </p:nvSpPr>
        <p:spPr>
          <a:xfrm>
            <a:off x="4526280" y="3291840"/>
            <a:ext cx="3200400" cy="320040"/>
          </a:xfrm>
          <a:prstGeom prst="rect">
            <a:avLst/>
          </a:prstGeom>
          <a:noFill/>
          <a:ln/>
        </p:spPr>
        <p:txBody>
          <a:bodyPr wrap="square" rtlCol="0" anchor="ctr"/>
          <a:lstStyle/>
          <a:p>
            <a:pPr indent="0" marL="0">
              <a:buNone/>
            </a:pPr>
            <a:r>
              <a:rPr lang="en-US" sz="1000" b="1" dirty="0">
                <a:solidFill>
                  <a:srgbClr val="8B5CF6"/>
                </a:solidFill>
                <a:latin typeface="Plus Jakarta Sans" pitchFamily="34" charset="0"/>
                <a:ea typeface="Plus Jakarta Sans" pitchFamily="34" charset="-122"/>
                <a:cs typeface="Plus Jakarta Sans" pitchFamily="34" charset="-120"/>
              </a:rPr>
              <a:t>DELIVERABLES\n1 REEL — Full review and usage showcase.\nBroad awareness reach targeting modern consumers.\nUsage rights: 90 days for repurposing as paid ads.</a:t>
            </a:r>
            <a:endParaRPr lang="en-US" sz="1000" dirty="0"/>
          </a:p>
        </p:txBody>
      </p:sp>
      <p:sp>
        <p:nvSpPr>
          <p:cNvPr id="21" name="Shape 19"/>
          <p:cNvSpPr/>
          <p:nvPr/>
        </p:nvSpPr>
        <p:spPr>
          <a:xfrm>
            <a:off x="8229600" y="1691640"/>
            <a:ext cx="3566160" cy="4389120"/>
          </a:xfrm>
          <a:prstGeom prst="rect">
            <a:avLst>
              <a:gd name="adj" fmla="val 2564"/>
            </a:avLst>
          </a:prstGeom>
          <a:solidFill>
            <a:srgbClr val="FFFFFF"/>
          </a:solidFill>
          <a:ln w="25400">
            <a:solidFill>
              <a:srgbClr val="10B981"/>
            </a:solidFill>
            <a:prstDash val="solid"/>
          </a:ln>
        </p:spPr>
      </p:sp>
      <p:sp>
        <p:nvSpPr>
          <p:cNvPr id="22" name="Shape 20"/>
          <p:cNvSpPr/>
          <p:nvPr/>
        </p:nvSpPr>
        <p:spPr>
          <a:xfrm>
            <a:off x="8229600" y="1691640"/>
            <a:ext cx="3566160" cy="457200"/>
          </a:xfrm>
          <a:prstGeom prst="rect">
            <a:avLst/>
          </a:prstGeom>
          <a:solidFill>
            <a:srgbClr val="10B981"/>
          </a:solidFill>
          <a:ln/>
        </p:spPr>
      </p:sp>
      <p:sp>
        <p:nvSpPr>
          <p:cNvPr id="23" name="Text 21"/>
          <p:cNvSpPr/>
          <p:nvPr/>
        </p:nvSpPr>
        <p:spPr>
          <a:xfrm>
            <a:off x="8321040" y="1737360"/>
            <a:ext cx="201168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USAGE RIGHTS</a:t>
            </a:r>
            <a:endParaRPr lang="en-US" sz="1100" dirty="0"/>
          </a:p>
        </p:txBody>
      </p:sp>
      <p:sp>
        <p:nvSpPr>
          <p:cNvPr id="24" name="Text 22"/>
          <p:cNvSpPr/>
          <p:nvPr/>
        </p:nvSpPr>
        <p:spPr>
          <a:xfrm>
            <a:off x="10332720" y="1737360"/>
            <a:ext cx="13716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All Creators</a:t>
            </a:r>
            <a:endParaRPr lang="en-US" sz="1000" dirty="0"/>
          </a:p>
        </p:txBody>
      </p:sp>
      <p:sp>
        <p:nvSpPr>
          <p:cNvPr id="25" name="Text 23"/>
          <p:cNvSpPr/>
          <p:nvPr/>
        </p:nvSpPr>
        <p:spPr>
          <a:xfrm>
            <a:off x="8412480" y="228600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WHY\nRepurpose the best creator content as paid ads. Creator UGC = top-performing ad creative.</a:t>
            </a:r>
            <a:endParaRPr lang="en-US" sz="1000" dirty="0"/>
          </a:p>
        </p:txBody>
      </p:sp>
      <p:sp>
        <p:nvSpPr>
          <p:cNvPr id="26" name="Text 24"/>
          <p:cNvSpPr/>
          <p:nvPr/>
        </p:nvSpPr>
        <p:spPr>
          <a:xfrm>
            <a:off x="8412480" y="3291840"/>
            <a:ext cx="3200400" cy="320040"/>
          </a:xfrm>
          <a:prstGeom prst="rect">
            <a:avLst/>
          </a:prstGeom>
          <a:noFill/>
          <a:ln/>
        </p:spPr>
        <p:txBody>
          <a:bodyPr wrap="square" rtlCol="0" anchor="ctr"/>
          <a:lstStyle/>
          <a:p>
            <a:pPr indent="0" marL="0">
              <a:buNone/>
            </a:pPr>
            <a:r>
              <a:rPr lang="en-US" sz="1000" b="1" dirty="0">
                <a:solidFill>
                  <a:srgbClr val="10B981"/>
                </a:solidFill>
                <a:latin typeface="Plus Jakarta Sans" pitchFamily="34" charset="0"/>
                <a:ea typeface="Plus Jakarta Sans" pitchFamily="34" charset="-122"/>
                <a:cs typeface="Plus Jakarta Sans" pitchFamily="34" charset="-120"/>
              </a:rPr>
              <a:t>DELIVERABLES\nRepurpose rights: 90 days for paid ads across Meta.\nEvery creator brief must include usage rights clause.\nBest UGC content becomes BOFU retargeting ads.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SOCIAL BRANDING</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Instagram · YouTube · Facebook — Full Platform Strategy</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5120640"/>
          </a:xfrm>
          <a:prstGeom prst="rect">
            <a:avLst>
              <a:gd name="adj" fmla="val 2564"/>
            </a:avLst>
          </a:prstGeom>
          <a:solidFill>
            <a:srgbClr val="FFFFFF"/>
          </a:solidFill>
          <a:ln w="25400">
            <a:solidFill>
              <a:srgbClr val="EF4444"/>
            </a:solidFill>
            <a:prstDash val="solid"/>
          </a:ln>
        </p:spPr>
      </p:sp>
      <p:sp>
        <p:nvSpPr>
          <p:cNvPr id="8" name="Shape 6"/>
          <p:cNvSpPr/>
          <p:nvPr/>
        </p:nvSpPr>
        <p:spPr>
          <a:xfrm>
            <a:off x="457200" y="1005840"/>
            <a:ext cx="3566160" cy="457200"/>
          </a:xfrm>
          <a:prstGeom prst="rect">
            <a:avLst/>
          </a:prstGeom>
          <a:solidFill>
            <a:srgbClr val="EF4444"/>
          </a:solidFill>
          <a:ln/>
        </p:spPr>
      </p:sp>
      <p:sp>
        <p:nvSpPr>
          <p:cNvPr id="9" name="Text 7"/>
          <p:cNvSpPr/>
          <p:nvPr/>
        </p:nvSpPr>
        <p:spPr>
          <a:xfrm>
            <a:off x="5943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INSTAGRAM</a:t>
            </a:r>
            <a:endParaRPr lang="en-US" sz="1300" dirty="0"/>
          </a:p>
        </p:txBody>
      </p:sp>
      <p:sp>
        <p:nvSpPr>
          <p:cNvPr id="10" name="Text 8"/>
          <p:cNvSpPr/>
          <p:nvPr/>
        </p:nvSpPr>
        <p:spPr>
          <a:xfrm>
            <a:off x="2286000" y="1051560"/>
            <a:ext cx="1600200" cy="320040"/>
          </a:xfrm>
          <a:prstGeom prst="rect">
            <a:avLst/>
          </a:prstGeom>
          <a:noFill/>
          <a:ln/>
        </p:spPr>
        <p:txBody>
          <a:bodyPr wrap="square" rtlCol="0" anchor="ctr"/>
          <a:lstStyle/>
          <a:p>
            <a:pPr algn="r" indent="0" marL="0">
              <a:buNone/>
            </a:pPr>
            <a:r>
              <a:rPr lang="en-US" sz="1000" dirty="0">
                <a:solidFill>
                  <a:srgbClr val="FFFFFF"/>
                </a:solidFill>
                <a:latin typeface="Plus Jakarta Sans" pitchFamily="34" charset="0"/>
                <a:ea typeface="Plus Jakarta Sans" pitchFamily="34" charset="-122"/>
                <a:cs typeface="Plus Jakarta Sans" pitchFamily="34" charset="-120"/>
              </a:rPr>
              <a:t>@nirvana brews</a:t>
            </a:r>
            <a:endParaRPr lang="en-US" sz="1000" dirty="0"/>
          </a:p>
        </p:txBody>
      </p:sp>
      <p:sp>
        <p:nvSpPr>
          <p:cNvPr id="11" name="Text 9"/>
          <p:cNvSpPr/>
          <p:nvPr/>
        </p:nvSpPr>
        <p:spPr>
          <a:xfrm>
            <a:off x="6400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CONTENT MIX\n3x Reels/week: Product features · Lifestyle integration · UGC\n2x Static Posts: Product photography · Customer reviews\n5x Stories/day: Polls · User tips · Product of the day\n1x Carousel/week: Product deep-dive explainer</a:t>
            </a:r>
            <a:endParaRPr lang="en-US" sz="1000" dirty="0"/>
          </a:p>
        </p:txBody>
      </p:sp>
      <p:sp>
        <p:nvSpPr>
          <p:cNvPr id="12" name="Text 10"/>
          <p:cNvSpPr/>
          <p:nvPr/>
        </p:nvSpPr>
        <p:spPr>
          <a:xfrm>
            <a:off x="640080" y="347472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VISUAL IDENTITY\nFeed: Clean, premium, high-contrast. Reflecting our brand voice.</a:t>
            </a:r>
            <a:endParaRPr lang="en-US" sz="1000" dirty="0"/>
          </a:p>
        </p:txBody>
      </p:sp>
      <p:sp>
        <p:nvSpPr>
          <p:cNvPr id="13" name="Shape 11"/>
          <p:cNvSpPr/>
          <p:nvPr/>
        </p:nvSpPr>
        <p:spPr>
          <a:xfrm>
            <a:off x="640080" y="4480560"/>
            <a:ext cx="3200400" cy="548640"/>
          </a:xfrm>
          <a:prstGeom prst="rect">
            <a:avLst>
              <a:gd name="adj" fmla="val 8333"/>
            </a:avLst>
          </a:prstGeom>
          <a:solidFill>
            <a:srgbClr val="EF4444"/>
          </a:solidFill>
          <a:ln/>
        </p:spPr>
      </p:sp>
      <p:sp>
        <p:nvSpPr>
          <p:cNvPr id="14" name="Text 12"/>
          <p:cNvSpPr/>
          <p:nvPr/>
        </p:nvSpPr>
        <p:spPr>
          <a:xfrm>
            <a:off x="685800" y="4526280"/>
            <a:ext cx="3108960" cy="320040"/>
          </a:xfrm>
          <a:prstGeom prst="rect">
            <a:avLst/>
          </a:prstGeom>
          <a:noFill/>
          <a:ln/>
        </p:spPr>
        <p:txBody>
          <a:bodyPr wrap="square" rtlCol="0" anchor="ctr"/>
          <a:lstStyle/>
          <a:p>
            <a:pPr indent="0" marL="0">
              <a:buNone/>
            </a:pPr>
            <a:r>
              <a:rPr lang="en-US" sz="900" b="1" dirty="0">
                <a:solidFill>
                  <a:srgbClr val="FFFFFF"/>
                </a:solidFill>
                <a:latin typeface="Plus Jakarta Sans" pitchFamily="34" charset="0"/>
                <a:ea typeface="Plus Jakarta Sans" pitchFamily="34" charset="-122"/>
                <a:cs typeface="Plus Jakarta Sans" pitchFamily="34" charset="-120"/>
              </a:rPr>
              <a:t>#Nirvana Brews #BuiltForIndia #PremiumPremium Coffee</a:t>
            </a:r>
            <a:endParaRPr lang="en-US" sz="900" dirty="0"/>
          </a:p>
        </p:txBody>
      </p:sp>
      <p:sp>
        <p:nvSpPr>
          <p:cNvPr id="15" name="Shape 13"/>
          <p:cNvSpPr/>
          <p:nvPr/>
        </p:nvSpPr>
        <p:spPr>
          <a:xfrm>
            <a:off x="4343400" y="1005840"/>
            <a:ext cx="3566160" cy="5120640"/>
          </a:xfrm>
          <a:prstGeom prst="rect">
            <a:avLst>
              <a:gd name="adj" fmla="val 2564"/>
            </a:avLst>
          </a:prstGeom>
          <a:solidFill>
            <a:srgbClr val="FFFFFF"/>
          </a:solidFill>
          <a:ln w="25400">
            <a:solidFill>
              <a:srgbClr val="FF0000"/>
            </a:solidFill>
            <a:prstDash val="solid"/>
          </a:ln>
        </p:spPr>
      </p:sp>
      <p:sp>
        <p:nvSpPr>
          <p:cNvPr id="16" name="Shape 14"/>
          <p:cNvSpPr/>
          <p:nvPr/>
        </p:nvSpPr>
        <p:spPr>
          <a:xfrm>
            <a:off x="4343400" y="1005840"/>
            <a:ext cx="3566160" cy="457200"/>
          </a:xfrm>
          <a:prstGeom prst="rect">
            <a:avLst/>
          </a:prstGeom>
          <a:solidFill>
            <a:srgbClr val="FF0000"/>
          </a:solidFill>
          <a:ln/>
        </p:spPr>
      </p:sp>
      <p:sp>
        <p:nvSpPr>
          <p:cNvPr id="17" name="Text 15"/>
          <p:cNvSpPr/>
          <p:nvPr/>
        </p:nvSpPr>
        <p:spPr>
          <a:xfrm>
            <a:off x="44805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YOUTUBE</a:t>
            </a:r>
            <a:endParaRPr lang="en-US" sz="1300" dirty="0"/>
          </a:p>
        </p:txBody>
      </p:sp>
      <p:sp>
        <p:nvSpPr>
          <p:cNvPr id="18" name="Text 16"/>
          <p:cNvSpPr/>
          <p:nvPr/>
        </p:nvSpPr>
        <p:spPr>
          <a:xfrm>
            <a:off x="6172200" y="1051560"/>
            <a:ext cx="1600200" cy="320040"/>
          </a:xfrm>
          <a:prstGeom prst="rect">
            <a:avLst/>
          </a:prstGeom>
          <a:noFill/>
          <a:ln/>
        </p:spPr>
        <p:txBody>
          <a:bodyPr wrap="square" rtlCol="0" anchor="ctr"/>
          <a:lstStyle/>
          <a:p>
            <a:pPr algn="r" indent="0" marL="0">
              <a:buNone/>
            </a:pPr>
            <a:r>
              <a:rPr lang="en-US" sz="1000" dirty="0">
                <a:solidFill>
                  <a:srgbClr val="FFFFFF"/>
                </a:solidFill>
                <a:latin typeface="Plus Jakarta Sans" pitchFamily="34" charset="0"/>
                <a:ea typeface="Plus Jakarta Sans" pitchFamily="34" charset="-122"/>
                <a:cs typeface="Plus Jakarta Sans" pitchFamily="34" charset="-120"/>
              </a:rPr>
              <a:t>Nirvana Brews Official</a:t>
            </a:r>
            <a:endParaRPr lang="en-US" sz="1000" dirty="0"/>
          </a:p>
        </p:txBody>
      </p:sp>
      <p:sp>
        <p:nvSpPr>
          <p:cNvPr id="19" name="Text 17"/>
          <p:cNvSpPr/>
          <p:nvPr/>
        </p:nvSpPr>
        <p:spPr>
          <a:xfrm>
            <a:off x="45262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CONTENT MIX\n2x Long-form/month: Product comparison and deep-dives\nFounder Story: "Why Mr./Ms. Aditya Sharma started Nirvana Brews"\nProduct performance: "Nirvana Brews product testing and reviews"\nYouTube Shorts from long-form content</a:t>
            </a:r>
            <a:endParaRPr lang="en-US" sz="1000" dirty="0"/>
          </a:p>
        </p:txBody>
      </p:sp>
      <p:sp>
        <p:nvSpPr>
          <p:cNvPr id="20" name="Text 18"/>
          <p:cNvSpPr/>
          <p:nvPr/>
        </p:nvSpPr>
        <p:spPr>
          <a:xfrm>
            <a:off x="4526280" y="347472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VISUAL IDENTITY\nClean thumbnails. Strong product visuals. Bold white text on dark bg.</a:t>
            </a:r>
            <a:endParaRPr lang="en-US" sz="1000" dirty="0"/>
          </a:p>
        </p:txBody>
      </p:sp>
      <p:sp>
        <p:nvSpPr>
          <p:cNvPr id="21" name="Shape 19"/>
          <p:cNvSpPr/>
          <p:nvPr/>
        </p:nvSpPr>
        <p:spPr>
          <a:xfrm>
            <a:off x="4526280" y="4480560"/>
            <a:ext cx="3200400" cy="548640"/>
          </a:xfrm>
          <a:prstGeom prst="rect">
            <a:avLst>
              <a:gd name="adj" fmla="val 8333"/>
            </a:avLst>
          </a:prstGeom>
          <a:solidFill>
            <a:srgbClr val="FF0000"/>
          </a:solidFill>
          <a:ln/>
        </p:spPr>
      </p:sp>
      <p:sp>
        <p:nvSpPr>
          <p:cNvPr id="22" name="Text 20"/>
          <p:cNvSpPr/>
          <p:nvPr/>
        </p:nvSpPr>
        <p:spPr>
          <a:xfrm>
            <a:off x="4572000" y="4526280"/>
            <a:ext cx="3108960" cy="320040"/>
          </a:xfrm>
          <a:prstGeom prst="rect">
            <a:avLst/>
          </a:prstGeom>
          <a:noFill/>
          <a:ln/>
        </p:spPr>
        <p:txBody>
          <a:bodyPr wrap="square" rtlCol="0" anchor="ctr"/>
          <a:lstStyle/>
          <a:p>
            <a:pPr indent="0" marL="0">
              <a:buNone/>
            </a:pPr>
            <a:r>
              <a:rPr lang="en-US" sz="900" b="1" dirty="0">
                <a:solidFill>
                  <a:srgbClr val="FFFFFF"/>
                </a:solidFill>
                <a:latin typeface="Plus Jakarta Sans" pitchFamily="34" charset="0"/>
                <a:ea typeface="Plus Jakarta Sans" pitchFamily="34" charset="-122"/>
                <a:cs typeface="Plus Jakarta Sans" pitchFamily="34" charset="-120"/>
              </a:rPr>
              <a:t>Monthly founder LIVE: Product drops + Q&amp;A session</a:t>
            </a:r>
            <a:endParaRPr lang="en-US" sz="900" dirty="0"/>
          </a:p>
        </p:txBody>
      </p:sp>
      <p:sp>
        <p:nvSpPr>
          <p:cNvPr id="23" name="Shape 21"/>
          <p:cNvSpPr/>
          <p:nvPr/>
        </p:nvSpPr>
        <p:spPr>
          <a:xfrm>
            <a:off x="8229600" y="1005840"/>
            <a:ext cx="3566160" cy="5120640"/>
          </a:xfrm>
          <a:prstGeom prst="rect">
            <a:avLst>
              <a:gd name="adj" fmla="val 2564"/>
            </a:avLst>
          </a:prstGeom>
          <a:solidFill>
            <a:srgbClr val="FFFFFF"/>
          </a:solidFill>
          <a:ln w="25400">
            <a:solidFill>
              <a:srgbClr val="2B4EFF"/>
            </a:solidFill>
            <a:prstDash val="solid"/>
          </a:ln>
        </p:spPr>
      </p:sp>
      <p:sp>
        <p:nvSpPr>
          <p:cNvPr id="24" name="Shape 22"/>
          <p:cNvSpPr/>
          <p:nvPr/>
        </p:nvSpPr>
        <p:spPr>
          <a:xfrm>
            <a:off x="8229600" y="1005840"/>
            <a:ext cx="3566160" cy="457200"/>
          </a:xfrm>
          <a:prstGeom prst="rect">
            <a:avLst/>
          </a:prstGeom>
          <a:solidFill>
            <a:srgbClr val="2B4EFF"/>
          </a:solidFill>
          <a:ln/>
        </p:spPr>
      </p:sp>
      <p:sp>
        <p:nvSpPr>
          <p:cNvPr id="25" name="Text 23"/>
          <p:cNvSpPr/>
          <p:nvPr/>
        </p:nvSpPr>
        <p:spPr>
          <a:xfrm>
            <a:off x="83667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FACEBOOK</a:t>
            </a:r>
            <a:endParaRPr lang="en-US" sz="1300" dirty="0"/>
          </a:p>
        </p:txBody>
      </p:sp>
      <p:sp>
        <p:nvSpPr>
          <p:cNvPr id="26" name="Text 24"/>
          <p:cNvSpPr/>
          <p:nvPr/>
        </p:nvSpPr>
        <p:spPr>
          <a:xfrm>
            <a:off x="10058400" y="1051560"/>
            <a:ext cx="1600200" cy="320040"/>
          </a:xfrm>
          <a:prstGeom prst="rect">
            <a:avLst/>
          </a:prstGeom>
          <a:noFill/>
          <a:ln/>
        </p:spPr>
        <p:txBody>
          <a:bodyPr wrap="square" rtlCol="0" anchor="ctr"/>
          <a:lstStyle/>
          <a:p>
            <a:pPr algn="r" indent="0" marL="0">
              <a:buNone/>
            </a:pPr>
            <a:r>
              <a:rPr lang="en-US" sz="1000" dirty="0">
                <a:solidFill>
                  <a:srgbClr val="FFFFFF"/>
                </a:solidFill>
                <a:latin typeface="Plus Jakarta Sans" pitchFamily="34" charset="0"/>
                <a:ea typeface="Plus Jakarta Sans" pitchFamily="34" charset="-122"/>
                <a:cs typeface="Plus Jakarta Sans" pitchFamily="34" charset="-120"/>
              </a:rPr>
              <a:t>nirvana brews</a:t>
            </a:r>
            <a:endParaRPr lang="en-US" sz="1000" dirty="0"/>
          </a:p>
        </p:txBody>
      </p:sp>
      <p:sp>
        <p:nvSpPr>
          <p:cNvPr id="27" name="Text 25"/>
          <p:cNvSpPr/>
          <p:nvPr/>
        </p:nvSpPr>
        <p:spPr>
          <a:xfrm>
            <a:off x="84124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CONTENT MIX\nPrimary use: Paid retargeting pixel + dynamic product ads\nCommunity Group: "Nirvana Brews VIPs" — drop announcements + Q&amp;As\nCatalogue connected for dynamic product retargeting ads\nNot primary organic channel — mainly used for paid retargeting</a:t>
            </a:r>
            <a:endParaRPr lang="en-US" sz="1000" dirty="0"/>
          </a:p>
        </p:txBody>
      </p:sp>
      <p:sp>
        <p:nvSpPr>
          <p:cNvPr id="28" name="Text 26"/>
          <p:cNvSpPr/>
          <p:nvPr/>
        </p:nvSpPr>
        <p:spPr>
          <a:xfrm>
            <a:off x="8412480" y="347472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VISUAL IDENTITY\nFocus: pixel-perfect attribution + catalogue for dynamic ads. Community group for loyal buyers.</a:t>
            </a:r>
            <a:endParaRPr lang="en-US" sz="1000" dirty="0"/>
          </a:p>
        </p:txBody>
      </p:sp>
      <p:sp>
        <p:nvSpPr>
          <p:cNvPr id="29" name="Shape 27"/>
          <p:cNvSpPr/>
          <p:nvPr/>
        </p:nvSpPr>
        <p:spPr>
          <a:xfrm>
            <a:off x="8412480" y="4480560"/>
            <a:ext cx="3200400" cy="548640"/>
          </a:xfrm>
          <a:prstGeom prst="rect">
            <a:avLst>
              <a:gd name="adj" fmla="val 8333"/>
            </a:avLst>
          </a:prstGeom>
          <a:solidFill>
            <a:srgbClr val="2B4EFF"/>
          </a:solidFill>
          <a:ln/>
        </p:spPr>
      </p:sp>
      <p:sp>
        <p:nvSpPr>
          <p:cNvPr id="30" name="Text 28"/>
          <p:cNvSpPr/>
          <p:nvPr/>
        </p:nvSpPr>
        <p:spPr>
          <a:xfrm>
            <a:off x="8458200" y="4526280"/>
            <a:ext cx="3108960" cy="320040"/>
          </a:xfrm>
          <a:prstGeom prst="rect">
            <a:avLst/>
          </a:prstGeom>
          <a:noFill/>
          <a:ln/>
        </p:spPr>
        <p:txBody>
          <a:bodyPr wrap="square" rtlCol="0" anchor="ctr"/>
          <a:lstStyle/>
          <a:p>
            <a:pPr indent="0" marL="0">
              <a:buNone/>
            </a:pPr>
            <a:r>
              <a:rPr lang="en-US" sz="900" b="1" dirty="0">
                <a:solidFill>
                  <a:srgbClr val="FFFFFF"/>
                </a:solidFill>
                <a:latin typeface="Plus Jakarta Sans" pitchFamily="34" charset="0"/>
                <a:ea typeface="Plus Jakarta Sans" pitchFamily="34" charset="-122"/>
                <a:cs typeface="Plus Jakarta Sans" pitchFamily="34" charset="-120"/>
              </a:rPr>
              <a:t>Secondary organic — primary paid retargeting + community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OFFER STRATEGY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Feature-First Upper Funnel, Offer-Second Lower Funnel</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11247120" cy="457200"/>
          </a:xfrm>
          <a:prstGeom prst="rect">
            <a:avLst/>
          </a:prstGeom>
          <a:solidFill>
            <a:srgbClr val="0B1629"/>
          </a:solidFill>
          <a:ln/>
        </p:spPr>
      </p:sp>
      <p:sp>
        <p:nvSpPr>
          <p:cNvPr id="8" name="Text 6"/>
          <p:cNvSpPr/>
          <p:nvPr/>
        </p:nvSpPr>
        <p:spPr>
          <a:xfrm>
            <a:off x="640080" y="1097280"/>
            <a:ext cx="10881360" cy="320040"/>
          </a:xfrm>
          <a:prstGeom prst="rect">
            <a:avLst/>
          </a:prstGeom>
          <a:noFill/>
          <a:ln/>
        </p:spPr>
        <p:txBody>
          <a:bodyPr wrap="square" rtlCol="0" anchor="ctr"/>
          <a:lstStyle/>
          <a:p>
            <a:pPr indent="0" marL="0">
              <a:buNone/>
            </a:pPr>
            <a:r>
              <a:rPr lang="en-US" sz="1200" b="1" i="1" dirty="0">
                <a:solidFill>
                  <a:srgbClr val="F59E0B"/>
                </a:solidFill>
                <a:latin typeface="Plus Jakarta Sans" pitchFamily="34" charset="0"/>
                <a:ea typeface="Plus Jakarta Sans" pitchFamily="34" charset="-122"/>
                <a:cs typeface="Plus Jakarta Sans" pitchFamily="34" charset="-120"/>
              </a:rPr>
              <a:t>"The product earns the attention. The offer closes the sale. Never the other way around."</a:t>
            </a:r>
            <a:endParaRPr lang="en-US" sz="1200" dirty="0"/>
          </a:p>
        </p:txBody>
      </p:sp>
      <p:sp>
        <p:nvSpPr>
          <p:cNvPr id="9" name="Shape 7"/>
          <p:cNvSpPr/>
          <p:nvPr/>
        </p:nvSpPr>
        <p:spPr>
          <a:xfrm>
            <a:off x="457200" y="1645920"/>
            <a:ext cx="5394960" cy="4480560"/>
          </a:xfrm>
          <a:prstGeom prst="rect">
            <a:avLst>
              <a:gd name="adj" fmla="val 2041"/>
            </a:avLst>
          </a:prstGeom>
          <a:solidFill>
            <a:srgbClr val="FFFFFF"/>
          </a:solidFill>
          <a:ln w="25400">
            <a:solidFill>
              <a:srgbClr val="2B4EFF"/>
            </a:solidFill>
            <a:prstDash val="solid"/>
          </a:ln>
        </p:spPr>
      </p:sp>
      <p:sp>
        <p:nvSpPr>
          <p:cNvPr id="10" name="Shape 8"/>
          <p:cNvSpPr/>
          <p:nvPr/>
        </p:nvSpPr>
        <p:spPr>
          <a:xfrm>
            <a:off x="457200" y="1645920"/>
            <a:ext cx="5394960" cy="457200"/>
          </a:xfrm>
          <a:prstGeom prst="rect">
            <a:avLst/>
          </a:prstGeom>
          <a:solidFill>
            <a:srgbClr val="2B4EFF"/>
          </a:solidFill>
          <a:ln/>
        </p:spPr>
      </p:sp>
      <p:sp>
        <p:nvSpPr>
          <p:cNvPr id="11" name="Text 9"/>
          <p:cNvSpPr/>
          <p:nvPr/>
        </p:nvSpPr>
        <p:spPr>
          <a:xfrm>
            <a:off x="640080" y="1783080"/>
            <a:ext cx="10058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UPPER FUNNEL — FEATURE FIRST</a:t>
            </a:r>
            <a:endParaRPr lang="en-US" sz="1200" dirty="0"/>
          </a:p>
        </p:txBody>
      </p:sp>
      <p:sp>
        <p:nvSpPr>
          <p:cNvPr id="12" name="Text 10"/>
          <p:cNvSpPr/>
          <p:nvPr/>
        </p:nvSpPr>
        <p:spPr>
          <a:xfrm>
            <a:off x="640080" y="2286000"/>
            <a:ext cx="50292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SIGNATURE PRODUCT\nPremium build + top features. Designed to meet high-end specifications.\n\nESSENTIALS KIT\nHigh convenience. Value pack design to drive repeat purchase.\n\nPREMIUM BUNDLE\nStarter bundle that makes onboarding effortless.\n\nTRAVEL PACK\nTravel-ready option for high convenience on the move.</a:t>
            </a:r>
            <a:endParaRPr lang="en-US" sz="1000" dirty="0"/>
          </a:p>
        </p:txBody>
      </p:sp>
      <p:sp>
        <p:nvSpPr>
          <p:cNvPr id="13" name="Shape 11"/>
          <p:cNvSpPr/>
          <p:nvPr/>
        </p:nvSpPr>
        <p:spPr>
          <a:xfrm>
            <a:off x="6309360" y="1645920"/>
            <a:ext cx="5394960" cy="4480560"/>
          </a:xfrm>
          <a:prstGeom prst="rect">
            <a:avLst>
              <a:gd name="adj" fmla="val 2041"/>
            </a:avLst>
          </a:prstGeom>
          <a:solidFill>
            <a:srgbClr val="FFFFFF"/>
          </a:solidFill>
          <a:ln w="25400">
            <a:solidFill>
              <a:srgbClr val="F59E0B"/>
            </a:solidFill>
            <a:prstDash val="solid"/>
          </a:ln>
        </p:spPr>
      </p:sp>
      <p:sp>
        <p:nvSpPr>
          <p:cNvPr id="14" name="Shape 12"/>
          <p:cNvSpPr/>
          <p:nvPr/>
        </p:nvSpPr>
        <p:spPr>
          <a:xfrm>
            <a:off x="6309360" y="1645920"/>
            <a:ext cx="5394960" cy="457200"/>
          </a:xfrm>
          <a:prstGeom prst="rect">
            <a:avLst/>
          </a:prstGeom>
          <a:solidFill>
            <a:srgbClr val="F59E0B"/>
          </a:solidFill>
          <a:ln/>
        </p:spPr>
      </p:sp>
      <p:sp>
        <p:nvSpPr>
          <p:cNvPr id="15" name="Text 13"/>
          <p:cNvSpPr/>
          <p:nvPr/>
        </p:nvSpPr>
        <p:spPr>
          <a:xfrm>
            <a:off x="6492240" y="1783080"/>
            <a:ext cx="521208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LOWER FUNNEL — OFFER MECHANICS</a:t>
            </a:r>
            <a:endParaRPr lang="en-US" sz="1200" dirty="0"/>
          </a:p>
        </p:txBody>
      </p:sp>
      <p:sp>
        <p:nvSpPr>
          <p:cNvPr id="16" name="Text 14"/>
          <p:cNvSpPr/>
          <p:nvPr/>
        </p:nvSpPr>
        <p:spPr>
          <a:xfrm>
            <a:off x="6492240" y="2286000"/>
            <a:ext cx="5029200" cy="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Free Premium Frother on orders above ₹1,499\nProgress bar in cart drives AOV. Gift incentive, not price slash.\n\nPrepaid Discount Code\n₹50 off above ₹799. Incentivizes online payments, slashing COD RTO rates.\n\nExclusive Bundle Offer\n15% off when custom bundling 3+ items. Boosts AOV immediately.\n\n48-hr Flash Sale\nMonthly window only. Countdown timer on site. Urgency-led.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RETENTION ENGINE</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WhatsApp · Email · Push — The Repeat Purchase Machine</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5120640"/>
          </a:xfrm>
          <a:prstGeom prst="rect">
            <a:avLst>
              <a:gd name="adj" fmla="val 2564"/>
            </a:avLst>
          </a:prstGeom>
          <a:solidFill>
            <a:srgbClr val="10B981"/>
          </a:solidFill>
          <a:ln w="25400">
            <a:solidFill>
              <a:srgbClr val="10B981"/>
            </a:solidFill>
            <a:prstDash val="solid"/>
          </a:ln>
        </p:spPr>
      </p:sp>
      <p:sp>
        <p:nvSpPr>
          <p:cNvPr id="8" name="Shape 6"/>
          <p:cNvSpPr/>
          <p:nvPr/>
        </p:nvSpPr>
        <p:spPr>
          <a:xfrm>
            <a:off x="457200" y="1005840"/>
            <a:ext cx="3566160" cy="457200"/>
          </a:xfrm>
          <a:prstGeom prst="rect">
            <a:avLst/>
          </a:prstGeom>
          <a:solidFill>
            <a:srgbClr val="10B981"/>
          </a:solidFill>
          <a:ln/>
        </p:spPr>
      </p:sp>
      <p:sp>
        <p:nvSpPr>
          <p:cNvPr id="9" name="Text 7"/>
          <p:cNvSpPr/>
          <p:nvPr/>
        </p:nvSpPr>
        <p:spPr>
          <a:xfrm>
            <a:off x="5943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WHATSAPP</a:t>
            </a:r>
            <a:endParaRPr lang="en-US" sz="1300" dirty="0"/>
          </a:p>
        </p:txBody>
      </p:sp>
      <p:sp>
        <p:nvSpPr>
          <p:cNvPr id="10" name="Text 8"/>
          <p:cNvSpPr/>
          <p:nvPr/>
        </p:nvSpPr>
        <p:spPr>
          <a:xfrm>
            <a:off x="2103120" y="1051560"/>
            <a:ext cx="1783080" cy="320040"/>
          </a:xfrm>
          <a:prstGeom prst="rect">
            <a:avLst/>
          </a:prstGeom>
          <a:noFill/>
          <a:ln/>
        </p:spPr>
        <p:txBody>
          <a:bodyPr wrap="square" rtlCol="0" anchor="ctr"/>
          <a:lstStyle/>
          <a:p>
            <a:pPr algn="r" indent="0" marL="0">
              <a:buNone/>
            </a:pPr>
            <a:r>
              <a:rPr lang="en-US" sz="900" dirty="0">
                <a:solidFill>
                  <a:srgbClr val="FFFFFF"/>
                </a:solidFill>
                <a:latin typeface="Plus Jakarta Sans" pitchFamily="34" charset="0"/>
                <a:ea typeface="Plus Jakarta Sans" pitchFamily="34" charset="-122"/>
                <a:cs typeface="Plus Jakarta Sans" pitchFamily="34" charset="-120"/>
              </a:rPr>
              <a:t>Business API · 85%+ Open Rate</a:t>
            </a:r>
            <a:endParaRPr lang="en-US" sz="900" dirty="0"/>
          </a:p>
        </p:txBody>
      </p:sp>
      <p:sp>
        <p:nvSpPr>
          <p:cNvPr id="11" name="Text 9"/>
          <p:cNvSpPr/>
          <p:nvPr/>
        </p:nvSpPr>
        <p:spPr>
          <a:xfrm>
            <a:off x="6400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Order Confirmed\n"Your Nirvana Brews order is confirmed! [Order summary]"\n\nDay 3–5\n"Your order arrived! Usage tip + styling tip for your next session"\n\nDay 14\n"How's your first week? Tag us @nirvana brews"\n\nDay 30\n"New [Product] just dropped — check it out! [Link]"\n\nDay 45\n"Complete your kit — here's what pairs with your [product]"</a:t>
            </a:r>
            <a:endParaRPr lang="en-US" sz="1000" dirty="0"/>
          </a:p>
        </p:txBody>
      </p:sp>
      <p:sp>
        <p:nvSpPr>
          <p:cNvPr id="12" name="Shape 10"/>
          <p:cNvSpPr/>
          <p:nvPr/>
        </p:nvSpPr>
        <p:spPr>
          <a:xfrm>
            <a:off x="4343400" y="1005840"/>
            <a:ext cx="3566160" cy="5120640"/>
          </a:xfrm>
          <a:prstGeom prst="rect">
            <a:avLst>
              <a:gd name="adj" fmla="val 2564"/>
            </a:avLst>
          </a:prstGeom>
          <a:solidFill>
            <a:srgbClr val="2B4EFF"/>
          </a:solidFill>
          <a:ln w="25400">
            <a:solidFill>
              <a:srgbClr val="2B4EFF"/>
            </a:solidFill>
            <a:prstDash val="solid"/>
          </a:ln>
        </p:spPr>
      </p:sp>
      <p:sp>
        <p:nvSpPr>
          <p:cNvPr id="13" name="Shape 11"/>
          <p:cNvSpPr/>
          <p:nvPr/>
        </p:nvSpPr>
        <p:spPr>
          <a:xfrm>
            <a:off x="4343400" y="1005840"/>
            <a:ext cx="3566160" cy="457200"/>
          </a:xfrm>
          <a:prstGeom prst="rect">
            <a:avLst/>
          </a:prstGeom>
          <a:solidFill>
            <a:srgbClr val="2B4EFF"/>
          </a:solidFill>
          <a:ln/>
        </p:spPr>
      </p:sp>
      <p:sp>
        <p:nvSpPr>
          <p:cNvPr id="14" name="Text 12"/>
          <p:cNvSpPr/>
          <p:nvPr/>
        </p:nvSpPr>
        <p:spPr>
          <a:xfrm>
            <a:off x="44805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EMAIL</a:t>
            </a:r>
            <a:endParaRPr lang="en-US" sz="1300" dirty="0"/>
          </a:p>
        </p:txBody>
      </p:sp>
      <p:sp>
        <p:nvSpPr>
          <p:cNvPr id="15" name="Text 13"/>
          <p:cNvSpPr/>
          <p:nvPr/>
        </p:nvSpPr>
        <p:spPr>
          <a:xfrm>
            <a:off x="5989320" y="1051560"/>
            <a:ext cx="1783080" cy="320040"/>
          </a:xfrm>
          <a:prstGeom prst="rect">
            <a:avLst/>
          </a:prstGeom>
          <a:noFill/>
          <a:ln/>
        </p:spPr>
        <p:txBody>
          <a:bodyPr wrap="square" rtlCol="0" anchor="ctr"/>
          <a:lstStyle/>
          <a:p>
            <a:pPr algn="r" indent="0" marL="0">
              <a:buNone/>
            </a:pPr>
            <a:r>
              <a:rPr lang="en-US" sz="900" dirty="0">
                <a:solidFill>
                  <a:srgbClr val="FFFFFF"/>
                </a:solidFill>
                <a:latin typeface="Plus Jakarta Sans" pitchFamily="34" charset="0"/>
                <a:ea typeface="Plus Jakarta Sans" pitchFamily="34" charset="-122"/>
                <a:cs typeface="Plus Jakarta Sans" pitchFamily="34" charset="-120"/>
              </a:rPr>
              <a:t>Email CRM · 28%+ Open Rate</a:t>
            </a:r>
            <a:endParaRPr lang="en-US" sz="900" dirty="0"/>
          </a:p>
        </p:txBody>
      </p:sp>
      <p:sp>
        <p:nvSpPr>
          <p:cNvPr id="16" name="Text 14"/>
          <p:cNvSpPr/>
          <p:nvPr/>
        </p:nvSpPr>
        <p:spPr>
          <a:xfrm>
            <a:off x="45262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Day 0 Welcome\nBrand story + founder origin + what we stand for\n\nDay 2\n"The technology inside your product" — deep features\n\nDay 5\n"Real results." — social proof + UGC + reviews\n\nDay 8\n"Your exclusive offer — because you're part of the family"\n\nDay 10\n"What's next? Here's what pairs with your product"</a:t>
            </a:r>
            <a:endParaRPr lang="en-US" sz="1000" dirty="0"/>
          </a:p>
        </p:txBody>
      </p:sp>
      <p:sp>
        <p:nvSpPr>
          <p:cNvPr id="17" name="Shape 15"/>
          <p:cNvSpPr/>
          <p:nvPr/>
        </p:nvSpPr>
        <p:spPr>
          <a:xfrm>
            <a:off x="8229600" y="1005840"/>
            <a:ext cx="3566160" cy="5120640"/>
          </a:xfrm>
          <a:prstGeom prst="rect">
            <a:avLst>
              <a:gd name="adj" fmla="val 2564"/>
            </a:avLst>
          </a:prstGeom>
          <a:solidFill>
            <a:srgbClr val="8B5CF6"/>
          </a:solidFill>
          <a:ln w="25400">
            <a:solidFill>
              <a:srgbClr val="8B5CF6"/>
            </a:solidFill>
            <a:prstDash val="solid"/>
          </a:ln>
        </p:spPr>
      </p:sp>
      <p:sp>
        <p:nvSpPr>
          <p:cNvPr id="18" name="Shape 16"/>
          <p:cNvSpPr/>
          <p:nvPr/>
        </p:nvSpPr>
        <p:spPr>
          <a:xfrm>
            <a:off x="8229600" y="1005840"/>
            <a:ext cx="3566160" cy="457200"/>
          </a:xfrm>
          <a:prstGeom prst="rect">
            <a:avLst/>
          </a:prstGeom>
          <a:solidFill>
            <a:srgbClr val="8B5CF6"/>
          </a:solidFill>
          <a:ln/>
        </p:spPr>
      </p:sp>
      <p:sp>
        <p:nvSpPr>
          <p:cNvPr id="19" name="Text 17"/>
          <p:cNvSpPr/>
          <p:nvPr/>
        </p:nvSpPr>
        <p:spPr>
          <a:xfrm>
            <a:off x="83667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PUSH NOTIFICATIONS</a:t>
            </a:r>
            <a:endParaRPr lang="en-US" sz="1300" dirty="0"/>
          </a:p>
        </p:txBody>
      </p:sp>
      <p:sp>
        <p:nvSpPr>
          <p:cNvPr id="20" name="Text 18"/>
          <p:cNvSpPr/>
          <p:nvPr/>
        </p:nvSpPr>
        <p:spPr>
          <a:xfrm>
            <a:off x="9875520" y="1051560"/>
            <a:ext cx="1783080" cy="320040"/>
          </a:xfrm>
          <a:prstGeom prst="rect">
            <a:avLst/>
          </a:prstGeom>
          <a:noFill/>
          <a:ln/>
        </p:spPr>
        <p:txBody>
          <a:bodyPr wrap="square" rtlCol="0" anchor="ctr"/>
          <a:lstStyle/>
          <a:p>
            <a:pPr algn="r" indent="0" marL="0">
              <a:buNone/>
            </a:pPr>
            <a:r>
              <a:rPr lang="en-US" sz="900" dirty="0">
                <a:solidFill>
                  <a:srgbClr val="FFFFFF"/>
                </a:solidFill>
                <a:latin typeface="Plus Jakarta Sans" pitchFamily="34" charset="0"/>
                <a:ea typeface="Plus Jakarta Sans" pitchFamily="34" charset="-122"/>
                <a:cs typeface="Plus Jakarta Sans" pitchFamily="34" charset="-120"/>
              </a:rPr>
              <a:t>Pushnova · 15%+ CTR</a:t>
            </a:r>
            <a:endParaRPr lang="en-US" sz="900" dirty="0"/>
          </a:p>
        </p:txBody>
      </p:sp>
      <p:sp>
        <p:nvSpPr>
          <p:cNvPr id="21" name="Text 19"/>
          <p:cNvSpPr/>
          <p:nvPr/>
        </p:nvSpPr>
        <p:spPr>
          <a:xfrm>
            <a:off x="84124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Flash Sale\n"48 hours only — [Product] now available. Free gift at ₹1,499"\n\nBack In Stock\n"[Product] is back! Limited stock — grab it"\n\nSocial Proof\n"47 people bought this today — your variant is still available"\n\nCart Expires\n"You left something behind. Your cart expires in 2 hours"\n\nNew Drop\n"NEW DROP: [Product] just launched. Be the first to get it"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SHOPIFY CRO</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Store Optimisation — Converting Every Visitor Into Revenue</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5394960" cy="2103120"/>
          </a:xfrm>
          <a:prstGeom prst="rect">
            <a:avLst>
              <a:gd name="adj" fmla="val 4348"/>
            </a:avLst>
          </a:prstGeom>
          <a:solidFill>
            <a:srgbClr val="FFFFFF"/>
          </a:solidFill>
          <a:ln w="25400">
            <a:solidFill>
              <a:srgbClr val="2B4EFF"/>
            </a:solidFill>
            <a:prstDash val="solid"/>
          </a:ln>
        </p:spPr>
      </p:sp>
      <p:sp>
        <p:nvSpPr>
          <p:cNvPr id="8" name="Shape 6"/>
          <p:cNvSpPr/>
          <p:nvPr/>
        </p:nvSpPr>
        <p:spPr>
          <a:xfrm>
            <a:off x="457200" y="1005840"/>
            <a:ext cx="5394960" cy="411480"/>
          </a:xfrm>
          <a:prstGeom prst="rect">
            <a:avLst/>
          </a:prstGeom>
          <a:solidFill>
            <a:srgbClr val="2B4EFF"/>
          </a:solidFill>
          <a:ln/>
        </p:spPr>
      </p:sp>
      <p:sp>
        <p:nvSpPr>
          <p:cNvPr id="9" name="Text 7"/>
          <p:cNvSpPr/>
          <p:nvPr/>
        </p:nvSpPr>
        <p:spPr>
          <a:xfrm>
            <a:off x="640080" y="1097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HOMEPAGE</a:t>
            </a:r>
            <a:endParaRPr lang="en-US" sz="1200" dirty="0"/>
          </a:p>
        </p:txBody>
      </p:sp>
      <p:sp>
        <p:nvSpPr>
          <p:cNvPr id="10" name="Text 8"/>
          <p:cNvSpPr/>
          <p:nvPr/>
        </p:nvSpPr>
        <p:spPr>
          <a:xfrm>
            <a:off x="640080" y="1508760"/>
            <a:ext cx="50292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High-quality lifestyle hero video: Products in use, aesthetic lifestyle.\n· USP strip: Artisanal Single-Origin Beans · Nitrogen-Sealed Freshness · Zero Artificial Additives · Free Shipping.\n· UGC wall: Customer photos + creator feed at bottom.\n· Trust bar: "10,000+ Happy Customers" · Star ratings.</a:t>
            </a:r>
            <a:endParaRPr lang="en-US" sz="1000" dirty="0"/>
          </a:p>
        </p:txBody>
      </p:sp>
      <p:sp>
        <p:nvSpPr>
          <p:cNvPr id="11" name="Shape 9"/>
          <p:cNvSpPr/>
          <p:nvPr/>
        </p:nvSpPr>
        <p:spPr>
          <a:xfrm>
            <a:off x="6126480" y="1005840"/>
            <a:ext cx="5394960" cy="2103120"/>
          </a:xfrm>
          <a:prstGeom prst="rect">
            <a:avLst>
              <a:gd name="adj" fmla="val 4348"/>
            </a:avLst>
          </a:prstGeom>
          <a:solidFill>
            <a:srgbClr val="FFFFFF"/>
          </a:solidFill>
          <a:ln w="25400">
            <a:solidFill>
              <a:srgbClr val="8B5CF6"/>
            </a:solidFill>
            <a:prstDash val="solid"/>
          </a:ln>
        </p:spPr>
      </p:sp>
      <p:sp>
        <p:nvSpPr>
          <p:cNvPr id="12" name="Shape 10"/>
          <p:cNvSpPr/>
          <p:nvPr/>
        </p:nvSpPr>
        <p:spPr>
          <a:xfrm>
            <a:off x="6126480" y="1005840"/>
            <a:ext cx="5394960" cy="411480"/>
          </a:xfrm>
          <a:prstGeom prst="rect">
            <a:avLst/>
          </a:prstGeom>
          <a:solidFill>
            <a:srgbClr val="8B5CF6"/>
          </a:solidFill>
          <a:ln/>
        </p:spPr>
      </p:sp>
      <p:sp>
        <p:nvSpPr>
          <p:cNvPr id="13" name="Text 11"/>
          <p:cNvSpPr/>
          <p:nvPr/>
        </p:nvSpPr>
        <p:spPr>
          <a:xfrm>
            <a:off x="6309360" y="1097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PRODUCT PAGES</a:t>
            </a:r>
            <a:endParaRPr lang="en-US" sz="1200" dirty="0"/>
          </a:p>
        </p:txBody>
      </p:sp>
      <p:sp>
        <p:nvSpPr>
          <p:cNvPr id="14" name="Text 12"/>
          <p:cNvSpPr/>
          <p:nvPr/>
        </p:nvSpPr>
        <p:spPr>
          <a:xfrm>
            <a:off x="6309360" y="1508760"/>
            <a:ext cx="50292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Headline leads with FEATURE — not just product name.\n· 6–8 images: Product shots + close-ups.\n· 15-sec product video: Show the usage or stretch test.\n· Feature pills displayed ABOVE the fold — not buried in description.</a:t>
            </a:r>
            <a:endParaRPr lang="en-US" sz="1000" dirty="0"/>
          </a:p>
        </p:txBody>
      </p:sp>
      <p:sp>
        <p:nvSpPr>
          <p:cNvPr id="15" name="Shape 13"/>
          <p:cNvSpPr/>
          <p:nvPr/>
        </p:nvSpPr>
        <p:spPr>
          <a:xfrm>
            <a:off x="457200" y="3291840"/>
            <a:ext cx="5394960" cy="2103120"/>
          </a:xfrm>
          <a:prstGeom prst="rect">
            <a:avLst>
              <a:gd name="adj" fmla="val 4348"/>
            </a:avLst>
          </a:prstGeom>
          <a:solidFill>
            <a:srgbClr val="FFFFFF"/>
          </a:solidFill>
          <a:ln w="25400">
            <a:solidFill>
              <a:srgbClr val="F59E0B"/>
            </a:solidFill>
            <a:prstDash val="solid"/>
          </a:ln>
        </p:spPr>
      </p:sp>
      <p:sp>
        <p:nvSpPr>
          <p:cNvPr id="16" name="Shape 14"/>
          <p:cNvSpPr/>
          <p:nvPr/>
        </p:nvSpPr>
        <p:spPr>
          <a:xfrm>
            <a:off x="457200" y="3291840"/>
            <a:ext cx="5394960" cy="411480"/>
          </a:xfrm>
          <a:prstGeom prst="rect">
            <a:avLst/>
          </a:prstGeom>
          <a:solidFill>
            <a:srgbClr val="F59E0B"/>
          </a:solidFill>
          <a:ln/>
        </p:spPr>
      </p:sp>
      <p:sp>
        <p:nvSpPr>
          <p:cNvPr id="17" name="Text 15"/>
          <p:cNvSpPr/>
          <p:nvPr/>
        </p:nvSpPr>
        <p:spPr>
          <a:xfrm>
            <a:off x="640080" y="3383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CART &amp; CHECKOUT</a:t>
            </a:r>
            <a:endParaRPr lang="en-US" sz="1200" dirty="0"/>
          </a:p>
        </p:txBody>
      </p:sp>
      <p:sp>
        <p:nvSpPr>
          <p:cNvPr id="18" name="Text 16"/>
          <p:cNvSpPr/>
          <p:nvPr/>
        </p:nvSpPr>
        <p:spPr>
          <a:xfrm>
            <a:off x="640080" y="3794760"/>
            <a:ext cx="50292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Progress bar: "Add ₹X more for Free Premium Frother on orders above ₹1,499 + Free Shipping".\n· Cross-sell: "People who bought X also got Y".\n· PREPAID50 code prominently shown at checkout page.\n· Trust badges: Secure payment + easy returns + Made in India.</a:t>
            </a:r>
            <a:endParaRPr lang="en-US" sz="1000" dirty="0"/>
          </a:p>
        </p:txBody>
      </p:sp>
      <p:sp>
        <p:nvSpPr>
          <p:cNvPr id="19" name="Shape 17"/>
          <p:cNvSpPr/>
          <p:nvPr/>
        </p:nvSpPr>
        <p:spPr>
          <a:xfrm>
            <a:off x="6126480" y="3291840"/>
            <a:ext cx="5394960" cy="2103120"/>
          </a:xfrm>
          <a:prstGeom prst="rect">
            <a:avLst>
              <a:gd name="adj" fmla="val 4348"/>
            </a:avLst>
          </a:prstGeom>
          <a:solidFill>
            <a:srgbClr val="FFFFFF"/>
          </a:solidFill>
          <a:ln w="25400">
            <a:solidFill>
              <a:srgbClr val="10B981"/>
            </a:solidFill>
            <a:prstDash val="solid"/>
          </a:ln>
        </p:spPr>
      </p:sp>
      <p:sp>
        <p:nvSpPr>
          <p:cNvPr id="20" name="Shape 18"/>
          <p:cNvSpPr/>
          <p:nvPr/>
        </p:nvSpPr>
        <p:spPr>
          <a:xfrm>
            <a:off x="6126480" y="3291840"/>
            <a:ext cx="5394960" cy="411480"/>
          </a:xfrm>
          <a:prstGeom prst="rect">
            <a:avLst/>
          </a:prstGeom>
          <a:solidFill>
            <a:srgbClr val="10B981"/>
          </a:solidFill>
          <a:ln/>
        </p:spPr>
      </p:sp>
      <p:sp>
        <p:nvSpPr>
          <p:cNvPr id="21" name="Text 19"/>
          <p:cNvSpPr/>
          <p:nvPr/>
        </p:nvSpPr>
        <p:spPr>
          <a:xfrm>
            <a:off x="6309360" y="3383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MOBILE UX</a:t>
            </a:r>
            <a:endParaRPr lang="en-US" sz="1200" dirty="0"/>
          </a:p>
        </p:txBody>
      </p:sp>
      <p:sp>
        <p:nvSpPr>
          <p:cNvPr id="22" name="Text 20"/>
          <p:cNvSpPr/>
          <p:nvPr/>
        </p:nvSpPr>
        <p:spPr>
          <a:xfrm>
            <a:off x="6309360" y="3794760"/>
            <a:ext cx="50292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74% of traffic is mobile — design mobile-first, not desktop.\n· Page speed: Sub 3-second load. Compress all images.\n· Sticky Buy Now button in thumb-zone (bottom 30% of screen).\n· One-thumb checkout: Minimal fields, auto-fill, UPI prominent.</a:t>
            </a:r>
            <a:endParaRPr lang="en-US" sz="1000" dirty="0"/>
          </a:p>
        </p:txBody>
      </p:sp>
      <p:sp>
        <p:nvSpPr>
          <p:cNvPr id="23" name="Shape 21"/>
          <p:cNvSpPr/>
          <p:nvPr/>
        </p:nvSpPr>
        <p:spPr>
          <a:xfrm>
            <a:off x="457200" y="5669280"/>
            <a:ext cx="11247120" cy="548640"/>
          </a:xfrm>
          <a:prstGeom prst="rect">
            <a:avLst/>
          </a:prstGeom>
          <a:solidFill>
            <a:srgbClr val="0B1629"/>
          </a:solidFill>
          <a:ln/>
        </p:spPr>
      </p:sp>
      <p:sp>
        <p:nvSpPr>
          <p:cNvPr id="24" name="Text 22"/>
          <p:cNvSpPr/>
          <p:nvPr/>
        </p:nvSpPr>
        <p:spPr>
          <a:xfrm>
            <a:off x="640080" y="5806440"/>
            <a:ext cx="10881360" cy="320040"/>
          </a:xfrm>
          <a:prstGeom prst="rect">
            <a:avLst/>
          </a:prstGeom>
          <a:noFill/>
          <a:ln/>
        </p:spPr>
        <p:txBody>
          <a:bodyPr wrap="square" rtlCol="0" anchor="ctr"/>
          <a:lstStyle/>
          <a:p>
            <a:pPr indent="0" marL="0">
              <a:buNone/>
            </a:pPr>
            <a:r>
              <a:rPr lang="en-US" sz="1000" b="1" dirty="0">
                <a:solidFill>
                  <a:srgbClr val="FFFFFF"/>
                </a:solidFill>
                <a:latin typeface="Plus Jakarta Sans" pitchFamily="34" charset="0"/>
                <a:ea typeface="Plus Jakarta Sans" pitchFamily="34" charset="-122"/>
                <a:cs typeface="Plus Jakarta Sans" pitchFamily="34" charset="-120"/>
              </a:rPr>
              <a:t>The best ad strategy fails on a weak store. Every optimisation above directly increases conversion rate — even without changing a single ad.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KPIS &amp; METRICS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8 Non-Negotiable Numbers — How We Measure Winning</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2651760" cy="2286000"/>
          </a:xfrm>
          <a:prstGeom prst="rect">
            <a:avLst>
              <a:gd name="adj" fmla="val 4000"/>
            </a:avLst>
          </a:prstGeom>
          <a:solidFill>
            <a:srgbClr val="FFFFFF"/>
          </a:solidFill>
          <a:ln w="25400">
            <a:solidFill>
              <a:srgbClr val="2B4EFF"/>
            </a:solidFill>
            <a:prstDash val="solid"/>
          </a:ln>
        </p:spPr>
      </p:sp>
      <p:sp>
        <p:nvSpPr>
          <p:cNvPr id="8" name="Text 6"/>
          <p:cNvSpPr/>
          <p:nvPr/>
        </p:nvSpPr>
        <p:spPr>
          <a:xfrm>
            <a:off x="640080" y="1188720"/>
            <a:ext cx="2286000" cy="320040"/>
          </a:xfrm>
          <a:prstGeom prst="rect">
            <a:avLst/>
          </a:prstGeom>
          <a:noFill/>
          <a:ln/>
        </p:spPr>
        <p:txBody>
          <a:bodyPr wrap="square" rtlCol="0" anchor="ctr"/>
          <a:lstStyle/>
          <a:p>
            <a:pPr indent="0" marL="0">
              <a:buNone/>
            </a:pPr>
            <a:r>
              <a:rPr lang="en-US" sz="3200" b="1" dirty="0">
                <a:solidFill>
                  <a:srgbClr val="2B4EFF"/>
                </a:solidFill>
                <a:latin typeface="Plus Jakarta Sans" pitchFamily="34" charset="0"/>
                <a:ea typeface="Plus Jakarta Sans" pitchFamily="34" charset="-122"/>
                <a:cs typeface="Plus Jakarta Sans" pitchFamily="34" charset="-120"/>
              </a:rPr>
              <a:t>₹25L</a:t>
            </a:r>
            <a:endParaRPr lang="en-US" sz="3200" dirty="0"/>
          </a:p>
        </p:txBody>
      </p:sp>
      <p:sp>
        <p:nvSpPr>
          <p:cNvPr id="9" name="Text 7"/>
          <p:cNvSpPr/>
          <p:nvPr/>
        </p:nvSpPr>
        <p:spPr>
          <a:xfrm>
            <a:off x="640080" y="187452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Monthly Revenue Target</a:t>
            </a:r>
            <a:endParaRPr lang="en-US" sz="1200" dirty="0"/>
          </a:p>
        </p:txBody>
      </p:sp>
      <p:sp>
        <p:nvSpPr>
          <p:cNvPr id="10" name="Text 8"/>
          <p:cNvSpPr/>
          <p:nvPr/>
        </p:nvSpPr>
        <p:spPr>
          <a:xfrm>
            <a:off x="640080" y="237744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Primary goal — all strategy serves this number</a:t>
            </a:r>
            <a:endParaRPr lang="en-US" sz="1000" dirty="0"/>
          </a:p>
        </p:txBody>
      </p:sp>
      <p:sp>
        <p:nvSpPr>
          <p:cNvPr id="11" name="Shape 9"/>
          <p:cNvSpPr/>
          <p:nvPr/>
        </p:nvSpPr>
        <p:spPr>
          <a:xfrm>
            <a:off x="3291840" y="1005840"/>
            <a:ext cx="2651760" cy="2286000"/>
          </a:xfrm>
          <a:prstGeom prst="rect">
            <a:avLst>
              <a:gd name="adj" fmla="val 4000"/>
            </a:avLst>
          </a:prstGeom>
          <a:solidFill>
            <a:srgbClr val="FFFFFF"/>
          </a:solidFill>
          <a:ln w="25400">
            <a:solidFill>
              <a:srgbClr val="10B981"/>
            </a:solidFill>
            <a:prstDash val="solid"/>
          </a:ln>
        </p:spPr>
      </p:sp>
      <p:sp>
        <p:nvSpPr>
          <p:cNvPr id="12" name="Text 10"/>
          <p:cNvSpPr/>
          <p:nvPr/>
        </p:nvSpPr>
        <p:spPr>
          <a:xfrm>
            <a:off x="3474720" y="1188720"/>
            <a:ext cx="2286000" cy="320040"/>
          </a:xfrm>
          <a:prstGeom prst="rect">
            <a:avLst/>
          </a:prstGeom>
          <a:noFill/>
          <a:ln/>
        </p:spPr>
        <p:txBody>
          <a:bodyPr wrap="square" rtlCol="0" anchor="ctr"/>
          <a:lstStyle/>
          <a:p>
            <a:pPr indent="0" marL="0">
              <a:buNone/>
            </a:pPr>
            <a:r>
              <a:rPr lang="en-US" sz="3200" b="1" dirty="0">
                <a:solidFill>
                  <a:srgbClr val="10B981"/>
                </a:solidFill>
                <a:latin typeface="Plus Jakarta Sans" pitchFamily="34" charset="0"/>
                <a:ea typeface="Plus Jakarta Sans" pitchFamily="34" charset="-122"/>
                <a:cs typeface="Plus Jakarta Sans" pitchFamily="34" charset="-120"/>
              </a:rPr>
              <a:t>3.5x+</a:t>
            </a:r>
            <a:endParaRPr lang="en-US" sz="3200" dirty="0"/>
          </a:p>
        </p:txBody>
      </p:sp>
      <p:sp>
        <p:nvSpPr>
          <p:cNvPr id="13" name="Text 11"/>
          <p:cNvSpPr/>
          <p:nvPr/>
        </p:nvSpPr>
        <p:spPr>
          <a:xfrm>
            <a:off x="3474720" y="187452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ROAS — Meta Ads</a:t>
            </a:r>
            <a:endParaRPr lang="en-US" sz="1200" dirty="0"/>
          </a:p>
        </p:txBody>
      </p:sp>
      <p:sp>
        <p:nvSpPr>
          <p:cNvPr id="14" name="Text 12"/>
          <p:cNvSpPr/>
          <p:nvPr/>
        </p:nvSpPr>
        <p:spPr>
          <a:xfrm>
            <a:off x="3474720" y="237744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₹1 spent must return ₹3.50 minimum on Meta</a:t>
            </a:r>
            <a:endParaRPr lang="en-US" sz="1000" dirty="0"/>
          </a:p>
        </p:txBody>
      </p:sp>
      <p:sp>
        <p:nvSpPr>
          <p:cNvPr id="15" name="Shape 13"/>
          <p:cNvSpPr/>
          <p:nvPr/>
        </p:nvSpPr>
        <p:spPr>
          <a:xfrm>
            <a:off x="6126480" y="1005840"/>
            <a:ext cx="2651760" cy="2286000"/>
          </a:xfrm>
          <a:prstGeom prst="rect">
            <a:avLst>
              <a:gd name="adj" fmla="val 4000"/>
            </a:avLst>
          </a:prstGeom>
          <a:solidFill>
            <a:srgbClr val="FFFFFF"/>
          </a:solidFill>
          <a:ln w="25400">
            <a:solidFill>
              <a:srgbClr val="EF4444"/>
            </a:solidFill>
            <a:prstDash val="solid"/>
          </a:ln>
        </p:spPr>
      </p:sp>
      <p:sp>
        <p:nvSpPr>
          <p:cNvPr id="16" name="Text 14"/>
          <p:cNvSpPr/>
          <p:nvPr/>
        </p:nvSpPr>
        <p:spPr>
          <a:xfrm>
            <a:off x="6309360" y="1188720"/>
            <a:ext cx="2286000" cy="320040"/>
          </a:xfrm>
          <a:prstGeom prst="rect">
            <a:avLst/>
          </a:prstGeom>
          <a:noFill/>
          <a:ln/>
        </p:spPr>
        <p:txBody>
          <a:bodyPr wrap="square" rtlCol="0" anchor="ctr"/>
          <a:lstStyle/>
          <a:p>
            <a:pPr indent="0" marL="0">
              <a:buNone/>
            </a:pPr>
            <a:r>
              <a:rPr lang="en-US" sz="3200" b="1" dirty="0">
                <a:solidFill>
                  <a:srgbClr val="EF4444"/>
                </a:solidFill>
                <a:latin typeface="Plus Jakarta Sans" pitchFamily="34" charset="0"/>
                <a:ea typeface="Plus Jakarta Sans" pitchFamily="34" charset="-122"/>
                <a:cs typeface="Plus Jakarta Sans" pitchFamily="34" charset="-120"/>
              </a:rPr>
              <a:t>5x+</a:t>
            </a:r>
            <a:endParaRPr lang="en-US" sz="3200" dirty="0"/>
          </a:p>
        </p:txBody>
      </p:sp>
      <p:sp>
        <p:nvSpPr>
          <p:cNvPr id="17" name="Text 15"/>
          <p:cNvSpPr/>
          <p:nvPr/>
        </p:nvSpPr>
        <p:spPr>
          <a:xfrm>
            <a:off x="6309360" y="187452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ROAS — Google</a:t>
            </a:r>
            <a:endParaRPr lang="en-US" sz="1200" dirty="0"/>
          </a:p>
        </p:txBody>
      </p:sp>
      <p:sp>
        <p:nvSpPr>
          <p:cNvPr id="18" name="Text 16"/>
          <p:cNvSpPr/>
          <p:nvPr/>
        </p:nvSpPr>
        <p:spPr>
          <a:xfrm>
            <a:off x="6309360" y="237744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High-intent buyers should convert at better rate</a:t>
            </a:r>
            <a:endParaRPr lang="en-US" sz="1000" dirty="0"/>
          </a:p>
        </p:txBody>
      </p:sp>
      <p:sp>
        <p:nvSpPr>
          <p:cNvPr id="19" name="Shape 17"/>
          <p:cNvSpPr/>
          <p:nvPr/>
        </p:nvSpPr>
        <p:spPr>
          <a:xfrm>
            <a:off x="8961120" y="1005840"/>
            <a:ext cx="2651760" cy="2286000"/>
          </a:xfrm>
          <a:prstGeom prst="rect">
            <a:avLst>
              <a:gd name="adj" fmla="val 4000"/>
            </a:avLst>
          </a:prstGeom>
          <a:solidFill>
            <a:srgbClr val="FFFFFF"/>
          </a:solidFill>
          <a:ln w="25400">
            <a:solidFill>
              <a:srgbClr val="F59E0B"/>
            </a:solidFill>
            <a:prstDash val="solid"/>
          </a:ln>
        </p:spPr>
      </p:sp>
      <p:sp>
        <p:nvSpPr>
          <p:cNvPr id="20" name="Text 18"/>
          <p:cNvSpPr/>
          <p:nvPr/>
        </p:nvSpPr>
        <p:spPr>
          <a:xfrm>
            <a:off x="9144000" y="1188720"/>
            <a:ext cx="2286000" cy="320040"/>
          </a:xfrm>
          <a:prstGeom prst="rect">
            <a:avLst/>
          </a:prstGeom>
          <a:noFill/>
          <a:ln/>
        </p:spPr>
        <p:txBody>
          <a:bodyPr wrap="square" rtlCol="0" anchor="ctr"/>
          <a:lstStyle/>
          <a:p>
            <a:pPr indent="0" marL="0">
              <a:buNone/>
            </a:pPr>
            <a:r>
              <a:rPr lang="en-US" sz="3200" b="1" dirty="0">
                <a:solidFill>
                  <a:srgbClr val="F59E0B"/>
                </a:solidFill>
                <a:latin typeface="Plus Jakarta Sans" pitchFamily="34" charset="0"/>
                <a:ea typeface="Plus Jakarta Sans" pitchFamily="34" charset="-122"/>
                <a:cs typeface="Plus Jakarta Sans" pitchFamily="34" charset="-120"/>
              </a:rPr>
              <a:t>&lt; ₹350</a:t>
            </a:r>
            <a:endParaRPr lang="en-US" sz="3200" dirty="0"/>
          </a:p>
        </p:txBody>
      </p:sp>
      <p:sp>
        <p:nvSpPr>
          <p:cNvPr id="21" name="Text 19"/>
          <p:cNvSpPr/>
          <p:nvPr/>
        </p:nvSpPr>
        <p:spPr>
          <a:xfrm>
            <a:off x="9144000" y="187452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Customer Acquisition Cost</a:t>
            </a:r>
            <a:endParaRPr lang="en-US" sz="1200" dirty="0"/>
          </a:p>
        </p:txBody>
      </p:sp>
      <p:sp>
        <p:nvSpPr>
          <p:cNvPr id="22" name="Text 20"/>
          <p:cNvSpPr/>
          <p:nvPr/>
        </p:nvSpPr>
        <p:spPr>
          <a:xfrm>
            <a:off x="9144000" y="237744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If CAC &gt; ₹350, contribution margin suffers</a:t>
            </a:r>
            <a:endParaRPr lang="en-US" sz="1000" dirty="0"/>
          </a:p>
        </p:txBody>
      </p:sp>
      <p:sp>
        <p:nvSpPr>
          <p:cNvPr id="23" name="Shape 21"/>
          <p:cNvSpPr/>
          <p:nvPr/>
        </p:nvSpPr>
        <p:spPr>
          <a:xfrm>
            <a:off x="457200" y="3566160"/>
            <a:ext cx="2651760" cy="2286000"/>
          </a:xfrm>
          <a:prstGeom prst="rect">
            <a:avLst>
              <a:gd name="adj" fmla="val 4000"/>
            </a:avLst>
          </a:prstGeom>
          <a:solidFill>
            <a:srgbClr val="FFFFFF"/>
          </a:solidFill>
          <a:ln w="25400">
            <a:solidFill>
              <a:srgbClr val="F59E0B"/>
            </a:solidFill>
            <a:prstDash val="solid"/>
          </a:ln>
        </p:spPr>
      </p:sp>
      <p:sp>
        <p:nvSpPr>
          <p:cNvPr id="24" name="Text 22"/>
          <p:cNvSpPr/>
          <p:nvPr/>
        </p:nvSpPr>
        <p:spPr>
          <a:xfrm>
            <a:off x="640080" y="3749040"/>
            <a:ext cx="2286000" cy="320040"/>
          </a:xfrm>
          <a:prstGeom prst="rect">
            <a:avLst/>
          </a:prstGeom>
          <a:noFill/>
          <a:ln/>
        </p:spPr>
        <p:txBody>
          <a:bodyPr wrap="square" rtlCol="0" anchor="ctr"/>
          <a:lstStyle/>
          <a:p>
            <a:pPr indent="0" marL="0">
              <a:buNone/>
            </a:pPr>
            <a:r>
              <a:rPr lang="en-US" sz="3200" b="1" dirty="0">
                <a:solidFill>
                  <a:srgbClr val="F59E0B"/>
                </a:solidFill>
                <a:latin typeface="Plus Jakarta Sans" pitchFamily="34" charset="0"/>
                <a:ea typeface="Plus Jakarta Sans" pitchFamily="34" charset="-122"/>
                <a:cs typeface="Plus Jakarta Sans" pitchFamily="34" charset="-120"/>
              </a:rPr>
              <a:t>₹1,800+</a:t>
            </a:r>
            <a:endParaRPr lang="en-US" sz="3200" dirty="0"/>
          </a:p>
        </p:txBody>
      </p:sp>
      <p:sp>
        <p:nvSpPr>
          <p:cNvPr id="25" name="Text 23"/>
          <p:cNvSpPr/>
          <p:nvPr/>
        </p:nvSpPr>
        <p:spPr>
          <a:xfrm>
            <a:off x="640080" y="443484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Average Order Value</a:t>
            </a:r>
            <a:endParaRPr lang="en-US" sz="1200" dirty="0"/>
          </a:p>
        </p:txBody>
      </p:sp>
      <p:sp>
        <p:nvSpPr>
          <p:cNvPr id="26" name="Text 24"/>
          <p:cNvSpPr/>
          <p:nvPr/>
        </p:nvSpPr>
        <p:spPr>
          <a:xfrm>
            <a:off x="640080" y="493776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Higher AOV = free gift triggered = better margin</a:t>
            </a:r>
            <a:endParaRPr lang="en-US" sz="1000" dirty="0"/>
          </a:p>
        </p:txBody>
      </p:sp>
      <p:sp>
        <p:nvSpPr>
          <p:cNvPr id="27" name="Shape 25"/>
          <p:cNvSpPr/>
          <p:nvPr/>
        </p:nvSpPr>
        <p:spPr>
          <a:xfrm>
            <a:off x="3291840" y="3566160"/>
            <a:ext cx="2651760" cy="2286000"/>
          </a:xfrm>
          <a:prstGeom prst="rect">
            <a:avLst>
              <a:gd name="adj" fmla="val 4000"/>
            </a:avLst>
          </a:prstGeom>
          <a:solidFill>
            <a:srgbClr val="FFFFFF"/>
          </a:solidFill>
          <a:ln w="25400">
            <a:solidFill>
              <a:srgbClr val="8B5CF6"/>
            </a:solidFill>
            <a:prstDash val="solid"/>
          </a:ln>
        </p:spPr>
      </p:sp>
      <p:sp>
        <p:nvSpPr>
          <p:cNvPr id="28" name="Text 26"/>
          <p:cNvSpPr/>
          <p:nvPr/>
        </p:nvSpPr>
        <p:spPr>
          <a:xfrm>
            <a:off x="3474720" y="3749040"/>
            <a:ext cx="2286000" cy="320040"/>
          </a:xfrm>
          <a:prstGeom prst="rect">
            <a:avLst/>
          </a:prstGeom>
          <a:noFill/>
          <a:ln/>
        </p:spPr>
        <p:txBody>
          <a:bodyPr wrap="square" rtlCol="0" anchor="ctr"/>
          <a:lstStyle/>
          <a:p>
            <a:pPr indent="0" marL="0">
              <a:buNone/>
            </a:pPr>
            <a:r>
              <a:rPr lang="en-US" sz="3200" b="1" dirty="0">
                <a:solidFill>
                  <a:srgbClr val="8B5CF6"/>
                </a:solidFill>
                <a:latin typeface="Plus Jakarta Sans" pitchFamily="34" charset="0"/>
                <a:ea typeface="Plus Jakarta Sans" pitchFamily="34" charset="-122"/>
                <a:cs typeface="Plus Jakarta Sans" pitchFamily="34" charset="-120"/>
              </a:rPr>
              <a:t>2.5–4%</a:t>
            </a:r>
            <a:endParaRPr lang="en-US" sz="3200" dirty="0"/>
          </a:p>
        </p:txBody>
      </p:sp>
      <p:sp>
        <p:nvSpPr>
          <p:cNvPr id="29" name="Text 27"/>
          <p:cNvSpPr/>
          <p:nvPr/>
        </p:nvSpPr>
        <p:spPr>
          <a:xfrm>
            <a:off x="3474720" y="443484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Conversion Rate</a:t>
            </a:r>
            <a:endParaRPr lang="en-US" sz="1200" dirty="0"/>
          </a:p>
        </p:txBody>
      </p:sp>
      <p:sp>
        <p:nvSpPr>
          <p:cNvPr id="30" name="Text 28"/>
          <p:cNvSpPr/>
          <p:nvPr/>
        </p:nvSpPr>
        <p:spPr>
          <a:xfrm>
            <a:off x="3474720" y="493776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1,000 visitors, &lt;25 buyers = store problem</a:t>
            </a:r>
            <a:endParaRPr lang="en-US" sz="1000" dirty="0"/>
          </a:p>
        </p:txBody>
      </p:sp>
      <p:sp>
        <p:nvSpPr>
          <p:cNvPr id="31" name="Shape 29"/>
          <p:cNvSpPr/>
          <p:nvPr/>
        </p:nvSpPr>
        <p:spPr>
          <a:xfrm>
            <a:off x="6126480" y="3566160"/>
            <a:ext cx="2651760" cy="2286000"/>
          </a:xfrm>
          <a:prstGeom prst="rect">
            <a:avLst>
              <a:gd name="adj" fmla="val 4000"/>
            </a:avLst>
          </a:prstGeom>
          <a:solidFill>
            <a:srgbClr val="FFFFFF"/>
          </a:solidFill>
          <a:ln w="25400">
            <a:solidFill>
              <a:srgbClr val="EF4444"/>
            </a:solidFill>
            <a:prstDash val="solid"/>
          </a:ln>
        </p:spPr>
      </p:sp>
      <p:sp>
        <p:nvSpPr>
          <p:cNvPr id="32" name="Text 30"/>
          <p:cNvSpPr/>
          <p:nvPr/>
        </p:nvSpPr>
        <p:spPr>
          <a:xfrm>
            <a:off x="6309360" y="3749040"/>
            <a:ext cx="2286000" cy="320040"/>
          </a:xfrm>
          <a:prstGeom prst="rect">
            <a:avLst/>
          </a:prstGeom>
          <a:noFill/>
          <a:ln/>
        </p:spPr>
        <p:txBody>
          <a:bodyPr wrap="square" rtlCol="0" anchor="ctr"/>
          <a:lstStyle/>
          <a:p>
            <a:pPr indent="0" marL="0">
              <a:buNone/>
            </a:pPr>
            <a:r>
              <a:rPr lang="en-US" sz="3200" b="1" dirty="0">
                <a:solidFill>
                  <a:srgbClr val="EF4444"/>
                </a:solidFill>
                <a:latin typeface="Plus Jakarta Sans" pitchFamily="34" charset="0"/>
                <a:ea typeface="Plus Jakarta Sans" pitchFamily="34" charset="-122"/>
                <a:cs typeface="Plus Jakarta Sans" pitchFamily="34" charset="-120"/>
              </a:rPr>
              <a:t>&lt; 60%</a:t>
            </a:r>
            <a:endParaRPr lang="en-US" sz="3200" dirty="0"/>
          </a:p>
        </p:txBody>
      </p:sp>
      <p:sp>
        <p:nvSpPr>
          <p:cNvPr id="33" name="Text 31"/>
          <p:cNvSpPr/>
          <p:nvPr/>
        </p:nvSpPr>
        <p:spPr>
          <a:xfrm>
            <a:off x="6309360" y="443484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Cart Abandonment Rate</a:t>
            </a:r>
            <a:endParaRPr lang="en-US" sz="1200" dirty="0"/>
          </a:p>
        </p:txBody>
      </p:sp>
      <p:sp>
        <p:nvSpPr>
          <p:cNvPr id="34" name="Text 32"/>
          <p:cNvSpPr/>
          <p:nvPr/>
        </p:nvSpPr>
        <p:spPr>
          <a:xfrm>
            <a:off x="6309360" y="493776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40%+ recovery via WhatsApp = big revenue win</a:t>
            </a:r>
            <a:endParaRPr lang="en-US" sz="1000" dirty="0"/>
          </a:p>
        </p:txBody>
      </p:sp>
      <p:sp>
        <p:nvSpPr>
          <p:cNvPr id="35" name="Shape 33"/>
          <p:cNvSpPr/>
          <p:nvPr/>
        </p:nvSpPr>
        <p:spPr>
          <a:xfrm>
            <a:off x="8961120" y="3566160"/>
            <a:ext cx="2651760" cy="2286000"/>
          </a:xfrm>
          <a:prstGeom prst="rect">
            <a:avLst>
              <a:gd name="adj" fmla="val 4000"/>
            </a:avLst>
          </a:prstGeom>
          <a:solidFill>
            <a:srgbClr val="FFFFFF"/>
          </a:solidFill>
          <a:ln w="25400">
            <a:solidFill>
              <a:srgbClr val="2B4EFF"/>
            </a:solidFill>
            <a:prstDash val="solid"/>
          </a:ln>
        </p:spPr>
      </p:sp>
      <p:sp>
        <p:nvSpPr>
          <p:cNvPr id="36" name="Text 34"/>
          <p:cNvSpPr/>
          <p:nvPr/>
        </p:nvSpPr>
        <p:spPr>
          <a:xfrm>
            <a:off x="9144000" y="3749040"/>
            <a:ext cx="2286000" cy="320040"/>
          </a:xfrm>
          <a:prstGeom prst="rect">
            <a:avLst/>
          </a:prstGeom>
          <a:noFill/>
          <a:ln/>
        </p:spPr>
        <p:txBody>
          <a:bodyPr wrap="square" rtlCol="0" anchor="ctr"/>
          <a:lstStyle/>
          <a:p>
            <a:pPr indent="0" marL="0">
              <a:buNone/>
            </a:pPr>
            <a:r>
              <a:rPr lang="en-US" sz="3200" b="1" dirty="0">
                <a:solidFill>
                  <a:srgbClr val="2B4EFF"/>
                </a:solidFill>
                <a:latin typeface="Plus Jakarta Sans" pitchFamily="34" charset="0"/>
                <a:ea typeface="Plus Jakarta Sans" pitchFamily="34" charset="-122"/>
                <a:cs typeface="Plus Jakarta Sans" pitchFamily="34" charset="-120"/>
              </a:rPr>
              <a:t>25%</a:t>
            </a:r>
            <a:endParaRPr lang="en-US" sz="3200" dirty="0"/>
          </a:p>
        </p:txBody>
      </p:sp>
      <p:sp>
        <p:nvSpPr>
          <p:cNvPr id="37" name="Text 35"/>
          <p:cNvSpPr/>
          <p:nvPr/>
        </p:nvSpPr>
        <p:spPr>
          <a:xfrm>
            <a:off x="9144000" y="4434840"/>
            <a:ext cx="2286000" cy="320040"/>
          </a:xfrm>
          <a:prstGeom prst="rect">
            <a:avLst/>
          </a:prstGeom>
          <a:noFill/>
          <a:ln/>
        </p:spPr>
        <p:txBody>
          <a:bodyPr wrap="square" rtlCol="0" anchor="ctr"/>
          <a:lstStyle/>
          <a:p>
            <a:pPr indent="0" marL="0">
              <a:buNone/>
            </a:pPr>
            <a:r>
              <a:rPr lang="en-US" sz="1200" b="1" dirty="0">
                <a:solidFill>
                  <a:srgbClr val="0B1629"/>
                </a:solidFill>
                <a:latin typeface="Plus Jakarta Sans" pitchFamily="34" charset="0"/>
                <a:ea typeface="Plus Jakarta Sans" pitchFamily="34" charset="-122"/>
                <a:cs typeface="Plus Jakarta Sans" pitchFamily="34" charset="-120"/>
              </a:rPr>
              <a:t>Repeat Purchase Rate</a:t>
            </a:r>
            <a:endParaRPr lang="en-US" sz="1200" dirty="0"/>
          </a:p>
        </p:txBody>
      </p:sp>
      <p:sp>
        <p:nvSpPr>
          <p:cNvPr id="38" name="Text 36"/>
          <p:cNvSpPr/>
          <p:nvPr/>
        </p:nvSpPr>
        <p:spPr>
          <a:xfrm>
            <a:off x="9144000" y="4937760"/>
            <a:ext cx="2286000" cy="320040"/>
          </a:xfrm>
          <a:prstGeom prst="rect">
            <a:avLst/>
          </a:prstGeom>
          <a:noFill/>
          <a:ln/>
        </p:spPr>
        <p:txBody>
          <a:bodyPr wrap="square" rtlCol="0" anchor="ctr"/>
          <a:lstStyle/>
          <a:p>
            <a:pPr indent="0" marL="0">
              <a:buNone/>
            </a:pPr>
            <a:r>
              <a:rPr lang="en-US" sz="1000" dirty="0">
                <a:solidFill>
                  <a:srgbClr val="666666"/>
                </a:solidFill>
                <a:latin typeface="Plus Jakarta Sans" pitchFamily="34" charset="0"/>
                <a:ea typeface="Plus Jakarta Sans" pitchFamily="34" charset="-122"/>
                <a:cs typeface="Plus Jakarta Sans" pitchFamily="34" charset="-120"/>
              </a:rPr>
              <a:t>Every repeat buyer = 5x acquisition efficiency</a:t>
            </a:r>
            <a:endParaRPr lang="en-US" sz="1000" dirty="0"/>
          </a:p>
        </p:txBody>
      </p:sp>
      <p:sp>
        <p:nvSpPr>
          <p:cNvPr id="39" name="Shape 37"/>
          <p:cNvSpPr/>
          <p:nvPr/>
        </p:nvSpPr>
        <p:spPr>
          <a:xfrm>
            <a:off x="457200" y="5669280"/>
            <a:ext cx="11247120" cy="548640"/>
          </a:xfrm>
          <a:prstGeom prst="rect">
            <a:avLst/>
          </a:prstGeom>
          <a:solidFill>
            <a:srgbClr val="0B1629"/>
          </a:solidFill>
          <a:ln/>
        </p:spPr>
      </p:sp>
      <p:sp>
        <p:nvSpPr>
          <p:cNvPr id="40" name="Text 38"/>
          <p:cNvSpPr/>
          <p:nvPr/>
        </p:nvSpPr>
        <p:spPr>
          <a:xfrm>
            <a:off x="640080" y="5806440"/>
            <a:ext cx="10881360" cy="320040"/>
          </a:xfrm>
          <a:prstGeom prst="rect">
            <a:avLst/>
          </a:prstGeom>
          <a:noFill/>
          <a:ln/>
        </p:spPr>
        <p:txBody>
          <a:bodyPr wrap="square" rtlCol="0" anchor="ctr"/>
          <a:lstStyle/>
          <a:p>
            <a:pPr indent="0" marL="0">
              <a:buNone/>
            </a:pPr>
            <a:r>
              <a:rPr lang="en-US" sz="1000" b="1" dirty="0">
                <a:solidFill>
                  <a:srgbClr val="FFFFFF"/>
                </a:solidFill>
                <a:latin typeface="Plus Jakarta Sans" pitchFamily="34" charset="0"/>
                <a:ea typeface="Plus Jakarta Sans" pitchFamily="34" charset="-122"/>
                <a:cs typeface="Plus Jakarta Sans" pitchFamily="34" charset="-120"/>
              </a:rPr>
              <a:t>You can only scale what you can measure. These 8 numbers tell the complete health of the Shopify growth engine.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REVENUE PROJECTIONS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Month-by-Month Revenue Forecast — ₹8L to ₹25L in 90 Days</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2651760" cy="1280160"/>
          </a:xfrm>
          <a:prstGeom prst="rect">
            <a:avLst>
              <a:gd name="adj" fmla="val 3571"/>
            </a:avLst>
          </a:prstGeom>
          <a:solidFill>
            <a:srgbClr val="FFFFFF"/>
          </a:solidFill>
          <a:ln/>
        </p:spPr>
      </p:sp>
      <p:sp>
        <p:nvSpPr>
          <p:cNvPr id="8" name="Shape 6"/>
          <p:cNvSpPr/>
          <p:nvPr/>
        </p:nvSpPr>
        <p:spPr>
          <a:xfrm>
            <a:off x="457200" y="1005840"/>
            <a:ext cx="2651760" cy="320040"/>
          </a:xfrm>
          <a:prstGeom prst="rect">
            <a:avLst/>
          </a:prstGeom>
          <a:solidFill>
            <a:srgbClr val="2B4EFF"/>
          </a:solidFill>
          <a:ln/>
        </p:spPr>
      </p:sp>
      <p:sp>
        <p:nvSpPr>
          <p:cNvPr id="9" name="Text 7"/>
          <p:cNvSpPr/>
          <p:nvPr/>
        </p:nvSpPr>
        <p:spPr>
          <a:xfrm>
            <a:off x="548640" y="1051560"/>
            <a:ext cx="2468880" cy="32004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M0 (NOW)</a:t>
            </a:r>
            <a:endParaRPr lang="en-US" sz="1000" dirty="0"/>
          </a:p>
        </p:txBody>
      </p:sp>
      <p:sp>
        <p:nvSpPr>
          <p:cNvPr id="10" name="Text 8"/>
          <p:cNvSpPr/>
          <p:nvPr/>
        </p:nvSpPr>
        <p:spPr>
          <a:xfrm>
            <a:off x="548640" y="1371600"/>
            <a:ext cx="2468880" cy="320040"/>
          </a:xfrm>
          <a:prstGeom prst="rect">
            <a:avLst/>
          </a:prstGeom>
          <a:noFill/>
          <a:ln/>
        </p:spPr>
        <p:txBody>
          <a:bodyPr wrap="square" rtlCol="0" anchor="ctr"/>
          <a:lstStyle/>
          <a:p>
            <a:pPr indent="0" marL="0">
              <a:buNone/>
            </a:pPr>
            <a:r>
              <a:rPr lang="en-US" sz="2400" b="1" dirty="0">
                <a:solidFill>
                  <a:srgbClr val="2B4EFF"/>
                </a:solidFill>
                <a:latin typeface="Plus Jakarta Sans" pitchFamily="34" charset="0"/>
                <a:ea typeface="Plus Jakarta Sans" pitchFamily="34" charset="-122"/>
                <a:cs typeface="Plus Jakarta Sans" pitchFamily="34" charset="-120"/>
              </a:rPr>
              <a:t>₹8L</a:t>
            </a:r>
            <a:endParaRPr lang="en-US" sz="2400" dirty="0"/>
          </a:p>
        </p:txBody>
      </p:sp>
      <p:sp>
        <p:nvSpPr>
          <p:cNvPr id="11" name="Text 9"/>
          <p:cNvSpPr/>
          <p:nvPr/>
        </p:nvSpPr>
        <p:spPr>
          <a:xfrm>
            <a:off x="548640" y="1828800"/>
            <a:ext cx="2468880" cy="320040"/>
          </a:xfrm>
          <a:prstGeom prst="rect">
            <a:avLst/>
          </a:prstGeom>
          <a:noFill/>
          <a:ln/>
        </p:spPr>
        <p:txBody>
          <a:bodyPr wrap="square" rtlCol="0" anchor="ctr"/>
          <a:lstStyle/>
          <a:p>
            <a:pPr indent="0" marL="0">
              <a:buNone/>
            </a:pPr>
            <a:r>
              <a:rPr lang="en-US" sz="900" dirty="0">
                <a:solidFill>
                  <a:srgbClr val="666666"/>
                </a:solidFill>
                <a:latin typeface="Plus Jakarta Sans" pitchFamily="34" charset="0"/>
                <a:ea typeface="Plus Jakarta Sans" pitchFamily="34" charset="-122"/>
                <a:cs typeface="Plus Jakarta Sans" pitchFamily="34" charset="-120"/>
              </a:rPr>
              <a:t>~133 orders · AOV ₹1,500\nBaseline — pre-strategy</a:t>
            </a:r>
            <a:endParaRPr lang="en-US" sz="900" dirty="0"/>
          </a:p>
        </p:txBody>
      </p:sp>
      <p:sp>
        <p:nvSpPr>
          <p:cNvPr id="12" name="Shape 10"/>
          <p:cNvSpPr/>
          <p:nvPr/>
        </p:nvSpPr>
        <p:spPr>
          <a:xfrm>
            <a:off x="3291840" y="1005840"/>
            <a:ext cx="2651760" cy="1280160"/>
          </a:xfrm>
          <a:prstGeom prst="rect">
            <a:avLst>
              <a:gd name="adj" fmla="val 3571"/>
            </a:avLst>
          </a:prstGeom>
          <a:solidFill>
            <a:srgbClr val="FFFFFF"/>
          </a:solidFill>
          <a:ln/>
        </p:spPr>
      </p:sp>
      <p:sp>
        <p:nvSpPr>
          <p:cNvPr id="13" name="Shape 11"/>
          <p:cNvSpPr/>
          <p:nvPr/>
        </p:nvSpPr>
        <p:spPr>
          <a:xfrm>
            <a:off x="3291840" y="1005840"/>
            <a:ext cx="2651760" cy="320040"/>
          </a:xfrm>
          <a:prstGeom prst="rect">
            <a:avLst/>
          </a:prstGeom>
          <a:solidFill>
            <a:srgbClr val="2B4EFF"/>
          </a:solidFill>
          <a:ln/>
        </p:spPr>
      </p:sp>
      <p:sp>
        <p:nvSpPr>
          <p:cNvPr id="14" name="Text 12"/>
          <p:cNvSpPr/>
          <p:nvPr/>
        </p:nvSpPr>
        <p:spPr>
          <a:xfrm>
            <a:off x="3383280" y="1051560"/>
            <a:ext cx="2468880" cy="32004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1</a:t>
            </a:r>
            <a:endParaRPr lang="en-US" sz="1000" dirty="0"/>
          </a:p>
        </p:txBody>
      </p:sp>
      <p:sp>
        <p:nvSpPr>
          <p:cNvPr id="15" name="Text 13"/>
          <p:cNvSpPr/>
          <p:nvPr/>
        </p:nvSpPr>
        <p:spPr>
          <a:xfrm>
            <a:off x="3383280" y="1371600"/>
            <a:ext cx="2468880" cy="320040"/>
          </a:xfrm>
          <a:prstGeom prst="rect">
            <a:avLst/>
          </a:prstGeom>
          <a:noFill/>
          <a:ln/>
        </p:spPr>
        <p:txBody>
          <a:bodyPr wrap="square" rtlCol="0" anchor="ctr"/>
          <a:lstStyle/>
          <a:p>
            <a:pPr indent="0" marL="0">
              <a:buNone/>
            </a:pPr>
            <a:r>
              <a:rPr lang="en-US" sz="2400" b="1" dirty="0">
                <a:solidFill>
                  <a:srgbClr val="2B4EFF"/>
                </a:solidFill>
                <a:latin typeface="Plus Jakarta Sans" pitchFamily="34" charset="0"/>
                <a:ea typeface="Plus Jakarta Sans" pitchFamily="34" charset="-122"/>
                <a:cs typeface="Plus Jakarta Sans" pitchFamily="34" charset="-120"/>
              </a:rPr>
              <a:t>₹5</a:t>
            </a:r>
            <a:endParaRPr lang="en-US" sz="2400" dirty="0"/>
          </a:p>
        </p:txBody>
      </p:sp>
      <p:sp>
        <p:nvSpPr>
          <p:cNvPr id="16" name="Text 14"/>
          <p:cNvSpPr/>
          <p:nvPr/>
        </p:nvSpPr>
        <p:spPr>
          <a:xfrm>
            <a:off x="3383280" y="1828800"/>
            <a:ext cx="2468880" cy="320040"/>
          </a:xfrm>
          <a:prstGeom prst="rect">
            <a:avLst/>
          </a:prstGeom>
          <a:noFill/>
          <a:ln/>
        </p:spPr>
        <p:txBody>
          <a:bodyPr wrap="square" rtlCol="0" anchor="ctr"/>
          <a:lstStyle/>
          <a:p>
            <a:pPr indent="0" marL="0">
              <a:buNone/>
            </a:pPr>
            <a:r>
              <a:rPr lang="en-US" sz="900" dirty="0">
                <a:solidFill>
                  <a:srgbClr val="666666"/>
                </a:solidFill>
                <a:latin typeface="Plus Jakarta Sans" pitchFamily="34" charset="0"/>
                <a:ea typeface="Plus Jakarta Sans" pitchFamily="34" charset="-122"/>
                <a:cs typeface="Plus Jakarta Sans" pitchFamily="34" charset="-120"/>
              </a:rPr>
              <a:t>~375 orders · AOV ₹1,600\nAll channels live + seeding</a:t>
            </a:r>
            <a:endParaRPr lang="en-US" sz="900" dirty="0"/>
          </a:p>
        </p:txBody>
      </p:sp>
      <p:sp>
        <p:nvSpPr>
          <p:cNvPr id="17" name="Shape 15"/>
          <p:cNvSpPr/>
          <p:nvPr/>
        </p:nvSpPr>
        <p:spPr>
          <a:xfrm>
            <a:off x="6126480" y="1005840"/>
            <a:ext cx="2651760" cy="1280160"/>
          </a:xfrm>
          <a:prstGeom prst="rect">
            <a:avLst>
              <a:gd name="adj" fmla="val 3571"/>
            </a:avLst>
          </a:prstGeom>
          <a:solidFill>
            <a:srgbClr val="FFFFFF"/>
          </a:solidFill>
          <a:ln/>
        </p:spPr>
      </p:sp>
      <p:sp>
        <p:nvSpPr>
          <p:cNvPr id="18" name="Shape 16"/>
          <p:cNvSpPr/>
          <p:nvPr/>
        </p:nvSpPr>
        <p:spPr>
          <a:xfrm>
            <a:off x="6126480" y="1005840"/>
            <a:ext cx="2651760" cy="320040"/>
          </a:xfrm>
          <a:prstGeom prst="rect">
            <a:avLst/>
          </a:prstGeom>
          <a:solidFill>
            <a:srgbClr val="10B981"/>
          </a:solidFill>
          <a:ln/>
        </p:spPr>
      </p:sp>
      <p:sp>
        <p:nvSpPr>
          <p:cNvPr id="19" name="Text 17"/>
          <p:cNvSpPr/>
          <p:nvPr/>
        </p:nvSpPr>
        <p:spPr>
          <a:xfrm>
            <a:off x="6217920" y="1051560"/>
            <a:ext cx="2468880" cy="32004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2</a:t>
            </a:r>
            <a:endParaRPr lang="en-US" sz="1000" dirty="0"/>
          </a:p>
        </p:txBody>
      </p:sp>
      <p:sp>
        <p:nvSpPr>
          <p:cNvPr id="20" name="Text 18"/>
          <p:cNvSpPr/>
          <p:nvPr/>
        </p:nvSpPr>
        <p:spPr>
          <a:xfrm>
            <a:off x="6217920" y="1371600"/>
            <a:ext cx="2468880" cy="320040"/>
          </a:xfrm>
          <a:prstGeom prst="rect">
            <a:avLst/>
          </a:prstGeom>
          <a:noFill/>
          <a:ln/>
        </p:spPr>
        <p:txBody>
          <a:bodyPr wrap="square" rtlCol="0" anchor="ctr"/>
          <a:lstStyle/>
          <a:p>
            <a:pPr indent="0" marL="0">
              <a:buNone/>
            </a:pPr>
            <a:r>
              <a:rPr lang="en-US" sz="2400" b="1" dirty="0">
                <a:solidFill>
                  <a:srgbClr val="10B981"/>
                </a:solidFill>
                <a:latin typeface="Plus Jakarta Sans" pitchFamily="34" charset="0"/>
                <a:ea typeface="Plus Jakarta Sans" pitchFamily="34" charset="-122"/>
                <a:cs typeface="Plus Jakarta Sans" pitchFamily="34" charset="-120"/>
              </a:rPr>
              <a:t>₹12.5</a:t>
            </a:r>
            <a:endParaRPr lang="en-US" sz="2400" dirty="0"/>
          </a:p>
        </p:txBody>
      </p:sp>
      <p:sp>
        <p:nvSpPr>
          <p:cNvPr id="21" name="Text 19"/>
          <p:cNvSpPr/>
          <p:nvPr/>
        </p:nvSpPr>
        <p:spPr>
          <a:xfrm>
            <a:off x="6217920" y="1828800"/>
            <a:ext cx="2468880" cy="320040"/>
          </a:xfrm>
          <a:prstGeom prst="rect">
            <a:avLst/>
          </a:prstGeom>
          <a:noFill/>
          <a:ln/>
        </p:spPr>
        <p:txBody>
          <a:bodyPr wrap="square" rtlCol="0" anchor="ctr"/>
          <a:lstStyle/>
          <a:p>
            <a:pPr indent="0" marL="0">
              <a:buNone/>
            </a:pPr>
            <a:r>
              <a:rPr lang="en-US" sz="900" dirty="0">
                <a:solidFill>
                  <a:srgbClr val="666666"/>
                </a:solidFill>
                <a:latin typeface="Plus Jakarta Sans" pitchFamily="34" charset="0"/>
                <a:ea typeface="Plus Jakarta Sans" pitchFamily="34" charset="-122"/>
                <a:cs typeface="Plus Jakarta Sans" pitchFamily="34" charset="-120"/>
              </a:rPr>
              <a:t>~882 orders · AOV ₹1,700\nScale winners + retention</a:t>
            </a:r>
            <a:endParaRPr lang="en-US" sz="900" dirty="0"/>
          </a:p>
        </p:txBody>
      </p:sp>
      <p:sp>
        <p:nvSpPr>
          <p:cNvPr id="22" name="Shape 20"/>
          <p:cNvSpPr/>
          <p:nvPr/>
        </p:nvSpPr>
        <p:spPr>
          <a:xfrm>
            <a:off x="8961120" y="1005840"/>
            <a:ext cx="2651760" cy="1280160"/>
          </a:xfrm>
          <a:prstGeom prst="rect">
            <a:avLst>
              <a:gd name="adj" fmla="val 3571"/>
            </a:avLst>
          </a:prstGeom>
          <a:solidFill>
            <a:srgbClr val="FFFFFF"/>
          </a:solidFill>
          <a:ln/>
        </p:spPr>
      </p:sp>
      <p:sp>
        <p:nvSpPr>
          <p:cNvPr id="23" name="Shape 21"/>
          <p:cNvSpPr/>
          <p:nvPr/>
        </p:nvSpPr>
        <p:spPr>
          <a:xfrm>
            <a:off x="8961120" y="1005840"/>
            <a:ext cx="2651760" cy="320040"/>
          </a:xfrm>
          <a:prstGeom prst="rect">
            <a:avLst/>
          </a:prstGeom>
          <a:solidFill>
            <a:srgbClr val="F59E0B"/>
          </a:solidFill>
          <a:ln/>
        </p:spPr>
      </p:sp>
      <p:sp>
        <p:nvSpPr>
          <p:cNvPr id="24" name="Text 22"/>
          <p:cNvSpPr/>
          <p:nvPr/>
        </p:nvSpPr>
        <p:spPr>
          <a:xfrm>
            <a:off x="9052560" y="1051560"/>
            <a:ext cx="2468880" cy="32004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3</a:t>
            </a:r>
            <a:endParaRPr lang="en-US" sz="1000" dirty="0"/>
          </a:p>
        </p:txBody>
      </p:sp>
      <p:sp>
        <p:nvSpPr>
          <p:cNvPr id="25" name="Text 23"/>
          <p:cNvSpPr/>
          <p:nvPr/>
        </p:nvSpPr>
        <p:spPr>
          <a:xfrm>
            <a:off x="9052560" y="1371600"/>
            <a:ext cx="2468880" cy="320040"/>
          </a:xfrm>
          <a:prstGeom prst="rect">
            <a:avLst/>
          </a:prstGeom>
          <a:noFill/>
          <a:ln/>
        </p:spPr>
        <p:txBody>
          <a:bodyPr wrap="square" rtlCol="0" anchor="ctr"/>
          <a:lstStyle/>
          <a:p>
            <a:pPr indent="0" marL="0">
              <a:buNone/>
            </a:pPr>
            <a:r>
              <a:rPr lang="en-US" sz="2400" b="1" dirty="0">
                <a:solidFill>
                  <a:srgbClr val="F59E0B"/>
                </a:solidFill>
                <a:latin typeface="Plus Jakarta Sans" pitchFamily="34" charset="0"/>
                <a:ea typeface="Plus Jakarta Sans" pitchFamily="34" charset="-122"/>
                <a:cs typeface="Plus Jakarta Sans" pitchFamily="34" charset="-120"/>
              </a:rPr>
              <a:t>₹25L</a:t>
            </a:r>
            <a:endParaRPr lang="en-US" sz="2400" dirty="0"/>
          </a:p>
        </p:txBody>
      </p:sp>
      <p:sp>
        <p:nvSpPr>
          <p:cNvPr id="26" name="Text 24"/>
          <p:cNvSpPr/>
          <p:nvPr/>
        </p:nvSpPr>
        <p:spPr>
          <a:xfrm>
            <a:off x="9052560" y="1828800"/>
            <a:ext cx="2468880" cy="320040"/>
          </a:xfrm>
          <a:prstGeom prst="rect">
            <a:avLst/>
          </a:prstGeom>
          <a:noFill/>
          <a:ln/>
        </p:spPr>
        <p:txBody>
          <a:bodyPr wrap="square" rtlCol="0" anchor="ctr"/>
          <a:lstStyle/>
          <a:p>
            <a:pPr indent="0" marL="0">
              <a:buNone/>
            </a:pPr>
            <a:r>
              <a:rPr lang="en-US" sz="900" dirty="0">
                <a:solidFill>
                  <a:srgbClr val="666666"/>
                </a:solidFill>
                <a:latin typeface="Plus Jakarta Sans" pitchFamily="34" charset="0"/>
                <a:ea typeface="Plus Jakarta Sans" pitchFamily="34" charset="-122"/>
                <a:cs typeface="Plus Jakarta Sans" pitchFamily="34" charset="-120"/>
              </a:rPr>
              <a:t>~1,667 orders · AOV ₹1,800\nFull scale + repeat buyers</a:t>
            </a:r>
            <a:endParaRPr lang="en-US" sz="900" dirty="0"/>
          </a:p>
        </p:txBody>
      </p:sp>
      <p:sp>
        <p:nvSpPr>
          <p:cNvPr id="27" name="Shape 25"/>
          <p:cNvSpPr/>
          <p:nvPr/>
        </p:nvSpPr>
        <p:spPr>
          <a:xfrm>
            <a:off x="457200" y="2560320"/>
            <a:ext cx="5394960" cy="3566160"/>
          </a:xfrm>
          <a:prstGeom prst="rect">
            <a:avLst>
              <a:gd name="adj" fmla="val 2564"/>
            </a:avLst>
          </a:prstGeom>
          <a:solidFill>
            <a:srgbClr val="FFFFFF"/>
          </a:solidFill>
          <a:ln/>
        </p:spPr>
      </p:sp>
      <p:sp>
        <p:nvSpPr>
          <p:cNvPr id="28" name="Shape 26"/>
          <p:cNvSpPr/>
          <p:nvPr/>
        </p:nvSpPr>
        <p:spPr>
          <a:xfrm>
            <a:off x="1097280" y="5486400"/>
            <a:ext cx="548640" cy="365760"/>
          </a:xfrm>
          <a:prstGeom prst="rect">
            <a:avLst/>
          </a:prstGeom>
          <a:solidFill>
            <a:srgbClr val="2B4EFF"/>
          </a:solidFill>
          <a:ln/>
        </p:spPr>
      </p:sp>
      <p:sp>
        <p:nvSpPr>
          <p:cNvPr id="29" name="Shape 27"/>
          <p:cNvSpPr/>
          <p:nvPr/>
        </p:nvSpPr>
        <p:spPr>
          <a:xfrm>
            <a:off x="2194560" y="4937760"/>
            <a:ext cx="548640" cy="914400"/>
          </a:xfrm>
          <a:prstGeom prst="rect">
            <a:avLst/>
          </a:prstGeom>
          <a:solidFill>
            <a:srgbClr val="2B4EFF"/>
          </a:solidFill>
          <a:ln/>
        </p:spPr>
      </p:sp>
      <p:sp>
        <p:nvSpPr>
          <p:cNvPr id="30" name="Shape 28"/>
          <p:cNvSpPr/>
          <p:nvPr/>
        </p:nvSpPr>
        <p:spPr>
          <a:xfrm>
            <a:off x="3291840" y="3840480"/>
            <a:ext cx="548640" cy="2011680"/>
          </a:xfrm>
          <a:prstGeom prst="rect">
            <a:avLst/>
          </a:prstGeom>
          <a:solidFill>
            <a:srgbClr val="10B981"/>
          </a:solidFill>
          <a:ln/>
        </p:spPr>
      </p:sp>
      <p:sp>
        <p:nvSpPr>
          <p:cNvPr id="31" name="Shape 29"/>
          <p:cNvSpPr/>
          <p:nvPr/>
        </p:nvSpPr>
        <p:spPr>
          <a:xfrm>
            <a:off x="4389120" y="2926080"/>
            <a:ext cx="548640" cy="2926080"/>
          </a:xfrm>
          <a:prstGeom prst="rect">
            <a:avLst/>
          </a:prstGeom>
          <a:solidFill>
            <a:srgbClr val="F59E0B"/>
          </a:solidFill>
          <a:ln/>
        </p:spPr>
      </p:sp>
      <p:sp>
        <p:nvSpPr>
          <p:cNvPr id="32" name="Text 30"/>
          <p:cNvSpPr/>
          <p:nvPr/>
        </p:nvSpPr>
        <p:spPr>
          <a:xfrm>
            <a:off x="731520" y="5897880"/>
            <a:ext cx="4846320" cy="320040"/>
          </a:xfrm>
          <a:prstGeom prst="rect">
            <a:avLst/>
          </a:prstGeom>
          <a:noFill/>
          <a:ln/>
        </p:spPr>
        <p:txBody>
          <a:bodyPr wrap="square" rtlCol="0" anchor="ctr"/>
          <a:lstStyle/>
          <a:p>
            <a:pPr indent="0" marL="0">
              <a:buNone/>
            </a:pPr>
            <a:r>
              <a:rPr lang="en-US" sz="1000" dirty="0">
                <a:solidFill>
                  <a:srgbClr val="555555"/>
                </a:solidFill>
                <a:latin typeface="Plus Jakarta Sans" pitchFamily="34" charset="0"/>
                <a:ea typeface="Plus Jakarta Sans" pitchFamily="34" charset="-122"/>
                <a:cs typeface="Plus Jakarta Sans" pitchFamily="34" charset="-120"/>
              </a:rPr>
              <a:t>M0 Now         Month 1         Month 2         Month 3</a:t>
            </a:r>
            <a:endParaRPr lang="en-US" sz="1000" dirty="0"/>
          </a:p>
        </p:txBody>
      </p:sp>
      <p:sp>
        <p:nvSpPr>
          <p:cNvPr id="33" name="Shape 31"/>
          <p:cNvSpPr/>
          <p:nvPr/>
        </p:nvSpPr>
        <p:spPr>
          <a:xfrm>
            <a:off x="6309360" y="2560320"/>
            <a:ext cx="5394960" cy="3566160"/>
          </a:xfrm>
          <a:prstGeom prst="rect">
            <a:avLst>
              <a:gd name="adj" fmla="val 2564"/>
            </a:avLst>
          </a:prstGeom>
          <a:solidFill>
            <a:srgbClr val="FFFFFF"/>
          </a:solidFill>
          <a:ln/>
        </p:spPr>
      </p:sp>
      <p:sp>
        <p:nvSpPr>
          <p:cNvPr id="34" name="Shape 32"/>
          <p:cNvSpPr/>
          <p:nvPr/>
        </p:nvSpPr>
        <p:spPr>
          <a:xfrm>
            <a:off x="6309360" y="2560320"/>
            <a:ext cx="5394960" cy="457200"/>
          </a:xfrm>
          <a:prstGeom prst="rect">
            <a:avLst/>
          </a:prstGeom>
          <a:solidFill>
            <a:srgbClr val="0B1629"/>
          </a:solidFill>
          <a:ln/>
        </p:spPr>
      </p:sp>
      <p:sp>
        <p:nvSpPr>
          <p:cNvPr id="35" name="Text 33"/>
          <p:cNvSpPr/>
          <p:nvPr/>
        </p:nvSpPr>
        <p:spPr>
          <a:xfrm>
            <a:off x="6492240" y="2697480"/>
            <a:ext cx="521208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MONTH 3 ATTRIBUTION</a:t>
            </a:r>
            <a:endParaRPr lang="en-US" sz="1200" dirty="0"/>
          </a:p>
        </p:txBody>
      </p:sp>
      <p:sp>
        <p:nvSpPr>
          <p:cNvPr id="36" name="Text 34"/>
          <p:cNvSpPr/>
          <p:nvPr/>
        </p:nvSpPr>
        <p:spPr>
          <a:xfrm>
            <a:off x="6492240" y="3200400"/>
            <a:ext cx="5029200" cy="0"/>
          </a:xfrm>
          <a:prstGeom prst="rect">
            <a:avLst/>
          </a:prstGeom>
          <a:noFill/>
          <a:ln/>
        </p:spPr>
        <p:txBody>
          <a:bodyPr wrap="square" rtlCol="0" anchor="ctr"/>
          <a:lstStyle/>
          <a:p>
            <a:pPr indent="0" marL="0">
              <a:lnSpc>
                <a:spcPts val="2200"/>
              </a:lnSpc>
              <a:buNone/>
            </a:pPr>
            <a:r>
              <a:rPr lang="en-US" sz="1100" dirty="0">
                <a:solidFill>
                  <a:srgbClr val="0B1629"/>
                </a:solidFill>
                <a:latin typeface="Plus Jakarta Sans" pitchFamily="34" charset="0"/>
                <a:ea typeface="Plus Jakarta Sans" pitchFamily="34" charset="-122"/>
                <a:cs typeface="Plus Jakarta Sans" pitchFamily="34" charset="-120"/>
              </a:rPr>
              <a:t>Meta Ads: 40% — ₹10\nGoogle+Search: 25% — ₹6.25\nInfluencer: 15% — ₹3.75\nRetention: 15% — ₹3.75\nOrganic/Direct: 5% — ₹1.25\n\nMonthly Spend: ₹5,00,000 · Blended ROAS: 5x · Gross Margin (40%): ₹10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90-DAY ROADMAP</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Month-by-Month Execution Plan — Nothing Left to Chance</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5120640"/>
          </a:xfrm>
          <a:prstGeom prst="rect">
            <a:avLst>
              <a:gd name="adj" fmla="val 2564"/>
            </a:avLst>
          </a:prstGeom>
          <a:solidFill>
            <a:srgbClr val="2B4EFF"/>
          </a:solidFill>
          <a:ln w="25400">
            <a:solidFill>
              <a:srgbClr val="2B4EFF"/>
            </a:solidFill>
            <a:prstDash val="solid"/>
          </a:ln>
        </p:spPr>
      </p:sp>
      <p:sp>
        <p:nvSpPr>
          <p:cNvPr id="8" name="Shape 6"/>
          <p:cNvSpPr/>
          <p:nvPr/>
        </p:nvSpPr>
        <p:spPr>
          <a:xfrm>
            <a:off x="457200" y="1005840"/>
            <a:ext cx="3566160" cy="731520"/>
          </a:xfrm>
          <a:prstGeom prst="rect">
            <a:avLst/>
          </a:prstGeom>
          <a:solidFill>
            <a:srgbClr val="2B4EFF"/>
          </a:solidFill>
          <a:ln/>
        </p:spPr>
      </p:sp>
      <p:sp>
        <p:nvSpPr>
          <p:cNvPr id="9" name="Text 7"/>
          <p:cNvSpPr/>
          <p:nvPr/>
        </p:nvSpPr>
        <p:spPr>
          <a:xfrm>
            <a:off x="5943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MONTH 01</a:t>
            </a:r>
            <a:endParaRPr lang="en-US" sz="1300" dirty="0"/>
          </a:p>
        </p:txBody>
      </p:sp>
      <p:sp>
        <p:nvSpPr>
          <p:cNvPr id="10" name="Text 8"/>
          <p:cNvSpPr/>
          <p:nvPr/>
        </p:nvSpPr>
        <p:spPr>
          <a:xfrm>
            <a:off x="594360" y="1371600"/>
            <a:ext cx="3200400" cy="320040"/>
          </a:xfrm>
          <a:prstGeom prst="rect">
            <a:avLst/>
          </a:prstGeom>
          <a:noFill/>
          <a:ln/>
        </p:spPr>
        <p:txBody>
          <a:bodyPr wrap="square" rtlCol="0" anchor="ctr"/>
          <a:lstStyle/>
          <a:p>
            <a:pPr indent="0" marL="0">
              <a:buNone/>
            </a:pPr>
            <a:r>
              <a:rPr lang="en-US" sz="900" dirty="0">
                <a:solidFill>
                  <a:srgbClr val="FFFFFF"/>
                </a:solidFill>
                <a:latin typeface="Plus Jakarta Sans" pitchFamily="34" charset="0"/>
                <a:ea typeface="Plus Jakarta Sans" pitchFamily="34" charset="-122"/>
                <a:cs typeface="Plus Jakarta Sans" pitchFamily="34" charset="-120"/>
              </a:rPr>
              <a:t>FOUNDATION &amp; LAUNCH</a:t>
            </a:r>
            <a:endParaRPr lang="en-US" sz="900" dirty="0"/>
          </a:p>
        </p:txBody>
      </p:sp>
      <p:sp>
        <p:nvSpPr>
          <p:cNvPr id="11" name="Shape 9"/>
          <p:cNvSpPr/>
          <p:nvPr/>
        </p:nvSpPr>
        <p:spPr>
          <a:xfrm>
            <a:off x="2560320" y="1143000"/>
            <a:ext cx="1280160" cy="457200"/>
          </a:xfrm>
          <a:prstGeom prst="rect">
            <a:avLst>
              <a:gd name="adj" fmla="val 10000"/>
            </a:avLst>
          </a:prstGeom>
          <a:solidFill>
            <a:srgbClr val="FFFFFF"/>
          </a:solidFill>
          <a:ln/>
        </p:spPr>
      </p:sp>
      <p:sp>
        <p:nvSpPr>
          <p:cNvPr id="12" name="Text 10"/>
          <p:cNvSpPr/>
          <p:nvPr/>
        </p:nvSpPr>
        <p:spPr>
          <a:xfrm>
            <a:off x="2560320" y="1161288"/>
            <a:ext cx="1280160" cy="320040"/>
          </a:xfrm>
          <a:prstGeom prst="rect">
            <a:avLst/>
          </a:prstGeom>
          <a:noFill/>
          <a:ln/>
        </p:spPr>
        <p:txBody>
          <a:bodyPr wrap="square" rtlCol="0" anchor="ctr"/>
          <a:lstStyle/>
          <a:p>
            <a:pPr algn="ctr" indent="0" marL="0">
              <a:buNone/>
            </a:pPr>
            <a:r>
              <a:rPr lang="en-US" sz="1000" b="1" dirty="0">
                <a:solidFill>
                  <a:srgbClr val="2B4EFF"/>
                </a:solidFill>
                <a:latin typeface="Plus Jakarta Sans" pitchFamily="34" charset="0"/>
                <a:ea typeface="Plus Jakarta Sans" pitchFamily="34" charset="-122"/>
                <a:cs typeface="Plus Jakarta Sans" pitchFamily="34" charset="-120"/>
              </a:rPr>
              <a:t>TARGET\n₹5</a:t>
            </a:r>
            <a:endParaRPr lang="en-US" sz="1000" dirty="0"/>
          </a:p>
        </p:txBody>
      </p:sp>
      <p:sp>
        <p:nvSpPr>
          <p:cNvPr id="13" name="Text 11"/>
          <p:cNvSpPr/>
          <p:nvPr/>
        </p:nvSpPr>
        <p:spPr>
          <a:xfrm>
            <a:off x="640080" y="1920240"/>
            <a:ext cx="32004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Shopify store audit — speed, product pages.\n· Meta Pixel + GA4 + WhatsApp API connected.\n· Premium product photography — 6 images/SKU.\n· 10 ad creatives produced (5 angles × 2 formats).\n· Google Shopping feed with SEO-optimised titles.\n· WhatsApp flows live — 8 touchpoints.\n· 15 micro influencers contacted, confirmed.</a:t>
            </a:r>
            <a:endParaRPr lang="en-US" sz="1000" dirty="0"/>
          </a:p>
        </p:txBody>
      </p:sp>
      <p:sp>
        <p:nvSpPr>
          <p:cNvPr id="14" name="Shape 12"/>
          <p:cNvSpPr/>
          <p:nvPr/>
        </p:nvSpPr>
        <p:spPr>
          <a:xfrm>
            <a:off x="4343400" y="1005840"/>
            <a:ext cx="3566160" cy="5120640"/>
          </a:xfrm>
          <a:prstGeom prst="rect">
            <a:avLst>
              <a:gd name="adj" fmla="val 2564"/>
            </a:avLst>
          </a:prstGeom>
          <a:solidFill>
            <a:srgbClr val="10B981"/>
          </a:solidFill>
          <a:ln w="25400">
            <a:solidFill>
              <a:srgbClr val="10B981"/>
            </a:solidFill>
            <a:prstDash val="solid"/>
          </a:ln>
        </p:spPr>
      </p:sp>
      <p:sp>
        <p:nvSpPr>
          <p:cNvPr id="15" name="Shape 13"/>
          <p:cNvSpPr/>
          <p:nvPr/>
        </p:nvSpPr>
        <p:spPr>
          <a:xfrm>
            <a:off x="4343400" y="1005840"/>
            <a:ext cx="3566160" cy="731520"/>
          </a:xfrm>
          <a:prstGeom prst="rect">
            <a:avLst/>
          </a:prstGeom>
          <a:solidFill>
            <a:srgbClr val="10B981"/>
          </a:solidFill>
          <a:ln/>
        </p:spPr>
      </p:sp>
      <p:sp>
        <p:nvSpPr>
          <p:cNvPr id="16" name="Text 14"/>
          <p:cNvSpPr/>
          <p:nvPr/>
        </p:nvSpPr>
        <p:spPr>
          <a:xfrm>
            <a:off x="44805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MONTH 02</a:t>
            </a:r>
            <a:endParaRPr lang="en-US" sz="1300" dirty="0"/>
          </a:p>
        </p:txBody>
      </p:sp>
      <p:sp>
        <p:nvSpPr>
          <p:cNvPr id="17" name="Text 15"/>
          <p:cNvSpPr/>
          <p:nvPr/>
        </p:nvSpPr>
        <p:spPr>
          <a:xfrm>
            <a:off x="4480560" y="1371600"/>
            <a:ext cx="3200400" cy="320040"/>
          </a:xfrm>
          <a:prstGeom prst="rect">
            <a:avLst/>
          </a:prstGeom>
          <a:noFill/>
          <a:ln/>
        </p:spPr>
        <p:txBody>
          <a:bodyPr wrap="square" rtlCol="0" anchor="ctr"/>
          <a:lstStyle/>
          <a:p>
            <a:pPr indent="0" marL="0">
              <a:buNone/>
            </a:pPr>
            <a:r>
              <a:rPr lang="en-US" sz="900" dirty="0">
                <a:solidFill>
                  <a:srgbClr val="FFFFFF"/>
                </a:solidFill>
                <a:latin typeface="Plus Jakarta Sans" pitchFamily="34" charset="0"/>
                <a:ea typeface="Plus Jakarta Sans" pitchFamily="34" charset="-122"/>
                <a:cs typeface="Plus Jakarta Sans" pitchFamily="34" charset="-120"/>
              </a:rPr>
              <a:t>SCALE WINNERS</a:t>
            </a:r>
            <a:endParaRPr lang="en-US" sz="900" dirty="0"/>
          </a:p>
        </p:txBody>
      </p:sp>
      <p:sp>
        <p:nvSpPr>
          <p:cNvPr id="18" name="Shape 16"/>
          <p:cNvSpPr/>
          <p:nvPr/>
        </p:nvSpPr>
        <p:spPr>
          <a:xfrm>
            <a:off x="6446520" y="1143000"/>
            <a:ext cx="1280160" cy="457200"/>
          </a:xfrm>
          <a:prstGeom prst="rect">
            <a:avLst>
              <a:gd name="adj" fmla="val 10000"/>
            </a:avLst>
          </a:prstGeom>
          <a:solidFill>
            <a:srgbClr val="FFFFFF"/>
          </a:solidFill>
          <a:ln/>
        </p:spPr>
      </p:sp>
      <p:sp>
        <p:nvSpPr>
          <p:cNvPr id="19" name="Text 17"/>
          <p:cNvSpPr/>
          <p:nvPr/>
        </p:nvSpPr>
        <p:spPr>
          <a:xfrm>
            <a:off x="6446520" y="1161288"/>
            <a:ext cx="1280160" cy="320040"/>
          </a:xfrm>
          <a:prstGeom prst="rect">
            <a:avLst/>
          </a:prstGeom>
          <a:noFill/>
          <a:ln/>
        </p:spPr>
        <p:txBody>
          <a:bodyPr wrap="square" rtlCol="0" anchor="ctr"/>
          <a:lstStyle/>
          <a:p>
            <a:pPr algn="ctr" indent="0" marL="0">
              <a:buNone/>
            </a:pPr>
            <a:r>
              <a:rPr lang="en-US" sz="1000" b="1" dirty="0">
                <a:solidFill>
                  <a:srgbClr val="10B981"/>
                </a:solidFill>
                <a:latin typeface="Plus Jakarta Sans" pitchFamily="34" charset="0"/>
                <a:ea typeface="Plus Jakarta Sans" pitchFamily="34" charset="-122"/>
                <a:cs typeface="Plus Jakarta Sans" pitchFamily="34" charset="-120"/>
              </a:rPr>
              <a:t>TARGET\n₹12.5</a:t>
            </a:r>
            <a:endParaRPr lang="en-US" sz="1000" dirty="0"/>
          </a:p>
        </p:txBody>
      </p:sp>
      <p:sp>
        <p:nvSpPr>
          <p:cNvPr id="20" name="Text 18"/>
          <p:cNvSpPr/>
          <p:nvPr/>
        </p:nvSpPr>
        <p:spPr>
          <a:xfrm>
            <a:off x="4526280" y="1920240"/>
            <a:ext cx="32004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Analyse Month 1 — identify top ad creatives.\n· Double budget on winning ad sets immediately.\n· Kill bottom 20% underperforming creatives.\n· 5 new creatives produced based on Month 1.\n· Remaining 10 micro influencers activated.\n· Add 1 macro creator (₹20,000 budget).\n· A/B test: Feature-led vs lifestyle creative.</a:t>
            </a:r>
            <a:endParaRPr lang="en-US" sz="1000" dirty="0"/>
          </a:p>
        </p:txBody>
      </p:sp>
      <p:sp>
        <p:nvSpPr>
          <p:cNvPr id="21" name="Shape 19"/>
          <p:cNvSpPr/>
          <p:nvPr/>
        </p:nvSpPr>
        <p:spPr>
          <a:xfrm>
            <a:off x="8229600" y="1005840"/>
            <a:ext cx="3566160" cy="5120640"/>
          </a:xfrm>
          <a:prstGeom prst="rect">
            <a:avLst>
              <a:gd name="adj" fmla="val 2564"/>
            </a:avLst>
          </a:prstGeom>
          <a:solidFill>
            <a:srgbClr val="F59E0B"/>
          </a:solidFill>
          <a:ln w="25400">
            <a:solidFill>
              <a:srgbClr val="F59E0B"/>
            </a:solidFill>
            <a:prstDash val="solid"/>
          </a:ln>
        </p:spPr>
      </p:sp>
      <p:sp>
        <p:nvSpPr>
          <p:cNvPr id="22" name="Shape 20"/>
          <p:cNvSpPr/>
          <p:nvPr/>
        </p:nvSpPr>
        <p:spPr>
          <a:xfrm>
            <a:off x="8229600" y="1005840"/>
            <a:ext cx="3566160" cy="731520"/>
          </a:xfrm>
          <a:prstGeom prst="rect">
            <a:avLst/>
          </a:prstGeom>
          <a:solidFill>
            <a:srgbClr val="F59E0B"/>
          </a:solidFill>
          <a:ln/>
        </p:spPr>
      </p:sp>
      <p:sp>
        <p:nvSpPr>
          <p:cNvPr id="23" name="Text 21"/>
          <p:cNvSpPr/>
          <p:nvPr/>
        </p:nvSpPr>
        <p:spPr>
          <a:xfrm>
            <a:off x="83667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MONTH 03</a:t>
            </a:r>
            <a:endParaRPr lang="en-US" sz="1300" dirty="0"/>
          </a:p>
        </p:txBody>
      </p:sp>
      <p:sp>
        <p:nvSpPr>
          <p:cNvPr id="24" name="Text 22"/>
          <p:cNvSpPr/>
          <p:nvPr/>
        </p:nvSpPr>
        <p:spPr>
          <a:xfrm>
            <a:off x="8366760" y="1371600"/>
            <a:ext cx="3200400" cy="320040"/>
          </a:xfrm>
          <a:prstGeom prst="rect">
            <a:avLst/>
          </a:prstGeom>
          <a:noFill/>
          <a:ln/>
        </p:spPr>
        <p:txBody>
          <a:bodyPr wrap="square" rtlCol="0" anchor="ctr"/>
          <a:lstStyle/>
          <a:p>
            <a:pPr indent="0" marL="0">
              <a:buNone/>
            </a:pPr>
            <a:r>
              <a:rPr lang="en-US" sz="900" dirty="0">
                <a:solidFill>
                  <a:srgbClr val="FFFFFF"/>
                </a:solidFill>
                <a:latin typeface="Plus Jakarta Sans" pitchFamily="34" charset="0"/>
                <a:ea typeface="Plus Jakarta Sans" pitchFamily="34" charset="-122"/>
                <a:cs typeface="Plus Jakarta Sans" pitchFamily="34" charset="-120"/>
              </a:rPr>
              <a:t>FULL SCALE</a:t>
            </a:r>
            <a:endParaRPr lang="en-US" sz="900" dirty="0"/>
          </a:p>
        </p:txBody>
      </p:sp>
      <p:sp>
        <p:nvSpPr>
          <p:cNvPr id="25" name="Shape 23"/>
          <p:cNvSpPr/>
          <p:nvPr/>
        </p:nvSpPr>
        <p:spPr>
          <a:xfrm>
            <a:off x="10332720" y="1143000"/>
            <a:ext cx="1280160" cy="457200"/>
          </a:xfrm>
          <a:prstGeom prst="rect">
            <a:avLst>
              <a:gd name="adj" fmla="val 10000"/>
            </a:avLst>
          </a:prstGeom>
          <a:solidFill>
            <a:srgbClr val="FFFFFF"/>
          </a:solidFill>
          <a:ln/>
        </p:spPr>
      </p:sp>
      <p:sp>
        <p:nvSpPr>
          <p:cNvPr id="26" name="Text 24"/>
          <p:cNvSpPr/>
          <p:nvPr/>
        </p:nvSpPr>
        <p:spPr>
          <a:xfrm>
            <a:off x="10332720" y="1161288"/>
            <a:ext cx="1280160" cy="320040"/>
          </a:xfrm>
          <a:prstGeom prst="rect">
            <a:avLst/>
          </a:prstGeom>
          <a:noFill/>
          <a:ln/>
        </p:spPr>
        <p:txBody>
          <a:bodyPr wrap="square" rtlCol="0" anchor="ctr"/>
          <a:lstStyle/>
          <a:p>
            <a:pPr algn="ctr" indent="0" marL="0">
              <a:buNone/>
            </a:pPr>
            <a:r>
              <a:rPr lang="en-US" sz="1000" b="1" dirty="0">
                <a:solidFill>
                  <a:srgbClr val="F59E0B"/>
                </a:solidFill>
                <a:latin typeface="Plus Jakarta Sans" pitchFamily="34" charset="0"/>
                <a:ea typeface="Plus Jakarta Sans" pitchFamily="34" charset="-122"/>
                <a:cs typeface="Plus Jakarta Sans" pitchFamily="34" charset="-120"/>
              </a:rPr>
              <a:t>TARGET\n₹25L</a:t>
            </a:r>
            <a:endParaRPr lang="en-US" sz="1000" dirty="0"/>
          </a:p>
        </p:txBody>
      </p:sp>
      <p:sp>
        <p:nvSpPr>
          <p:cNvPr id="27" name="Text 25"/>
          <p:cNvSpPr/>
          <p:nvPr/>
        </p:nvSpPr>
        <p:spPr>
          <a:xfrm>
            <a:off x="8412480" y="1920240"/>
            <a:ext cx="3200400" cy="320040"/>
          </a:xfrm>
          <a:prstGeom prst="rect">
            <a:avLst/>
          </a:prstGeom>
          <a:noFill/>
          <a:ln/>
        </p:spPr>
        <p:txBody>
          <a:bodyPr wrap="square" rtlCol="0" anchor="ctr"/>
          <a:lstStyle/>
          <a:p>
            <a:pPr indent="0" marL="0">
              <a:lnSpc>
                <a:spcPts val="1800"/>
              </a:lnSpc>
              <a:buNone/>
            </a:pPr>
            <a:r>
              <a:rPr lang="en-US" sz="1000" dirty="0">
                <a:solidFill>
                  <a:srgbClr val="0B1629"/>
                </a:solidFill>
                <a:latin typeface="Plus Jakarta Sans" pitchFamily="34" charset="0"/>
                <a:ea typeface="Plus Jakarta Sans" pitchFamily="34" charset="-122"/>
                <a:cs typeface="Plus Jakarta Sans" pitchFamily="34" charset="-120"/>
              </a:rPr>
              <a:t>· Scale all winning channels — increase budgets.\n· Retention driving 30%+ of total monthly revenue.\n· New product drop — pre-hype via Stories + Reels.\n· Launch loyalty: Repeat buyers get early access.\n· UGC wall live on Shopify homepage.\n· Nirvana Brews Brand Ambassador program: 3 ambassadors.\n· Customer referral: "Give ₹200, Get ₹200".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629"/>
          </a:solidFill>
          <a:ln/>
        </p:spPr>
      </p:sp>
      <p:sp>
        <p:nvSpPr>
          <p:cNvPr id="3" name="Shape 1"/>
          <p:cNvSpPr/>
          <p:nvPr/>
        </p:nvSpPr>
        <p:spPr>
          <a:xfrm>
            <a:off x="457200" y="274320"/>
            <a:ext cx="2011680" cy="411480"/>
          </a:xfrm>
          <a:prstGeom prst="rect">
            <a:avLst>
              <a:gd name="adj" fmla="val 22222"/>
            </a:avLst>
          </a:prstGeom>
          <a:solidFill>
            <a:srgbClr val="F59E0B"/>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CULT STRATEGY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THE SCALE PLAYBOOK. THE LONG GAME.</a:t>
            </a:r>
            <a:endParaRPr lang="en-US" sz="2200" dirty="0"/>
          </a:p>
        </p:txBody>
      </p:sp>
      <p:sp>
        <p:nvSpPr>
          <p:cNvPr id="6" name="Text 4"/>
          <p:cNvSpPr/>
          <p:nvPr/>
        </p:nvSpPr>
        <p:spPr>
          <a:xfrm>
            <a:off x="457200" y="1097280"/>
            <a:ext cx="10058400" cy="32004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THE LONG GAME FOR CULT COMMERCE</a:t>
            </a:r>
            <a:endParaRPr lang="en-US" sz="3200" dirty="0"/>
          </a:p>
        </p:txBody>
      </p:sp>
      <p:sp>
        <p:nvSpPr>
          <p:cNvPr id="7" name="Text 5"/>
          <p:cNvSpPr/>
          <p:nvPr/>
        </p:nvSpPr>
        <p:spPr>
          <a:xfrm>
            <a:off x="457200" y="1645920"/>
            <a:ext cx="11247120" cy="0"/>
          </a:xfrm>
          <a:prstGeom prst="rect">
            <a:avLst/>
          </a:prstGeom>
          <a:noFill/>
          <a:ln/>
        </p:spPr>
        <p:txBody>
          <a:bodyPr wrap="square" rtlCol="0" anchor="ctr"/>
          <a:lstStyle/>
          <a:p>
            <a:pPr indent="0" marL="0">
              <a:buNone/>
            </a:pPr>
            <a:r>
              <a:rPr lang="en-US" sz="1300" i="1" dirty="0">
                <a:solidFill>
                  <a:srgbClr val="F59E0B"/>
                </a:solidFill>
                <a:latin typeface="Plus Jakarta Sans" pitchFamily="34" charset="0"/>
                <a:ea typeface="Plus Jakarta Sans" pitchFamily="34" charset="-122"/>
                <a:cs typeface="Plus Jakarta Sans" pitchFamily="34" charset="-120"/>
              </a:rPr>
              <a:t>"Build a community-first ecosystem for Nirvana Brews where repeat purchase rate drives the valuation. Identity over discounts, always."</a:t>
            </a:r>
            <a:endParaRPr lang="en-US" sz="1300" dirty="0"/>
          </a:p>
        </p:txBody>
      </p:sp>
      <p:sp>
        <p:nvSpPr>
          <p:cNvPr id="8" name="Shape 6"/>
          <p:cNvSpPr/>
          <p:nvPr/>
        </p:nvSpPr>
        <p:spPr>
          <a:xfrm>
            <a:off x="457200" y="2194560"/>
            <a:ext cx="5394960" cy="1645920"/>
          </a:xfrm>
          <a:prstGeom prst="rect">
            <a:avLst>
              <a:gd name="adj" fmla="val 2778"/>
            </a:avLst>
          </a:prstGeom>
          <a:solidFill>
            <a:srgbClr val="111E35"/>
          </a:solidFill>
          <a:ln w="25400">
            <a:solidFill>
              <a:srgbClr val="2B4EFF"/>
            </a:solidFill>
            <a:prstDash val="solid"/>
          </a:ln>
        </p:spPr>
      </p:sp>
      <p:sp>
        <p:nvSpPr>
          <p:cNvPr id="9" name="Text 7"/>
          <p:cNvSpPr/>
          <p:nvPr/>
        </p:nvSpPr>
        <p:spPr>
          <a:xfrm>
            <a:off x="731520" y="2423160"/>
            <a:ext cx="3200400" cy="320040"/>
          </a:xfrm>
          <a:prstGeom prst="rect">
            <a:avLst/>
          </a:prstGeom>
          <a:noFill/>
          <a:ln/>
        </p:spPr>
        <p:txBody>
          <a:bodyPr wrap="square" rtlCol="0" anchor="ctr"/>
          <a:lstStyle/>
          <a:p>
            <a:pPr indent="0" marL="0">
              <a:buNone/>
            </a:pPr>
            <a:r>
              <a:rPr lang="en-US" sz="1400" b="1" dirty="0">
                <a:solidFill>
                  <a:srgbClr val="2B4EFF"/>
                </a:solidFill>
                <a:latin typeface="Plus Jakarta Sans" pitchFamily="34" charset="0"/>
                <a:ea typeface="Plus Jakarta Sans" pitchFamily="34" charset="-122"/>
                <a:cs typeface="Plus Jakarta Sans" pitchFamily="34" charset="-120"/>
              </a:rPr>
              <a:t>CREATOR ARMY</a:t>
            </a:r>
            <a:endParaRPr lang="en-US" sz="1400" dirty="0"/>
          </a:p>
        </p:txBody>
      </p:sp>
      <p:sp>
        <p:nvSpPr>
          <p:cNvPr id="10" name="Text 8"/>
          <p:cNvSpPr/>
          <p:nvPr/>
        </p:nvSpPr>
        <p:spPr>
          <a:xfrm>
            <a:off x="731520" y="283464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50+ creators wearing and tagging Nirvana Brews creates omnipresence — not viral, just everywhere. UGC pipeline never runs dry. CPMs drop as organic grows.</a:t>
            </a:r>
            <a:endParaRPr lang="en-US" sz="1100" dirty="0"/>
          </a:p>
        </p:txBody>
      </p:sp>
      <p:sp>
        <p:nvSpPr>
          <p:cNvPr id="11" name="Shape 9"/>
          <p:cNvSpPr/>
          <p:nvPr/>
        </p:nvSpPr>
        <p:spPr>
          <a:xfrm>
            <a:off x="6126480" y="2194560"/>
            <a:ext cx="5394960" cy="1645920"/>
          </a:xfrm>
          <a:prstGeom prst="rect">
            <a:avLst>
              <a:gd name="adj" fmla="val 2778"/>
            </a:avLst>
          </a:prstGeom>
          <a:solidFill>
            <a:srgbClr val="111E35"/>
          </a:solidFill>
          <a:ln w="25400">
            <a:solidFill>
              <a:srgbClr val="F59E0B"/>
            </a:solidFill>
            <a:prstDash val="solid"/>
          </a:ln>
        </p:spPr>
      </p:sp>
      <p:sp>
        <p:nvSpPr>
          <p:cNvPr id="12" name="Text 10"/>
          <p:cNvSpPr/>
          <p:nvPr/>
        </p:nvSpPr>
        <p:spPr>
          <a:xfrm>
            <a:off x="6400800" y="2423160"/>
            <a:ext cx="3200400" cy="320040"/>
          </a:xfrm>
          <a:prstGeom prst="rect">
            <a:avLst/>
          </a:prstGeom>
          <a:noFill/>
          <a:ln/>
        </p:spPr>
        <p:txBody>
          <a:bodyPr wrap="square" rtlCol="0" anchor="ctr"/>
          <a:lstStyle/>
          <a:p>
            <a:pPr indent="0" marL="0">
              <a:buNone/>
            </a:pPr>
            <a:r>
              <a:rPr lang="en-US" sz="1400" b="1" dirty="0">
                <a:solidFill>
                  <a:srgbClr val="F59E0B"/>
                </a:solidFill>
                <a:latin typeface="Plus Jakarta Sans" pitchFamily="34" charset="0"/>
                <a:ea typeface="Plus Jakarta Sans" pitchFamily="34" charset="-122"/>
                <a:cs typeface="Plus Jakarta Sans" pitchFamily="34" charset="-120"/>
              </a:rPr>
              <a:t>PRODUCT DROP CULTURE</a:t>
            </a:r>
            <a:endParaRPr lang="en-US" sz="1400" dirty="0"/>
          </a:p>
        </p:txBody>
      </p:sp>
      <p:sp>
        <p:nvSpPr>
          <p:cNvPr id="13" name="Text 11"/>
          <p:cNvSpPr/>
          <p:nvPr/>
        </p:nvSpPr>
        <p:spPr>
          <a:xfrm>
            <a:off x="6400800" y="283464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Scarcity creates desire. Desire creates community. Limited drops with waitlists. Early access for loyal buyers. "Sold Out" is a marketing event.</a:t>
            </a:r>
            <a:endParaRPr lang="en-US" sz="1100" dirty="0"/>
          </a:p>
        </p:txBody>
      </p:sp>
      <p:sp>
        <p:nvSpPr>
          <p:cNvPr id="14" name="Shape 12"/>
          <p:cNvSpPr/>
          <p:nvPr/>
        </p:nvSpPr>
        <p:spPr>
          <a:xfrm>
            <a:off x="457200" y="4114800"/>
            <a:ext cx="5394960" cy="1645920"/>
          </a:xfrm>
          <a:prstGeom prst="rect">
            <a:avLst>
              <a:gd name="adj" fmla="val 2778"/>
            </a:avLst>
          </a:prstGeom>
          <a:solidFill>
            <a:srgbClr val="111E35"/>
          </a:solidFill>
          <a:ln w="25400">
            <a:solidFill>
              <a:srgbClr val="10B981"/>
            </a:solidFill>
            <a:prstDash val="solid"/>
          </a:ln>
        </p:spPr>
      </p:sp>
      <p:sp>
        <p:nvSpPr>
          <p:cNvPr id="15" name="Text 13"/>
          <p:cNvSpPr/>
          <p:nvPr/>
        </p:nvSpPr>
        <p:spPr>
          <a:xfrm>
            <a:off x="731520" y="4343400"/>
            <a:ext cx="3200400" cy="320040"/>
          </a:xfrm>
          <a:prstGeom prst="rect">
            <a:avLst/>
          </a:prstGeom>
          <a:noFill/>
          <a:ln/>
        </p:spPr>
        <p:txBody>
          <a:bodyPr wrap="square" rtlCol="0" anchor="ctr"/>
          <a:lstStyle/>
          <a:p>
            <a:pPr indent="0" marL="0">
              <a:buNone/>
            </a:pPr>
            <a:r>
              <a:rPr lang="en-US" sz="1400" b="1" dirty="0">
                <a:solidFill>
                  <a:srgbClr val="10B981"/>
                </a:solidFill>
                <a:latin typeface="Plus Jakarta Sans" pitchFamily="34" charset="0"/>
                <a:ea typeface="Plus Jakarta Sans" pitchFamily="34" charset="-122"/>
                <a:cs typeface="Plus Jakarta Sans" pitchFamily="34" charset="-120"/>
              </a:rPr>
              <a:t>COMMUNITY IDENTITY</a:t>
            </a:r>
            <a:endParaRPr lang="en-US" sz="1400" dirty="0"/>
          </a:p>
        </p:txBody>
      </p:sp>
      <p:sp>
        <p:nvSpPr>
          <p:cNvPr id="16" name="Text 14"/>
          <p:cNvSpPr/>
          <p:nvPr/>
        </p:nvSpPr>
        <p:spPr>
          <a:xfrm>
            <a:off x="731520" y="475488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"I choose Nirvana Brews. That's who I am." Long-term ambassador programs. Exclusive customer community channels. Build a solid emotional moat.</a:t>
            </a:r>
            <a:endParaRPr lang="en-US" sz="1100" dirty="0"/>
          </a:p>
        </p:txBody>
      </p:sp>
      <p:sp>
        <p:nvSpPr>
          <p:cNvPr id="17" name="Shape 15"/>
          <p:cNvSpPr/>
          <p:nvPr/>
        </p:nvSpPr>
        <p:spPr>
          <a:xfrm>
            <a:off x="6126480" y="4114800"/>
            <a:ext cx="5394960" cy="1645920"/>
          </a:xfrm>
          <a:prstGeom prst="rect">
            <a:avLst>
              <a:gd name="adj" fmla="val 2778"/>
            </a:avLst>
          </a:prstGeom>
          <a:solidFill>
            <a:srgbClr val="111E35"/>
          </a:solidFill>
          <a:ln w="25400">
            <a:solidFill>
              <a:srgbClr val="8B5CF6"/>
            </a:solidFill>
            <a:prstDash val="solid"/>
          </a:ln>
        </p:spPr>
      </p:sp>
      <p:sp>
        <p:nvSpPr>
          <p:cNvPr id="18" name="Text 16"/>
          <p:cNvSpPr/>
          <p:nvPr/>
        </p:nvSpPr>
        <p:spPr>
          <a:xfrm>
            <a:off x="6400800" y="4343400"/>
            <a:ext cx="3200400" cy="320040"/>
          </a:xfrm>
          <a:prstGeom prst="rect">
            <a:avLst/>
          </a:prstGeom>
          <a:noFill/>
          <a:ln/>
        </p:spPr>
        <p:txBody>
          <a:bodyPr wrap="square" rtlCol="0" anchor="ctr"/>
          <a:lstStyle/>
          <a:p>
            <a:pPr indent="0" marL="0">
              <a:buNone/>
            </a:pPr>
            <a:r>
              <a:rPr lang="en-US" sz="1400" b="1" dirty="0">
                <a:solidFill>
                  <a:srgbClr val="8B5CF6"/>
                </a:solidFill>
                <a:latin typeface="Plus Jakarta Sans" pitchFamily="34" charset="0"/>
                <a:ea typeface="Plus Jakarta Sans" pitchFamily="34" charset="-122"/>
                <a:cs typeface="Plus Jakarta Sans" pitchFamily="34" charset="-120"/>
              </a:rPr>
              <a:t>STORY &gt; PROMOTION</a:t>
            </a:r>
            <a:endParaRPr lang="en-US" sz="1400" dirty="0"/>
          </a:p>
        </p:txBody>
      </p:sp>
      <p:sp>
        <p:nvSpPr>
          <p:cNvPr id="19" name="Text 17"/>
          <p:cNvSpPr/>
          <p:nvPr/>
        </p:nvSpPr>
        <p:spPr>
          <a:xfrm>
            <a:off x="6400800" y="4754880"/>
            <a:ext cx="4846320" cy="320040"/>
          </a:xfrm>
          <a:prstGeom prst="rect">
            <a:avLst/>
          </a:prstGeom>
          <a:noFill/>
          <a:ln/>
        </p:spPr>
        <p:txBody>
          <a:bodyPr wrap="square" rtlCol="0" anchor="ctr"/>
          <a:lstStyle/>
          <a:p>
            <a:pPr indent="0" marL="0">
              <a:buNone/>
            </a:pPr>
            <a:r>
              <a:rPr lang="en-US" sz="1100" dirty="0">
                <a:solidFill>
                  <a:srgbClr val="CCCCCC"/>
                </a:solidFill>
                <a:latin typeface="Plus Jakarta Sans" pitchFamily="34" charset="0"/>
                <a:ea typeface="Plus Jakarta Sans" pitchFamily="34" charset="-122"/>
                <a:cs typeface="Plus Jakarta Sans" pitchFamily="34" charset="-120"/>
              </a:rPr>
              <a:t>Underserved market focus. Mr./Ms. Aditya Sharma started the brand to fix it. Made in India. Built for India. Every content piece reinforces identity — never a discount.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COMPETITOR INTEL</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Competitor Website Tech Stack — What They're Running</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47120" cy="4572000"/>
        </p:xfrm>
        <a:graphic>
          <a:graphicData uri="http://schemas.openxmlformats.org/drawingml/2006/table">
            <a:tbl>
              <a:tblPr/>
              <a:tblGrid>
                <a:gridCol w="2103120"/>
                <a:gridCol w="2286000"/>
                <a:gridCol w="2286000"/>
                <a:gridCol w="2286000"/>
                <a:gridCol w="2286000"/>
              </a:tblGrid>
              <a:tr h="457200">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CATEGORY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MASS COMPETITOR</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PREMIUM COMPETITOR</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GLOBAL BENCHMARK</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c>
                  <a:txBody>
                    <a:bodyP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NIRVANA BREWS BUILD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B1629"/>
                    </a:solidFill>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Platform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Shopify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Shopify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Shopify Plus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Shopify ✓</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Reviews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Judge.me</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None</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Yotpo (Premium)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Yotpo (Premium)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WhatsApp</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Manual only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Channel only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N/A</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WATI / Interakt API</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Email / CRM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None confirmed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None confirmed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Klaviyo (Full)</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Klaviyo</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Loyalty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Coins Program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None</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Points / XP</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Growave / Smile.io</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Mobile App</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 (Appbrew)</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 (Custom)</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Phase 2 – Month 3</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Upsell</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Not confirmed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OutSell</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Rebuy</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Rebuy / AfterSell</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Push Notifications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Not confirmed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Not confirmed</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Yes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PushOwl</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457200">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Ad Channels</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Meta (FB/IG)</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Meta+Google</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Meta+Google+YT</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000" dirty="0">
                          <a:solidFill>
                            <a:srgbClr val="000000"/>
                          </a:solidFill>
                          <a:latin typeface="Plus Jakarta Sans" pitchFamily="34" charset="0"/>
                          <a:ea typeface="Plus Jakarta Sans" pitchFamily="34" charset="-122"/>
                          <a:cs typeface="Plus Jakarta Sans" pitchFamily="34" charset="-120"/>
                        </a:rPr>
                        <a:t>Meta+Google+YT</a:t>
                      </a:r>
                      <a:endParaRPr lang="en-US" sz="1000" dirty="0">
                        <a:latin typeface="Plus Jakarta Sans" charset="0"/>
                        <a:ea typeface="Plus Jakarta Sans" charset="0"/>
                        <a:cs typeface="Plus Jakarta Sans"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8" name="Shape 5"/>
          <p:cNvSpPr/>
          <p:nvPr/>
        </p:nvSpPr>
        <p:spPr>
          <a:xfrm>
            <a:off x="457200" y="5669280"/>
            <a:ext cx="11247120" cy="548640"/>
          </a:xfrm>
          <a:prstGeom prst="rect">
            <a:avLst>
              <a:gd name="adj" fmla="val 8333"/>
            </a:avLst>
          </a:prstGeom>
          <a:solidFill>
            <a:srgbClr val="F59E0B"/>
          </a:solidFill>
          <a:ln/>
        </p:spPr>
      </p:sp>
      <p:sp>
        <p:nvSpPr>
          <p:cNvPr id="9" name="Text 6"/>
          <p:cNvSpPr/>
          <p:nvPr/>
        </p:nvSpPr>
        <p:spPr>
          <a:xfrm>
            <a:off x="640080" y="5760720"/>
            <a:ext cx="10881360" cy="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Mass Competitor coins program = loyalty threat. Counter with WhatsApp automation + Klaviyo flows — out-retain them, not out-discount them.</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COMPETITOR INTEL</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Competitor Ad Strategy — What They Run vs. What We Own</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5120640"/>
          </a:xfrm>
          <a:prstGeom prst="rect">
            <a:avLst>
              <a:gd name="adj" fmla="val 2564"/>
            </a:avLst>
          </a:prstGeom>
          <a:solidFill>
            <a:srgbClr val="EF4444"/>
          </a:solidFill>
          <a:ln w="25400">
            <a:solidFill>
              <a:srgbClr val="EF4444"/>
            </a:solidFill>
            <a:prstDash val="solid"/>
          </a:ln>
        </p:spPr>
      </p:sp>
      <p:sp>
        <p:nvSpPr>
          <p:cNvPr id="8" name="Shape 6"/>
          <p:cNvSpPr/>
          <p:nvPr/>
        </p:nvSpPr>
        <p:spPr>
          <a:xfrm>
            <a:off x="457200" y="1005840"/>
            <a:ext cx="3566160" cy="457200"/>
          </a:xfrm>
          <a:prstGeom prst="rect">
            <a:avLst/>
          </a:prstGeom>
          <a:solidFill>
            <a:srgbClr val="EF4444"/>
          </a:solidFill>
          <a:ln/>
        </p:spPr>
      </p:sp>
      <p:sp>
        <p:nvSpPr>
          <p:cNvPr id="9" name="Text 7"/>
          <p:cNvSpPr/>
          <p:nvPr/>
        </p:nvSpPr>
        <p:spPr>
          <a:xfrm>
            <a:off x="5943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MASS COMPETITOR</a:t>
            </a:r>
            <a:endParaRPr lang="en-US" sz="1300" dirty="0"/>
          </a:p>
        </p:txBody>
      </p:sp>
      <p:sp>
        <p:nvSpPr>
          <p:cNvPr id="10" name="Text 8"/>
          <p:cNvSpPr/>
          <p:nvPr/>
        </p:nvSpPr>
        <p:spPr>
          <a:xfrm>
            <a:off x="6400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AD CHANNELS\n· Meta (FB + IG) — Primary only\n· Instagram Reels — lifestyle video\n· No Google Shopping confirmed\n· No YouTube confirmed\n\nAD FORMATS\n· Identity video content\n· Brand film creatives\n· Influencer UGC cut-downs\n· Product Reels\n\nTHEIR GAP: No search intent. No YouTube. No retention ads.</a:t>
            </a:r>
            <a:endParaRPr lang="en-US" sz="1000" dirty="0"/>
          </a:p>
        </p:txBody>
      </p:sp>
      <p:sp>
        <p:nvSpPr>
          <p:cNvPr id="11" name="Shape 9"/>
          <p:cNvSpPr/>
          <p:nvPr/>
        </p:nvSpPr>
        <p:spPr>
          <a:xfrm>
            <a:off x="4343400" y="1005840"/>
            <a:ext cx="3566160" cy="5120640"/>
          </a:xfrm>
          <a:prstGeom prst="rect">
            <a:avLst>
              <a:gd name="adj" fmla="val 2564"/>
            </a:avLst>
          </a:prstGeom>
          <a:solidFill>
            <a:srgbClr val="F59E0B"/>
          </a:solidFill>
          <a:ln w="25400">
            <a:solidFill>
              <a:srgbClr val="F59E0B"/>
            </a:solidFill>
            <a:prstDash val="solid"/>
          </a:ln>
        </p:spPr>
      </p:sp>
      <p:sp>
        <p:nvSpPr>
          <p:cNvPr id="12" name="Shape 10"/>
          <p:cNvSpPr/>
          <p:nvPr/>
        </p:nvSpPr>
        <p:spPr>
          <a:xfrm>
            <a:off x="4343400" y="1005840"/>
            <a:ext cx="3566160" cy="457200"/>
          </a:xfrm>
          <a:prstGeom prst="rect">
            <a:avLst/>
          </a:prstGeom>
          <a:solidFill>
            <a:srgbClr val="F59E0B"/>
          </a:solidFill>
          <a:ln/>
        </p:spPr>
      </p:sp>
      <p:sp>
        <p:nvSpPr>
          <p:cNvPr id="13" name="Text 11"/>
          <p:cNvSpPr/>
          <p:nvPr/>
        </p:nvSpPr>
        <p:spPr>
          <a:xfrm>
            <a:off x="44805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PREMIUM COMPETITOR</a:t>
            </a:r>
            <a:endParaRPr lang="en-US" sz="1300" dirty="0"/>
          </a:p>
        </p:txBody>
      </p:sp>
      <p:sp>
        <p:nvSpPr>
          <p:cNvPr id="14" name="Text 12"/>
          <p:cNvSpPr/>
          <p:nvPr/>
        </p:nvSpPr>
        <p:spPr>
          <a:xfrm>
            <a:off x="45262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AD CHANNELS\n· Meta Ads (FB + IG)\n· Google Ads + Shopping\n· Additional Native Ads\n\nAD FORMATS\n· Product-first creatives\n· Sale-led ad copy always\n· Flash SALE permanent campaigns\n· No brand identity in ads\n\nTHEIR GAP: All ads are price/sale focused. Zero brand story.</a:t>
            </a:r>
            <a:endParaRPr lang="en-US" sz="1000" dirty="0"/>
          </a:p>
        </p:txBody>
      </p:sp>
      <p:sp>
        <p:nvSpPr>
          <p:cNvPr id="15" name="Shape 13"/>
          <p:cNvSpPr/>
          <p:nvPr/>
        </p:nvSpPr>
        <p:spPr>
          <a:xfrm>
            <a:off x="8229600" y="1005840"/>
            <a:ext cx="3566160" cy="5120640"/>
          </a:xfrm>
          <a:prstGeom prst="rect">
            <a:avLst>
              <a:gd name="adj" fmla="val 2564"/>
            </a:avLst>
          </a:prstGeom>
          <a:solidFill>
            <a:srgbClr val="2B4EFF"/>
          </a:solidFill>
          <a:ln w="25400">
            <a:solidFill>
              <a:srgbClr val="2B4EFF"/>
            </a:solidFill>
            <a:prstDash val="solid"/>
          </a:ln>
        </p:spPr>
      </p:sp>
      <p:sp>
        <p:nvSpPr>
          <p:cNvPr id="16" name="Shape 14"/>
          <p:cNvSpPr/>
          <p:nvPr/>
        </p:nvSpPr>
        <p:spPr>
          <a:xfrm>
            <a:off x="8229600" y="1005840"/>
            <a:ext cx="3566160" cy="457200"/>
          </a:xfrm>
          <a:prstGeom prst="rect">
            <a:avLst/>
          </a:prstGeom>
          <a:solidFill>
            <a:srgbClr val="2B4EFF"/>
          </a:solidFill>
          <a:ln/>
        </p:spPr>
      </p:sp>
      <p:sp>
        <p:nvSpPr>
          <p:cNvPr id="17" name="Text 15"/>
          <p:cNvSpPr/>
          <p:nvPr/>
        </p:nvSpPr>
        <p:spPr>
          <a:xfrm>
            <a:off x="83667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NIRVANA BREWS</a:t>
            </a:r>
            <a:endParaRPr lang="en-US" sz="1300" dirty="0"/>
          </a:p>
        </p:txBody>
      </p:sp>
      <p:sp>
        <p:nvSpPr>
          <p:cNvPr id="18" name="Text 16"/>
          <p:cNvSpPr/>
          <p:nvPr/>
        </p:nvSpPr>
        <p:spPr>
          <a:xfrm>
            <a:off x="84124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AD CHANNELS\n· Meta (FB+IG) — brand story angle\n· Google Shopping — product SEO\n· YouTube Pre-roll — Reel repurpose\n· WhatsApp retargeting (WATI)\n\nAD FORMATS\n· Brand origin narrative\n· Founder story hooks (Aditya Sharma)\n· Efficacy &amp; Ingredient highlight videos\n· UGC from micro-creators\n\nOUR OPPORTUNITY: Own the unclaimed premium position.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COMPETITOR INTEL</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Competitor Offer Stack — The Discount Trap We Must Avoid</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5120640"/>
          </a:xfrm>
          <a:prstGeom prst="rect">
            <a:avLst>
              <a:gd name="adj" fmla="val 2564"/>
            </a:avLst>
          </a:prstGeom>
          <a:solidFill>
            <a:srgbClr val="EF4444"/>
          </a:solidFill>
          <a:ln w="25400">
            <a:solidFill>
              <a:srgbClr val="EF4444"/>
            </a:solidFill>
            <a:prstDash val="solid"/>
          </a:ln>
        </p:spPr>
      </p:sp>
      <p:sp>
        <p:nvSpPr>
          <p:cNvPr id="8" name="Shape 6"/>
          <p:cNvSpPr/>
          <p:nvPr/>
        </p:nvSpPr>
        <p:spPr>
          <a:xfrm>
            <a:off x="457200" y="1005840"/>
            <a:ext cx="3566160" cy="457200"/>
          </a:xfrm>
          <a:prstGeom prst="rect">
            <a:avLst/>
          </a:prstGeom>
          <a:solidFill>
            <a:srgbClr val="EF4444"/>
          </a:solidFill>
          <a:ln/>
        </p:spPr>
      </p:sp>
      <p:sp>
        <p:nvSpPr>
          <p:cNvPr id="9" name="Text 7"/>
          <p:cNvSpPr/>
          <p:nvPr/>
        </p:nvSpPr>
        <p:spPr>
          <a:xfrm>
            <a:off x="594360" y="1051560"/>
            <a:ext cx="320040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MASS COMPETITOR — HEAVY DISCOUNTS</a:t>
            </a:r>
            <a:endParaRPr lang="en-US" sz="1100" dirty="0"/>
          </a:p>
        </p:txBody>
      </p:sp>
      <p:sp>
        <p:nvSpPr>
          <p:cNvPr id="10" name="Text 8"/>
          <p:cNvSpPr/>
          <p:nvPr/>
        </p:nvSpPr>
        <p:spPr>
          <a:xfrm>
            <a:off x="6400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 10-20% off sitewide codes always active\n· Welcome code stackable with other offers\n· Frequent site-wide clearance sales\n· Influencer codes widely distributed\n· Free shipping on all orders with no minimum\n· No structured AOV progress bars\n· High COD return rates due to lack of prepaid push\n\nVERDICT\nPositioning as low-price alternative. Zero margin cushion.</a:t>
            </a:r>
            <a:endParaRPr lang="en-US" sz="1000" dirty="0"/>
          </a:p>
        </p:txBody>
      </p:sp>
      <p:sp>
        <p:nvSpPr>
          <p:cNvPr id="11" name="Shape 9"/>
          <p:cNvSpPr/>
          <p:nvPr/>
        </p:nvSpPr>
        <p:spPr>
          <a:xfrm>
            <a:off x="4343400" y="1005840"/>
            <a:ext cx="3566160" cy="5120640"/>
          </a:xfrm>
          <a:prstGeom prst="rect">
            <a:avLst>
              <a:gd name="adj" fmla="val 2564"/>
            </a:avLst>
          </a:prstGeom>
          <a:solidFill>
            <a:srgbClr val="F59E0B"/>
          </a:solidFill>
          <a:ln w="25400">
            <a:solidFill>
              <a:srgbClr val="F59E0B"/>
            </a:solidFill>
            <a:prstDash val="solid"/>
          </a:ln>
        </p:spPr>
      </p:sp>
      <p:sp>
        <p:nvSpPr>
          <p:cNvPr id="12" name="Shape 10"/>
          <p:cNvSpPr/>
          <p:nvPr/>
        </p:nvSpPr>
        <p:spPr>
          <a:xfrm>
            <a:off x="4343400" y="1005840"/>
            <a:ext cx="3566160" cy="457200"/>
          </a:xfrm>
          <a:prstGeom prst="rect">
            <a:avLst/>
          </a:prstGeom>
          <a:solidFill>
            <a:srgbClr val="F59E0B"/>
          </a:solidFill>
          <a:ln/>
        </p:spPr>
      </p:sp>
      <p:sp>
        <p:nvSpPr>
          <p:cNvPr id="13" name="Text 11"/>
          <p:cNvSpPr/>
          <p:nvPr/>
        </p:nvSpPr>
        <p:spPr>
          <a:xfrm>
            <a:off x="4480560" y="1051560"/>
            <a:ext cx="320040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PREMIUM COMPETITOR — DISORGANIZED OFFERS</a:t>
            </a:r>
            <a:endParaRPr lang="en-US" sz="1100" dirty="0"/>
          </a:p>
        </p:txBody>
      </p:sp>
      <p:sp>
        <p:nvSpPr>
          <p:cNvPr id="14" name="Text 12"/>
          <p:cNvSpPr/>
          <p:nvPr/>
        </p:nvSpPr>
        <p:spPr>
          <a:xfrm>
            <a:off x="45262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 Generic 10% off first purchase code\n· Unstructured seasonal sale banners\n· Free shipping threshold is inconsistent\n· No loyalty rewards or gamified incentives\n· High friction checkout experience\n· Lacks post-purchase upsell strategy\n\nVERDICT\nDiscount-addicted but poor UX execution.</a:t>
            </a:r>
            <a:endParaRPr lang="en-US" sz="1000" dirty="0"/>
          </a:p>
        </p:txBody>
      </p:sp>
      <p:sp>
        <p:nvSpPr>
          <p:cNvPr id="15" name="Shape 13"/>
          <p:cNvSpPr/>
          <p:nvPr/>
        </p:nvSpPr>
        <p:spPr>
          <a:xfrm>
            <a:off x="8229600" y="1005840"/>
            <a:ext cx="3566160" cy="5120640"/>
          </a:xfrm>
          <a:prstGeom prst="rect">
            <a:avLst>
              <a:gd name="adj" fmla="val 2564"/>
            </a:avLst>
          </a:prstGeom>
          <a:solidFill>
            <a:srgbClr val="2B4EFF"/>
          </a:solidFill>
          <a:ln w="25400">
            <a:solidFill>
              <a:srgbClr val="2B4EFF"/>
            </a:solidFill>
            <a:prstDash val="solid"/>
          </a:ln>
        </p:spPr>
      </p:sp>
      <p:sp>
        <p:nvSpPr>
          <p:cNvPr id="16" name="Shape 14"/>
          <p:cNvSpPr/>
          <p:nvPr/>
        </p:nvSpPr>
        <p:spPr>
          <a:xfrm>
            <a:off x="8229600" y="1005840"/>
            <a:ext cx="3566160" cy="457200"/>
          </a:xfrm>
          <a:prstGeom prst="rect">
            <a:avLst/>
          </a:prstGeom>
          <a:solidFill>
            <a:srgbClr val="2B4EFF"/>
          </a:solidFill>
          <a:ln/>
        </p:spPr>
      </p:sp>
      <p:sp>
        <p:nvSpPr>
          <p:cNvPr id="17" name="Text 15"/>
          <p:cNvSpPr/>
          <p:nvPr/>
        </p:nvSpPr>
        <p:spPr>
          <a:xfrm>
            <a:off x="8366760" y="1051560"/>
            <a:ext cx="320040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NIRVANA BREWS — PREMIUM OFFERS</a:t>
            </a:r>
            <a:endParaRPr lang="en-US" sz="1100" dirty="0"/>
          </a:p>
        </p:txBody>
      </p:sp>
      <p:sp>
        <p:nvSpPr>
          <p:cNvPr id="18" name="Text 16"/>
          <p:cNvSpPr/>
          <p:nvPr/>
        </p:nvSpPr>
        <p:spPr>
          <a:xfrm>
            <a:off x="84124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 Free Premium Frother on orders above ₹1,499\n· PREPAID50 — ₹50 off to incentivize prepaid UPI\n· No permanent sitewide coupons — protect brand value\n· Curated bundles for cross-selling (15% savings)\n· Post-purchase one-click upsells active\n· Flash sales limited to 48-hour monthly windows\n· WhatsApp cart recovery sends gift triggers, not discounts\n\nOUR MOAT\nMargin-protecting premium brand positioning.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TECH STACK</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Nirvana Brews Recommended Tech Stack — Tools to Install</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2286000"/>
          </a:xfrm>
          <a:prstGeom prst="rect">
            <a:avLst>
              <a:gd name="adj" fmla="val 4000"/>
            </a:avLst>
          </a:prstGeom>
          <a:solidFill>
            <a:srgbClr val="10B981"/>
          </a:solidFill>
          <a:ln w="25400">
            <a:solidFill>
              <a:srgbClr val="10B981"/>
            </a:solidFill>
            <a:prstDash val="solid"/>
          </a:ln>
        </p:spPr>
      </p:sp>
      <p:sp>
        <p:nvSpPr>
          <p:cNvPr id="8" name="Shape 6"/>
          <p:cNvSpPr/>
          <p:nvPr/>
        </p:nvSpPr>
        <p:spPr>
          <a:xfrm>
            <a:off x="457200" y="1005840"/>
            <a:ext cx="3566160" cy="411480"/>
          </a:xfrm>
          <a:prstGeom prst="rect">
            <a:avLst/>
          </a:prstGeom>
          <a:solidFill>
            <a:srgbClr val="10B981"/>
          </a:solidFill>
          <a:ln/>
        </p:spPr>
      </p:sp>
      <p:sp>
        <p:nvSpPr>
          <p:cNvPr id="9" name="Text 7"/>
          <p:cNvSpPr/>
          <p:nvPr/>
        </p:nvSpPr>
        <p:spPr>
          <a:xfrm>
            <a:off x="594360" y="1097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WhatsApp Business API</a:t>
            </a:r>
            <a:endParaRPr lang="en-US" sz="1200" dirty="0"/>
          </a:p>
        </p:txBody>
      </p:sp>
      <p:sp>
        <p:nvSpPr>
          <p:cNvPr id="10" name="Text 8"/>
          <p:cNvSpPr/>
          <p:nvPr/>
        </p:nvSpPr>
        <p:spPr>
          <a:xfrm>
            <a:off x="3017520" y="1097280"/>
            <a:ext cx="9144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DAY 1</a:t>
            </a:r>
            <a:endParaRPr lang="en-US" sz="1000" dirty="0"/>
          </a:p>
        </p:txBody>
      </p:sp>
      <p:sp>
        <p:nvSpPr>
          <p:cNvPr id="11" name="Text 9"/>
          <p:cNvSpPr/>
          <p:nvPr/>
        </p:nvSpPr>
        <p:spPr>
          <a:xfrm>
            <a:off x="594360" y="1508760"/>
            <a:ext cx="3200400" cy="320040"/>
          </a:xfrm>
          <a:prstGeom prst="rect">
            <a:avLst/>
          </a:prstGeom>
          <a:noFill/>
          <a:ln/>
        </p:spPr>
        <p:txBody>
          <a:bodyPr wrap="square" rtlCol="0" anchor="ctr"/>
          <a:lstStyle/>
          <a:p>
            <a:pPr indent="0" marL="0">
              <a:buNone/>
            </a:pPr>
            <a:r>
              <a:rPr lang="en-US" sz="1000" b="1" dirty="0">
                <a:solidFill>
                  <a:srgbClr val="10B981"/>
                </a:solidFill>
                <a:latin typeface="Plus Jakarta Sans" pitchFamily="34" charset="0"/>
                <a:ea typeface="Plus Jakarta Sans" pitchFamily="34" charset="-122"/>
                <a:cs typeface="Plus Jakarta Sans" pitchFamily="34" charset="-120"/>
              </a:rPr>
              <a:t>₹4,000–7,000/mo</a:t>
            </a:r>
            <a:endParaRPr lang="en-US" sz="1000" dirty="0"/>
          </a:p>
        </p:txBody>
      </p:sp>
      <p:sp>
        <p:nvSpPr>
          <p:cNvPr id="12" name="Text 10"/>
          <p:cNvSpPr/>
          <p:nvPr/>
        </p:nvSpPr>
        <p:spPr>
          <a:xfrm>
            <a:off x="594360" y="1783080"/>
            <a:ext cx="3291840" cy="320040"/>
          </a:xfrm>
          <a:prstGeom prst="rect">
            <a:avLst/>
          </a:prstGeom>
          <a:noFill/>
          <a:ln/>
        </p:spPr>
        <p:txBody>
          <a:bodyPr wrap="square" rtlCol="0" anchor="ctr"/>
          <a:lstStyle/>
          <a:p>
            <a:pPr indent="0" marL="0">
              <a:buNone/>
            </a:pPr>
            <a:r>
              <a:rPr lang="en-US" sz="900" dirty="0">
                <a:solidFill>
                  <a:srgbClr val="0B1629"/>
                </a:solidFill>
                <a:latin typeface="Plus Jakarta Sans" pitchFamily="34" charset="0"/>
                <a:ea typeface="Plus Jakarta Sans" pitchFamily="34" charset="-122"/>
                <a:cs typeface="Plus Jakarta Sans" pitchFamily="34" charset="-120"/>
              </a:rPr>
              <a:t>WhatsApp Business API — automated order confirm, cart recovery, broadcasts.\n\nMass Competitor has NO automation. Premium Competitor has NO automation. Immediate advantage.</a:t>
            </a:r>
            <a:endParaRPr lang="en-US" sz="900" dirty="0"/>
          </a:p>
        </p:txBody>
      </p:sp>
      <p:sp>
        <p:nvSpPr>
          <p:cNvPr id="13" name="Shape 11"/>
          <p:cNvSpPr/>
          <p:nvPr/>
        </p:nvSpPr>
        <p:spPr>
          <a:xfrm>
            <a:off x="4343400" y="1005840"/>
            <a:ext cx="3566160" cy="2286000"/>
          </a:xfrm>
          <a:prstGeom prst="rect">
            <a:avLst>
              <a:gd name="adj" fmla="val 4000"/>
            </a:avLst>
          </a:prstGeom>
          <a:solidFill>
            <a:srgbClr val="2B4EFF"/>
          </a:solidFill>
          <a:ln w="25400">
            <a:solidFill>
              <a:srgbClr val="2B4EFF"/>
            </a:solidFill>
            <a:prstDash val="solid"/>
          </a:ln>
        </p:spPr>
      </p:sp>
      <p:sp>
        <p:nvSpPr>
          <p:cNvPr id="14" name="Shape 12"/>
          <p:cNvSpPr/>
          <p:nvPr/>
        </p:nvSpPr>
        <p:spPr>
          <a:xfrm>
            <a:off x="4343400" y="1005840"/>
            <a:ext cx="3566160" cy="411480"/>
          </a:xfrm>
          <a:prstGeom prst="rect">
            <a:avLst/>
          </a:prstGeom>
          <a:solidFill>
            <a:srgbClr val="2B4EFF"/>
          </a:solidFill>
          <a:ln/>
        </p:spPr>
      </p:sp>
      <p:sp>
        <p:nvSpPr>
          <p:cNvPr id="15" name="Text 13"/>
          <p:cNvSpPr/>
          <p:nvPr/>
        </p:nvSpPr>
        <p:spPr>
          <a:xfrm>
            <a:off x="4480560" y="1097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Email Automation</a:t>
            </a:r>
            <a:endParaRPr lang="en-US" sz="1200" dirty="0"/>
          </a:p>
        </p:txBody>
      </p:sp>
      <p:sp>
        <p:nvSpPr>
          <p:cNvPr id="16" name="Text 14"/>
          <p:cNvSpPr/>
          <p:nvPr/>
        </p:nvSpPr>
        <p:spPr>
          <a:xfrm>
            <a:off x="6903720" y="1097280"/>
            <a:ext cx="9144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DAY 1</a:t>
            </a:r>
            <a:endParaRPr lang="en-US" sz="1000" dirty="0"/>
          </a:p>
        </p:txBody>
      </p:sp>
      <p:sp>
        <p:nvSpPr>
          <p:cNvPr id="17" name="Text 15"/>
          <p:cNvSpPr/>
          <p:nvPr/>
        </p:nvSpPr>
        <p:spPr>
          <a:xfrm>
            <a:off x="4480560" y="1508760"/>
            <a:ext cx="3200400" cy="320040"/>
          </a:xfrm>
          <a:prstGeom prst="rect">
            <a:avLst/>
          </a:prstGeom>
          <a:noFill/>
          <a:ln/>
        </p:spPr>
        <p:txBody>
          <a:bodyPr wrap="square" rtlCol="0" anchor="ctr"/>
          <a:lstStyle/>
          <a:p>
            <a:pPr indent="0" marL="0">
              <a:buNone/>
            </a:pPr>
            <a:r>
              <a:rPr lang="en-US" sz="1000" b="1" dirty="0">
                <a:solidFill>
                  <a:srgbClr val="2B4EFF"/>
                </a:solidFill>
                <a:latin typeface="Plus Jakarta Sans" pitchFamily="34" charset="0"/>
                <a:ea typeface="Plus Jakarta Sans" pitchFamily="34" charset="-122"/>
                <a:cs typeface="Plus Jakarta Sans" pitchFamily="34" charset="-120"/>
              </a:rPr>
              <a:t>Free → ₹3,500/mo</a:t>
            </a:r>
            <a:endParaRPr lang="en-US" sz="1000" dirty="0"/>
          </a:p>
        </p:txBody>
      </p:sp>
      <p:sp>
        <p:nvSpPr>
          <p:cNvPr id="18" name="Text 16"/>
          <p:cNvSpPr/>
          <p:nvPr/>
        </p:nvSpPr>
        <p:spPr>
          <a:xfrm>
            <a:off x="4480560" y="1783080"/>
            <a:ext cx="3291840" cy="320040"/>
          </a:xfrm>
          <a:prstGeom prst="rect">
            <a:avLst/>
          </a:prstGeom>
          <a:noFill/>
          <a:ln/>
        </p:spPr>
        <p:txBody>
          <a:bodyPr wrap="square" rtlCol="0" anchor="ctr"/>
          <a:lstStyle/>
          <a:p>
            <a:pPr indent="0" marL="0">
              <a:buNone/>
            </a:pPr>
            <a:r>
              <a:rPr lang="en-US" sz="900" dirty="0">
                <a:solidFill>
                  <a:srgbClr val="0B1629"/>
                </a:solidFill>
                <a:latin typeface="Plus Jakarta Sans" pitchFamily="34" charset="0"/>
                <a:ea typeface="Plus Jakarta Sans" pitchFamily="34" charset="-122"/>
                <a:cs typeface="Plus Jakarta Sans" pitchFamily="34" charset="-120"/>
              </a:rPr>
              <a:t>Full email CRM — 5-email welcome flow, abandoned cart, post-purchase sequences.\n\nNeither Mass Competitor nor Premium Competitor uses email marketing actively.</a:t>
            </a:r>
            <a:endParaRPr lang="en-US" sz="900" dirty="0"/>
          </a:p>
        </p:txBody>
      </p:sp>
      <p:sp>
        <p:nvSpPr>
          <p:cNvPr id="19" name="Shape 17"/>
          <p:cNvSpPr/>
          <p:nvPr/>
        </p:nvSpPr>
        <p:spPr>
          <a:xfrm>
            <a:off x="8229600" y="1005840"/>
            <a:ext cx="3566160" cy="2286000"/>
          </a:xfrm>
          <a:prstGeom prst="rect">
            <a:avLst>
              <a:gd name="adj" fmla="val 4000"/>
            </a:avLst>
          </a:prstGeom>
          <a:solidFill>
            <a:srgbClr val="EF4444"/>
          </a:solidFill>
          <a:ln w="25400">
            <a:solidFill>
              <a:srgbClr val="EF4444"/>
            </a:solidFill>
            <a:prstDash val="solid"/>
          </a:ln>
        </p:spPr>
      </p:sp>
      <p:sp>
        <p:nvSpPr>
          <p:cNvPr id="20" name="Shape 18"/>
          <p:cNvSpPr/>
          <p:nvPr/>
        </p:nvSpPr>
        <p:spPr>
          <a:xfrm>
            <a:off x="8229600" y="1005840"/>
            <a:ext cx="3566160" cy="411480"/>
          </a:xfrm>
          <a:prstGeom prst="rect">
            <a:avLst/>
          </a:prstGeom>
          <a:solidFill>
            <a:srgbClr val="EF4444"/>
          </a:solidFill>
          <a:ln/>
        </p:spPr>
      </p:sp>
      <p:sp>
        <p:nvSpPr>
          <p:cNvPr id="21" name="Text 19"/>
          <p:cNvSpPr/>
          <p:nvPr/>
        </p:nvSpPr>
        <p:spPr>
          <a:xfrm>
            <a:off x="8366760" y="109728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Reviews Collector</a:t>
            </a:r>
            <a:endParaRPr lang="en-US" sz="1200" dirty="0"/>
          </a:p>
        </p:txBody>
      </p:sp>
      <p:sp>
        <p:nvSpPr>
          <p:cNvPr id="22" name="Text 20"/>
          <p:cNvSpPr/>
          <p:nvPr/>
        </p:nvSpPr>
        <p:spPr>
          <a:xfrm>
            <a:off x="10789920" y="1097280"/>
            <a:ext cx="9144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DAY 1</a:t>
            </a:r>
            <a:endParaRPr lang="en-US" sz="1000" dirty="0"/>
          </a:p>
        </p:txBody>
      </p:sp>
      <p:sp>
        <p:nvSpPr>
          <p:cNvPr id="23" name="Text 21"/>
          <p:cNvSpPr/>
          <p:nvPr/>
        </p:nvSpPr>
        <p:spPr>
          <a:xfrm>
            <a:off x="8366760" y="1508760"/>
            <a:ext cx="3200400" cy="320040"/>
          </a:xfrm>
          <a:prstGeom prst="rect">
            <a:avLst/>
          </a:prstGeom>
          <a:noFill/>
          <a:ln/>
        </p:spPr>
        <p:txBody>
          <a:bodyPr wrap="square" rtlCol="0" anchor="ctr"/>
          <a:lstStyle/>
          <a:p>
            <a:pPr indent="0" marL="0">
              <a:buNone/>
            </a:pPr>
            <a:r>
              <a:rPr lang="en-US" sz="1000" b="1" dirty="0">
                <a:solidFill>
                  <a:srgbClr val="EF4444"/>
                </a:solidFill>
                <a:latin typeface="Plus Jakarta Sans" pitchFamily="34" charset="0"/>
                <a:ea typeface="Plus Jakarta Sans" pitchFamily="34" charset="-122"/>
                <a:cs typeface="Plus Jakarta Sans" pitchFamily="34" charset="-120"/>
              </a:rPr>
              <a:t>₹1,500–2,500/mo</a:t>
            </a:r>
            <a:endParaRPr lang="en-US" sz="1000" dirty="0"/>
          </a:p>
        </p:txBody>
      </p:sp>
      <p:sp>
        <p:nvSpPr>
          <p:cNvPr id="24" name="Text 22"/>
          <p:cNvSpPr/>
          <p:nvPr/>
        </p:nvSpPr>
        <p:spPr>
          <a:xfrm>
            <a:off x="8366760" y="1783080"/>
            <a:ext cx="3291840" cy="320040"/>
          </a:xfrm>
          <a:prstGeom prst="rect">
            <a:avLst/>
          </a:prstGeom>
          <a:noFill/>
          <a:ln/>
        </p:spPr>
        <p:txBody>
          <a:bodyPr wrap="square" rtlCol="0" anchor="ctr"/>
          <a:lstStyle/>
          <a:p>
            <a:pPr indent="0" marL="0">
              <a:buNone/>
            </a:pPr>
            <a:r>
              <a:rPr lang="en-US" sz="900" dirty="0">
                <a:solidFill>
                  <a:srgbClr val="0B1629"/>
                </a:solidFill>
                <a:latin typeface="Plus Jakarta Sans" pitchFamily="34" charset="0"/>
                <a:ea typeface="Plus Jakarta Sans" pitchFamily="34" charset="-122"/>
                <a:cs typeface="Plus Jakarta Sans" pitchFamily="34" charset="-120"/>
              </a:rPr>
              <a:t>Photo + video reviews auto-collected. Feeds Google Shopping + builds trust wall.\n\nMass Competitor uses reviews. Match them. Add photo incentive for UGC advantage.</a:t>
            </a:r>
            <a:endParaRPr lang="en-US" sz="900" dirty="0"/>
          </a:p>
        </p:txBody>
      </p:sp>
      <p:sp>
        <p:nvSpPr>
          <p:cNvPr id="25" name="Shape 23"/>
          <p:cNvSpPr/>
          <p:nvPr/>
        </p:nvSpPr>
        <p:spPr>
          <a:xfrm>
            <a:off x="457200" y="3566160"/>
            <a:ext cx="3566160" cy="2286000"/>
          </a:xfrm>
          <a:prstGeom prst="rect">
            <a:avLst>
              <a:gd name="adj" fmla="val 4000"/>
            </a:avLst>
          </a:prstGeom>
          <a:solidFill>
            <a:srgbClr val="8B5CF6"/>
          </a:solidFill>
          <a:ln w="25400">
            <a:solidFill>
              <a:srgbClr val="8B5CF6"/>
            </a:solidFill>
            <a:prstDash val="solid"/>
          </a:ln>
        </p:spPr>
      </p:sp>
      <p:sp>
        <p:nvSpPr>
          <p:cNvPr id="26" name="Shape 24"/>
          <p:cNvSpPr/>
          <p:nvPr/>
        </p:nvSpPr>
        <p:spPr>
          <a:xfrm>
            <a:off x="457200" y="3566160"/>
            <a:ext cx="3566160" cy="411480"/>
          </a:xfrm>
          <a:prstGeom prst="rect">
            <a:avLst/>
          </a:prstGeom>
          <a:solidFill>
            <a:srgbClr val="8B5CF6"/>
          </a:solidFill>
          <a:ln/>
        </p:spPr>
      </p:sp>
      <p:sp>
        <p:nvSpPr>
          <p:cNvPr id="27" name="Text 25"/>
          <p:cNvSpPr/>
          <p:nvPr/>
        </p:nvSpPr>
        <p:spPr>
          <a:xfrm>
            <a:off x="594360" y="365760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Push Notifications</a:t>
            </a:r>
            <a:endParaRPr lang="en-US" sz="1200" dirty="0"/>
          </a:p>
        </p:txBody>
      </p:sp>
      <p:sp>
        <p:nvSpPr>
          <p:cNvPr id="28" name="Text 26"/>
          <p:cNvSpPr/>
          <p:nvPr/>
        </p:nvSpPr>
        <p:spPr>
          <a:xfrm>
            <a:off x="3017520" y="3657600"/>
            <a:ext cx="9144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1</a:t>
            </a:r>
            <a:endParaRPr lang="en-US" sz="1000" dirty="0"/>
          </a:p>
        </p:txBody>
      </p:sp>
      <p:sp>
        <p:nvSpPr>
          <p:cNvPr id="29" name="Text 27"/>
          <p:cNvSpPr/>
          <p:nvPr/>
        </p:nvSpPr>
        <p:spPr>
          <a:xfrm>
            <a:off x="594360" y="4069080"/>
            <a:ext cx="3200400" cy="320040"/>
          </a:xfrm>
          <a:prstGeom prst="rect">
            <a:avLst/>
          </a:prstGeom>
          <a:noFill/>
          <a:ln/>
        </p:spPr>
        <p:txBody>
          <a:bodyPr wrap="square" rtlCol="0" anchor="ctr"/>
          <a:lstStyle/>
          <a:p>
            <a:pPr indent="0" marL="0">
              <a:buNone/>
            </a:pPr>
            <a:r>
              <a:rPr lang="en-US" sz="1000" b="1" dirty="0">
                <a:solidFill>
                  <a:srgbClr val="8B5CF6"/>
                </a:solidFill>
                <a:latin typeface="Plus Jakarta Sans" pitchFamily="34" charset="0"/>
                <a:ea typeface="Plus Jakarta Sans" pitchFamily="34" charset="-122"/>
                <a:cs typeface="Plus Jakarta Sans" pitchFamily="34" charset="-120"/>
              </a:rPr>
              <a:t>Free → ₹1,200/mo</a:t>
            </a:r>
            <a:endParaRPr lang="en-US" sz="1000" dirty="0"/>
          </a:p>
        </p:txBody>
      </p:sp>
      <p:sp>
        <p:nvSpPr>
          <p:cNvPr id="30" name="Text 28"/>
          <p:cNvSpPr/>
          <p:nvPr/>
        </p:nvSpPr>
        <p:spPr>
          <a:xfrm>
            <a:off x="594360" y="4343400"/>
            <a:ext cx="3291840" cy="320040"/>
          </a:xfrm>
          <a:prstGeom prst="rect">
            <a:avLst/>
          </a:prstGeom>
          <a:noFill/>
          <a:ln/>
        </p:spPr>
        <p:txBody>
          <a:bodyPr wrap="square" rtlCol="0" anchor="ctr"/>
          <a:lstStyle/>
          <a:p>
            <a:pPr indent="0" marL="0">
              <a:buNone/>
            </a:pPr>
            <a:r>
              <a:rPr lang="en-US" sz="900" dirty="0">
                <a:solidFill>
                  <a:srgbClr val="0B1629"/>
                </a:solidFill>
                <a:latin typeface="Plus Jakarta Sans" pitchFamily="34" charset="0"/>
                <a:ea typeface="Plus Jakarta Sans" pitchFamily="34" charset="-122"/>
                <a:cs typeface="Plus Jakarta Sans" pitchFamily="34" charset="-120"/>
              </a:rPr>
              <a:t>Web push notifications — flash sale alerts, back-in-stock, abandoned cart.\n\nNeither competitor uses push. 15%+ CTR on engaged subscribers.</a:t>
            </a:r>
            <a:endParaRPr lang="en-US" sz="900" dirty="0"/>
          </a:p>
        </p:txBody>
      </p:sp>
      <p:sp>
        <p:nvSpPr>
          <p:cNvPr id="31" name="Shape 29"/>
          <p:cNvSpPr/>
          <p:nvPr/>
        </p:nvSpPr>
        <p:spPr>
          <a:xfrm>
            <a:off x="4343400" y="3566160"/>
            <a:ext cx="3566160" cy="2286000"/>
          </a:xfrm>
          <a:prstGeom prst="rect">
            <a:avLst>
              <a:gd name="adj" fmla="val 4000"/>
            </a:avLst>
          </a:prstGeom>
          <a:solidFill>
            <a:srgbClr val="F59E0B"/>
          </a:solidFill>
          <a:ln w="25400">
            <a:solidFill>
              <a:srgbClr val="F59E0B"/>
            </a:solidFill>
            <a:prstDash val="solid"/>
          </a:ln>
        </p:spPr>
      </p:sp>
      <p:sp>
        <p:nvSpPr>
          <p:cNvPr id="32" name="Shape 30"/>
          <p:cNvSpPr/>
          <p:nvPr/>
        </p:nvSpPr>
        <p:spPr>
          <a:xfrm>
            <a:off x="4343400" y="3566160"/>
            <a:ext cx="3566160" cy="411480"/>
          </a:xfrm>
          <a:prstGeom prst="rect">
            <a:avLst/>
          </a:prstGeom>
          <a:solidFill>
            <a:srgbClr val="F59E0B"/>
          </a:solidFill>
          <a:ln/>
        </p:spPr>
      </p:sp>
      <p:sp>
        <p:nvSpPr>
          <p:cNvPr id="33" name="Text 31"/>
          <p:cNvSpPr/>
          <p:nvPr/>
        </p:nvSpPr>
        <p:spPr>
          <a:xfrm>
            <a:off x="4480560" y="365760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Rebuy / AfterSell</a:t>
            </a:r>
            <a:endParaRPr lang="en-US" sz="1200" dirty="0"/>
          </a:p>
        </p:txBody>
      </p:sp>
      <p:sp>
        <p:nvSpPr>
          <p:cNvPr id="34" name="Text 32"/>
          <p:cNvSpPr/>
          <p:nvPr/>
        </p:nvSpPr>
        <p:spPr>
          <a:xfrm>
            <a:off x="6903720" y="3657600"/>
            <a:ext cx="9144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1</a:t>
            </a:r>
            <a:endParaRPr lang="en-US" sz="1000" dirty="0"/>
          </a:p>
        </p:txBody>
      </p:sp>
      <p:sp>
        <p:nvSpPr>
          <p:cNvPr id="35" name="Text 33"/>
          <p:cNvSpPr/>
          <p:nvPr/>
        </p:nvSpPr>
        <p:spPr>
          <a:xfrm>
            <a:off x="4480560" y="4069080"/>
            <a:ext cx="3200400" cy="320040"/>
          </a:xfrm>
          <a:prstGeom prst="rect">
            <a:avLst/>
          </a:prstGeom>
          <a:noFill/>
          <a:ln/>
        </p:spPr>
        <p:txBody>
          <a:bodyPr wrap="square" rtlCol="0" anchor="ctr"/>
          <a:lstStyle/>
          <a:p>
            <a:pPr indent="0" marL="0">
              <a:buNone/>
            </a:pPr>
            <a:r>
              <a:rPr lang="en-US" sz="1000" b="1" dirty="0">
                <a:solidFill>
                  <a:srgbClr val="F59E0B"/>
                </a:solidFill>
                <a:latin typeface="Plus Jakarta Sans" pitchFamily="34" charset="0"/>
                <a:ea typeface="Plus Jakarta Sans" pitchFamily="34" charset="-122"/>
                <a:cs typeface="Plus Jakarta Sans" pitchFamily="34" charset="-120"/>
              </a:rPr>
              <a:t>₹2,500–4,000/mo</a:t>
            </a:r>
            <a:endParaRPr lang="en-US" sz="1000" dirty="0"/>
          </a:p>
        </p:txBody>
      </p:sp>
      <p:sp>
        <p:nvSpPr>
          <p:cNvPr id="36" name="Text 34"/>
          <p:cNvSpPr/>
          <p:nvPr/>
        </p:nvSpPr>
        <p:spPr>
          <a:xfrm>
            <a:off x="4480560" y="4343400"/>
            <a:ext cx="3291840" cy="320040"/>
          </a:xfrm>
          <a:prstGeom prst="rect">
            <a:avLst/>
          </a:prstGeom>
          <a:noFill/>
          <a:ln/>
        </p:spPr>
        <p:txBody>
          <a:bodyPr wrap="square" rtlCol="0" anchor="ctr"/>
          <a:lstStyle/>
          <a:p>
            <a:pPr indent="0" marL="0">
              <a:buNone/>
            </a:pPr>
            <a:r>
              <a:rPr lang="en-US" sz="900" dirty="0">
                <a:solidFill>
                  <a:srgbClr val="0B1629"/>
                </a:solidFill>
                <a:latin typeface="Plus Jakarta Sans" pitchFamily="34" charset="0"/>
                <a:ea typeface="Plus Jakarta Sans" pitchFamily="34" charset="-122"/>
                <a:cs typeface="Plus Jakarta Sans" pitchFamily="34" charset="-120"/>
              </a:rPr>
              <a:t>Post-purchase upsell page + cart upsells. "Complete the bundle" cross-sells.\n\nPremium Competitor has OutSell. Match + exceed with Rebuy's AI engine.</a:t>
            </a:r>
            <a:endParaRPr lang="en-US" sz="900" dirty="0"/>
          </a:p>
        </p:txBody>
      </p:sp>
      <p:sp>
        <p:nvSpPr>
          <p:cNvPr id="37" name="Shape 35"/>
          <p:cNvSpPr/>
          <p:nvPr/>
        </p:nvSpPr>
        <p:spPr>
          <a:xfrm>
            <a:off x="8229600" y="3566160"/>
            <a:ext cx="3566160" cy="2286000"/>
          </a:xfrm>
          <a:prstGeom prst="rect">
            <a:avLst>
              <a:gd name="adj" fmla="val 4000"/>
            </a:avLst>
          </a:prstGeom>
          <a:solidFill>
            <a:srgbClr val="0B1629"/>
          </a:solidFill>
          <a:ln w="25400">
            <a:solidFill>
              <a:srgbClr val="0B1629"/>
            </a:solidFill>
            <a:prstDash val="solid"/>
          </a:ln>
        </p:spPr>
      </p:sp>
      <p:sp>
        <p:nvSpPr>
          <p:cNvPr id="38" name="Shape 36"/>
          <p:cNvSpPr/>
          <p:nvPr/>
        </p:nvSpPr>
        <p:spPr>
          <a:xfrm>
            <a:off x="8229600" y="3566160"/>
            <a:ext cx="3566160" cy="411480"/>
          </a:xfrm>
          <a:prstGeom prst="rect">
            <a:avLst/>
          </a:prstGeom>
          <a:solidFill>
            <a:srgbClr val="0B1629"/>
          </a:solidFill>
          <a:ln/>
        </p:spPr>
      </p:sp>
      <p:sp>
        <p:nvSpPr>
          <p:cNvPr id="39" name="Text 37"/>
          <p:cNvSpPr/>
          <p:nvPr/>
        </p:nvSpPr>
        <p:spPr>
          <a:xfrm>
            <a:off x="8366760" y="3657600"/>
            <a:ext cx="320040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GA4 + Meta Pixel</a:t>
            </a:r>
            <a:endParaRPr lang="en-US" sz="1200" dirty="0"/>
          </a:p>
        </p:txBody>
      </p:sp>
      <p:sp>
        <p:nvSpPr>
          <p:cNvPr id="40" name="Text 38"/>
          <p:cNvSpPr/>
          <p:nvPr/>
        </p:nvSpPr>
        <p:spPr>
          <a:xfrm>
            <a:off x="10789920" y="3657600"/>
            <a:ext cx="914400" cy="320040"/>
          </a:xfrm>
          <a:prstGeom prst="rect">
            <a:avLst/>
          </a:prstGeom>
          <a:noFill/>
          <a:ln/>
        </p:spPr>
        <p:txBody>
          <a:bodyPr wrap="square" rtlCol="0" anchor="ctr"/>
          <a:lstStyle/>
          <a:p>
            <a:pPr algn="r" indent="0" marL="0">
              <a:buNone/>
            </a:pPr>
            <a:r>
              <a:rPr lang="en-US" sz="1000" b="1" dirty="0">
                <a:solidFill>
                  <a:srgbClr val="FFFFFF"/>
                </a:solidFill>
                <a:latin typeface="Plus Jakarta Sans" pitchFamily="34" charset="0"/>
                <a:ea typeface="Plus Jakarta Sans" pitchFamily="34" charset="-122"/>
                <a:cs typeface="Plus Jakarta Sans" pitchFamily="34" charset="-120"/>
              </a:rPr>
              <a:t>DAY 1</a:t>
            </a:r>
            <a:endParaRPr lang="en-US" sz="1000" dirty="0"/>
          </a:p>
        </p:txBody>
      </p:sp>
      <p:sp>
        <p:nvSpPr>
          <p:cNvPr id="41" name="Text 39"/>
          <p:cNvSpPr/>
          <p:nvPr/>
        </p:nvSpPr>
        <p:spPr>
          <a:xfrm>
            <a:off x="8366760" y="40690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FREE</a:t>
            </a:r>
            <a:endParaRPr lang="en-US" sz="1000" dirty="0"/>
          </a:p>
        </p:txBody>
      </p:sp>
      <p:sp>
        <p:nvSpPr>
          <p:cNvPr id="42" name="Text 40"/>
          <p:cNvSpPr/>
          <p:nvPr/>
        </p:nvSpPr>
        <p:spPr>
          <a:xfrm>
            <a:off x="8366760" y="4343400"/>
            <a:ext cx="3291840" cy="320040"/>
          </a:xfrm>
          <a:prstGeom prst="rect">
            <a:avLst/>
          </a:prstGeom>
          <a:noFill/>
          <a:ln/>
        </p:spPr>
        <p:txBody>
          <a:bodyPr wrap="square" rtlCol="0" anchor="ctr"/>
          <a:lstStyle/>
          <a:p>
            <a:pPr indent="0" marL="0">
              <a:buNone/>
            </a:pPr>
            <a:r>
              <a:rPr lang="en-US" sz="900" dirty="0">
                <a:solidFill>
                  <a:srgbClr val="0B1629"/>
                </a:solidFill>
                <a:latin typeface="Plus Jakarta Sans" pitchFamily="34" charset="0"/>
                <a:ea typeface="Plus Jakarta Sans" pitchFamily="34" charset="-122"/>
                <a:cs typeface="Plus Jakarta Sans" pitchFamily="34" charset="-120"/>
              </a:rPr>
              <a:t>Full attribution setup. UTM tracking on every campaign from Day 1.\n\nBoth competitors confirmed using GA4 + FB Pixel. Table stakes — must have.</a:t>
            </a:r>
            <a:endParaRPr lang="en-US" sz="900" dirty="0"/>
          </a:p>
        </p:txBody>
      </p:sp>
      <p:sp>
        <p:nvSpPr>
          <p:cNvPr id="43" name="Shape 41"/>
          <p:cNvSpPr/>
          <p:nvPr/>
        </p:nvSpPr>
        <p:spPr>
          <a:xfrm>
            <a:off x="457200" y="5669280"/>
            <a:ext cx="11247120" cy="548640"/>
          </a:xfrm>
          <a:prstGeom prst="rect">
            <a:avLst/>
          </a:prstGeom>
          <a:solidFill>
            <a:srgbClr val="0B1629"/>
          </a:solidFill>
          <a:ln/>
        </p:spPr>
      </p:sp>
      <p:sp>
        <p:nvSpPr>
          <p:cNvPr id="44" name="Text 42"/>
          <p:cNvSpPr/>
          <p:nvPr/>
        </p:nvSpPr>
        <p:spPr>
          <a:xfrm>
            <a:off x="640080" y="5806440"/>
            <a:ext cx="10881360" cy="0"/>
          </a:xfrm>
          <a:prstGeom prst="rect">
            <a:avLst/>
          </a:prstGeom>
          <a:noFill/>
          <a:ln/>
        </p:spPr>
        <p:txBody>
          <a:bodyPr wrap="square" rtlCol="0" anchor="ctr"/>
          <a:lstStyle/>
          <a:p>
            <a:pPr indent="0" marL="0">
              <a:buNone/>
            </a:pPr>
            <a:r>
              <a:rPr lang="en-US" sz="1000" b="1" dirty="0">
                <a:solidFill>
                  <a:srgbClr val="FFFFFF"/>
                </a:solidFill>
                <a:latin typeface="Plus Jakarta Sans" pitchFamily="34" charset="0"/>
                <a:ea typeface="Plus Jakarta Sans" pitchFamily="34" charset="-122"/>
                <a:cs typeface="Plus Jakarta Sans" pitchFamily="34" charset="-120"/>
              </a:rPr>
              <a:t>TOTAL ESTIMATED STACK COST: ₹12,000–18,000/month · ROI: Retention alone recovers 3–4x this cost in saved ad spend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629"/>
          </a:solidFill>
          <a:ln/>
        </p:spPr>
      </p:sp>
      <p:sp>
        <p:nvSpPr>
          <p:cNvPr id="3" name="Shape 1"/>
          <p:cNvSpPr/>
          <p:nvPr/>
        </p:nvSpPr>
        <p:spPr>
          <a:xfrm>
            <a:off x="457200" y="274320"/>
            <a:ext cx="2011680" cy="411480"/>
          </a:xfrm>
          <a:prstGeom prst="rect">
            <a:avLst>
              <a:gd name="adj" fmla="val 22222"/>
            </a:avLst>
          </a:prstGeom>
          <a:solidFill>
            <a:srgbClr val="F59E0B"/>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COMPETITIVE ADVANTAGE</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THE GAPS THEY LEFT. WE TAKE THEM ALL.</a:t>
            </a:r>
            <a:endParaRPr lang="en-US" sz="2200" dirty="0"/>
          </a:p>
        </p:txBody>
      </p:sp>
      <p:sp>
        <p:nvSpPr>
          <p:cNvPr id="6" name="Shape 4"/>
          <p:cNvSpPr/>
          <p:nvPr/>
        </p:nvSpPr>
        <p:spPr>
          <a:xfrm>
            <a:off x="457200" y="1005840"/>
            <a:ext cx="3566160" cy="2286000"/>
          </a:xfrm>
          <a:prstGeom prst="rect">
            <a:avLst>
              <a:gd name="adj" fmla="val 4000"/>
            </a:avLst>
          </a:prstGeom>
          <a:solidFill>
            <a:srgbClr val="111E35"/>
          </a:solidFill>
          <a:ln w="25400">
            <a:solidFill>
              <a:srgbClr val="10B981"/>
            </a:solidFill>
            <a:prstDash val="solid"/>
          </a:ln>
        </p:spPr>
      </p:sp>
      <p:sp>
        <p:nvSpPr>
          <p:cNvPr id="7" name="Text 5"/>
          <p:cNvSpPr/>
          <p:nvPr/>
        </p:nvSpPr>
        <p:spPr>
          <a:xfrm>
            <a:off x="594360" y="118872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WhatsApp Automation</a:t>
            </a:r>
            <a:endParaRPr lang="en-US" sz="1300" dirty="0"/>
          </a:p>
        </p:txBody>
      </p:sp>
      <p:sp>
        <p:nvSpPr>
          <p:cNvPr id="8" name="Text 6"/>
          <p:cNvSpPr/>
          <p:nvPr/>
        </p:nvSpPr>
        <p:spPr>
          <a:xfrm>
            <a:off x="594360" y="1645920"/>
            <a:ext cx="3291840" cy="320040"/>
          </a:xfrm>
          <a:prstGeom prst="rect">
            <a:avLst/>
          </a:prstGeom>
          <a:noFill/>
          <a:ln/>
        </p:spPr>
        <p:txBody>
          <a:bodyPr wrap="square" rtlCol="0" anchor="ctr"/>
          <a:lstStyle/>
          <a:p>
            <a:pPr indent="0" marL="0">
              <a:lnSpc>
                <a:spcPts val="1800"/>
              </a:lnSpc>
              <a:buNone/>
            </a:pPr>
            <a:r>
              <a:rPr lang="en-US" sz="1000" dirty="0">
                <a:solidFill>
                  <a:srgbClr val="CCCCCC"/>
                </a:solidFill>
                <a:latin typeface="Plus Jakarta Sans" pitchFamily="34" charset="0"/>
                <a:ea typeface="Plus Jakarta Sans" pitchFamily="34" charset="-122"/>
                <a:cs typeface="Plus Jakarta Sans" pitchFamily="34" charset="-120"/>
              </a:rPr>
              <a:t>THEM: Mass Competitor = manual · Premium Competitor = broadcast only\nUS: automated flows — 8 touchpoints from Day 1\nRecover 30–40% of abandoned carts competitors lose forever</a:t>
            </a:r>
            <a:endParaRPr lang="en-US" sz="1000" dirty="0"/>
          </a:p>
        </p:txBody>
      </p:sp>
      <p:sp>
        <p:nvSpPr>
          <p:cNvPr id="9" name="Shape 7"/>
          <p:cNvSpPr/>
          <p:nvPr/>
        </p:nvSpPr>
        <p:spPr>
          <a:xfrm>
            <a:off x="4343400" y="1005840"/>
            <a:ext cx="3566160" cy="2286000"/>
          </a:xfrm>
          <a:prstGeom prst="rect">
            <a:avLst>
              <a:gd name="adj" fmla="val 4000"/>
            </a:avLst>
          </a:prstGeom>
          <a:solidFill>
            <a:srgbClr val="111E35"/>
          </a:solidFill>
          <a:ln w="25400">
            <a:solidFill>
              <a:srgbClr val="2B4EFF"/>
            </a:solidFill>
            <a:prstDash val="solid"/>
          </a:ln>
        </p:spPr>
      </p:sp>
      <p:sp>
        <p:nvSpPr>
          <p:cNvPr id="10" name="Text 8"/>
          <p:cNvSpPr/>
          <p:nvPr/>
        </p:nvSpPr>
        <p:spPr>
          <a:xfrm>
            <a:off x="4480560" y="118872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Email Marketing</a:t>
            </a:r>
            <a:endParaRPr lang="en-US" sz="1300" dirty="0"/>
          </a:p>
        </p:txBody>
      </p:sp>
      <p:sp>
        <p:nvSpPr>
          <p:cNvPr id="11" name="Text 9"/>
          <p:cNvSpPr/>
          <p:nvPr/>
        </p:nvSpPr>
        <p:spPr>
          <a:xfrm>
            <a:off x="4480560" y="1645920"/>
            <a:ext cx="3291840" cy="320040"/>
          </a:xfrm>
          <a:prstGeom prst="rect">
            <a:avLst/>
          </a:prstGeom>
          <a:noFill/>
          <a:ln/>
        </p:spPr>
        <p:txBody>
          <a:bodyPr wrap="square" rtlCol="0" anchor="ctr"/>
          <a:lstStyle/>
          <a:p>
            <a:pPr indent="0" marL="0">
              <a:lnSpc>
                <a:spcPts val="1800"/>
              </a:lnSpc>
              <a:buNone/>
            </a:pPr>
            <a:r>
              <a:rPr lang="en-US" sz="1000" dirty="0">
                <a:solidFill>
                  <a:srgbClr val="CCCCCC"/>
                </a:solidFill>
                <a:latin typeface="Plus Jakarta Sans" pitchFamily="34" charset="0"/>
                <a:ea typeface="Plus Jakarta Sans" pitchFamily="34" charset="-122"/>
                <a:cs typeface="Plus Jakarta Sans" pitchFamily="34" charset="-120"/>
              </a:rPr>
              <a:t>THEM: Neither Mass Competitor nor Premium Competitor runs email nurture\nUS: Klaviyo 5-email welcome flow + lifecycle sequences\nZero competition in inbox = 25–30% open rate from Day 1</a:t>
            </a:r>
            <a:endParaRPr lang="en-US" sz="1000" dirty="0"/>
          </a:p>
        </p:txBody>
      </p:sp>
      <p:sp>
        <p:nvSpPr>
          <p:cNvPr id="12" name="Shape 10"/>
          <p:cNvSpPr/>
          <p:nvPr/>
        </p:nvSpPr>
        <p:spPr>
          <a:xfrm>
            <a:off x="8229600" y="1005840"/>
            <a:ext cx="3566160" cy="2286000"/>
          </a:xfrm>
          <a:prstGeom prst="rect">
            <a:avLst>
              <a:gd name="adj" fmla="val 4000"/>
            </a:avLst>
          </a:prstGeom>
          <a:solidFill>
            <a:srgbClr val="111E35"/>
          </a:solidFill>
          <a:ln w="25400">
            <a:solidFill>
              <a:srgbClr val="EF4444"/>
            </a:solidFill>
            <a:prstDash val="solid"/>
          </a:ln>
        </p:spPr>
      </p:sp>
      <p:sp>
        <p:nvSpPr>
          <p:cNvPr id="13" name="Text 11"/>
          <p:cNvSpPr/>
          <p:nvPr/>
        </p:nvSpPr>
        <p:spPr>
          <a:xfrm>
            <a:off x="8366760" y="118872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YouTube Strategy</a:t>
            </a:r>
            <a:endParaRPr lang="en-US" sz="1300" dirty="0"/>
          </a:p>
        </p:txBody>
      </p:sp>
      <p:sp>
        <p:nvSpPr>
          <p:cNvPr id="14" name="Text 12"/>
          <p:cNvSpPr/>
          <p:nvPr/>
        </p:nvSpPr>
        <p:spPr>
          <a:xfrm>
            <a:off x="8366760" y="1645920"/>
            <a:ext cx="3291840" cy="320040"/>
          </a:xfrm>
          <a:prstGeom prst="rect">
            <a:avLst/>
          </a:prstGeom>
          <a:noFill/>
          <a:ln/>
        </p:spPr>
        <p:txBody>
          <a:bodyPr wrap="square" rtlCol="0" anchor="ctr"/>
          <a:lstStyle/>
          <a:p>
            <a:pPr indent="0" marL="0">
              <a:lnSpc>
                <a:spcPts val="1800"/>
              </a:lnSpc>
              <a:buNone/>
            </a:pPr>
            <a:r>
              <a:rPr lang="en-US" sz="1000" dirty="0">
                <a:solidFill>
                  <a:srgbClr val="CCCCCC"/>
                </a:solidFill>
                <a:latin typeface="Plus Jakarta Sans" pitchFamily="34" charset="0"/>
                <a:ea typeface="Plus Jakarta Sans" pitchFamily="34" charset="-122"/>
                <a:cs typeface="Plus Jakarta Sans" pitchFamily="34" charset="-120"/>
              </a:rPr>
              <a:t>THEM: No competitor owns YouTube SEO\nUS: 2 videos/month — size guide, feature demos, founder story\nCompound organic traffic — competitor presence is extremely low</a:t>
            </a:r>
            <a:endParaRPr lang="en-US" sz="1000" dirty="0"/>
          </a:p>
        </p:txBody>
      </p:sp>
      <p:sp>
        <p:nvSpPr>
          <p:cNvPr id="15" name="Shape 13"/>
          <p:cNvSpPr/>
          <p:nvPr/>
        </p:nvSpPr>
        <p:spPr>
          <a:xfrm>
            <a:off x="457200" y="3566160"/>
            <a:ext cx="3566160" cy="2286000"/>
          </a:xfrm>
          <a:prstGeom prst="rect">
            <a:avLst>
              <a:gd name="adj" fmla="val 4000"/>
            </a:avLst>
          </a:prstGeom>
          <a:solidFill>
            <a:srgbClr val="111E35"/>
          </a:solidFill>
          <a:ln w="25400">
            <a:solidFill>
              <a:srgbClr val="F59E0B"/>
            </a:solidFill>
            <a:prstDash val="solid"/>
          </a:ln>
        </p:spPr>
      </p:sp>
      <p:sp>
        <p:nvSpPr>
          <p:cNvPr id="16" name="Text 14"/>
          <p:cNvSpPr/>
          <p:nvPr/>
        </p:nvSpPr>
        <p:spPr>
          <a:xfrm>
            <a:off x="594360" y="374904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Google Shopping</a:t>
            </a:r>
            <a:endParaRPr lang="en-US" sz="1300" dirty="0"/>
          </a:p>
        </p:txBody>
      </p:sp>
      <p:sp>
        <p:nvSpPr>
          <p:cNvPr id="17" name="Text 15"/>
          <p:cNvSpPr/>
          <p:nvPr/>
        </p:nvSpPr>
        <p:spPr>
          <a:xfrm>
            <a:off x="594360" y="4206240"/>
            <a:ext cx="3291840" cy="320040"/>
          </a:xfrm>
          <a:prstGeom prst="rect">
            <a:avLst/>
          </a:prstGeom>
          <a:noFill/>
          <a:ln/>
        </p:spPr>
        <p:txBody>
          <a:bodyPr wrap="square" rtlCol="0" anchor="ctr"/>
          <a:lstStyle/>
          <a:p>
            <a:pPr indent="0" marL="0">
              <a:lnSpc>
                <a:spcPts val="1800"/>
              </a:lnSpc>
              <a:buNone/>
            </a:pPr>
            <a:r>
              <a:rPr lang="en-US" sz="1000" dirty="0">
                <a:solidFill>
                  <a:srgbClr val="CCCCCC"/>
                </a:solidFill>
                <a:latin typeface="Plus Jakarta Sans" pitchFamily="34" charset="0"/>
                <a:ea typeface="Plus Jakarta Sans" pitchFamily="34" charset="-122"/>
                <a:cs typeface="Plus Jakarta Sans" pitchFamily="34" charset="-120"/>
              </a:rPr>
              <a:t>THEM: Premium Competitor runs Shopping. Mass Competitor does NOT.\nUS: All SKUs with SEO-optimised titles from Day 1\nCapture purchase-intent searches competitors ignore completely</a:t>
            </a:r>
            <a:endParaRPr lang="en-US" sz="1000" dirty="0"/>
          </a:p>
        </p:txBody>
      </p:sp>
      <p:sp>
        <p:nvSpPr>
          <p:cNvPr id="18" name="Shape 16"/>
          <p:cNvSpPr/>
          <p:nvPr/>
        </p:nvSpPr>
        <p:spPr>
          <a:xfrm>
            <a:off x="4343400" y="3566160"/>
            <a:ext cx="3566160" cy="2286000"/>
          </a:xfrm>
          <a:prstGeom prst="rect">
            <a:avLst>
              <a:gd name="adj" fmla="val 4000"/>
            </a:avLst>
          </a:prstGeom>
          <a:solidFill>
            <a:srgbClr val="111E35"/>
          </a:solidFill>
          <a:ln w="25400">
            <a:solidFill>
              <a:srgbClr val="8B5CF6"/>
            </a:solidFill>
            <a:prstDash val="solid"/>
          </a:ln>
        </p:spPr>
      </p:sp>
      <p:sp>
        <p:nvSpPr>
          <p:cNvPr id="19" name="Text 17"/>
          <p:cNvSpPr/>
          <p:nvPr/>
        </p:nvSpPr>
        <p:spPr>
          <a:xfrm>
            <a:off x="4480560" y="374904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Premium Offer Design</a:t>
            </a:r>
            <a:endParaRPr lang="en-US" sz="1300" dirty="0"/>
          </a:p>
        </p:txBody>
      </p:sp>
      <p:sp>
        <p:nvSpPr>
          <p:cNvPr id="20" name="Text 18"/>
          <p:cNvSpPr/>
          <p:nvPr/>
        </p:nvSpPr>
        <p:spPr>
          <a:xfrm>
            <a:off x="4480560" y="4206240"/>
            <a:ext cx="3291840" cy="320040"/>
          </a:xfrm>
          <a:prstGeom prst="rect">
            <a:avLst/>
          </a:prstGeom>
          <a:noFill/>
          <a:ln/>
        </p:spPr>
        <p:txBody>
          <a:bodyPr wrap="square" rtlCol="0" anchor="ctr"/>
          <a:lstStyle/>
          <a:p>
            <a:pPr indent="0" marL="0">
              <a:lnSpc>
                <a:spcPts val="1800"/>
              </a:lnSpc>
              <a:buNone/>
            </a:pPr>
            <a:r>
              <a:rPr lang="en-US" sz="1000" dirty="0">
                <a:solidFill>
                  <a:srgbClr val="CCCCCC"/>
                </a:solidFill>
                <a:latin typeface="Plus Jakarta Sans" pitchFamily="34" charset="0"/>
                <a:ea typeface="Plus Jakarta Sans" pitchFamily="34" charset="-122"/>
                <a:cs typeface="Plus Jakarta Sans" pitchFamily="34" charset="-120"/>
              </a:rPr>
              <a:t>THEM: Both brands = discount-dependent. Codes everywhere.\nUS: Gift-first strategy — gifts, bundle upsells, early access.\nHigher AOV, better margins, loyal customers who pay full price</a:t>
            </a:r>
            <a:endParaRPr lang="en-US" sz="1000" dirty="0"/>
          </a:p>
        </p:txBody>
      </p:sp>
      <p:sp>
        <p:nvSpPr>
          <p:cNvPr id="21" name="Shape 19"/>
          <p:cNvSpPr/>
          <p:nvPr/>
        </p:nvSpPr>
        <p:spPr>
          <a:xfrm>
            <a:off x="8229600" y="3566160"/>
            <a:ext cx="3566160" cy="2286000"/>
          </a:xfrm>
          <a:prstGeom prst="rect">
            <a:avLst>
              <a:gd name="adj" fmla="val 4000"/>
            </a:avLst>
          </a:prstGeom>
          <a:solidFill>
            <a:srgbClr val="111E35"/>
          </a:solidFill>
          <a:ln w="25400">
            <a:solidFill>
              <a:srgbClr val="2B4EFF"/>
            </a:solidFill>
            <a:prstDash val="solid"/>
          </a:ln>
        </p:spPr>
      </p:sp>
      <p:sp>
        <p:nvSpPr>
          <p:cNvPr id="22" name="Text 20"/>
          <p:cNvSpPr/>
          <p:nvPr/>
        </p:nvSpPr>
        <p:spPr>
          <a:xfrm>
            <a:off x="8366760" y="374904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Brand Origin Story</a:t>
            </a:r>
            <a:endParaRPr lang="en-US" sz="1300" dirty="0"/>
          </a:p>
        </p:txBody>
      </p:sp>
      <p:sp>
        <p:nvSpPr>
          <p:cNvPr id="23" name="Text 21"/>
          <p:cNvSpPr/>
          <p:nvPr/>
        </p:nvSpPr>
        <p:spPr>
          <a:xfrm>
            <a:off x="8366760" y="4206240"/>
            <a:ext cx="3291840" cy="320040"/>
          </a:xfrm>
          <a:prstGeom prst="rect">
            <a:avLst/>
          </a:prstGeom>
          <a:noFill/>
          <a:ln/>
        </p:spPr>
        <p:txBody>
          <a:bodyPr wrap="square" rtlCol="0" anchor="ctr"/>
          <a:lstStyle/>
          <a:p>
            <a:pPr indent="0" marL="0">
              <a:lnSpc>
                <a:spcPts val="1800"/>
              </a:lnSpc>
              <a:buNone/>
            </a:pPr>
            <a:r>
              <a:rPr lang="en-US" sz="1000" dirty="0">
                <a:solidFill>
                  <a:srgbClr val="CCCCCC"/>
                </a:solidFill>
                <a:latin typeface="Plus Jakarta Sans" pitchFamily="34" charset="0"/>
                <a:ea typeface="Plus Jakarta Sans" pitchFamily="34" charset="-122"/>
                <a:cs typeface="Plus Jakarta Sans" pitchFamily="34" charset="-120"/>
              </a:rPr>
              <a:t>THEM: No competitor owns the local founder story\nUS: Every ad, page, and post leads with localized brand values\nEmotional moat — once owned, impossible for others to steal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CREATIVE STRATEGY</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Creative Production Plan — What We Make, Why, and For Whom</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5394960" cy="5120640"/>
          </a:xfrm>
          <a:prstGeom prst="rect">
            <a:avLst>
              <a:gd name="adj" fmla="val 1786"/>
            </a:avLst>
          </a:prstGeom>
          <a:solidFill>
            <a:srgbClr val="FFFFFF"/>
          </a:solidFill>
          <a:ln/>
        </p:spPr>
      </p:sp>
      <p:sp>
        <p:nvSpPr>
          <p:cNvPr id="8" name="Shape 6"/>
          <p:cNvSpPr/>
          <p:nvPr/>
        </p:nvSpPr>
        <p:spPr>
          <a:xfrm>
            <a:off x="457200" y="1005840"/>
            <a:ext cx="5394960" cy="457200"/>
          </a:xfrm>
          <a:prstGeom prst="rect">
            <a:avLst/>
          </a:prstGeom>
          <a:solidFill>
            <a:srgbClr val="0B1629"/>
          </a:solidFill>
          <a:ln/>
        </p:spPr>
      </p:sp>
      <p:sp>
        <p:nvSpPr>
          <p:cNvPr id="9" name="Text 7"/>
          <p:cNvSpPr/>
          <p:nvPr/>
        </p:nvSpPr>
        <p:spPr>
          <a:xfrm>
            <a:off x="640080" y="1143000"/>
            <a:ext cx="1005840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5 CORE AD ANGLES — 10 CREATIVES/MONTH</a:t>
            </a:r>
            <a:endParaRPr lang="en-US" sz="11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ts val="1800"/>
              </a:lnSpc>
              <a:buNone/>
            </a:pPr>
            <a:r>
              <a:rPr lang="en-US" sz="1050" dirty="0">
                <a:solidFill>
                  <a:srgbClr val="0B1629"/>
                </a:solidFill>
                <a:latin typeface="Plus Jakarta Sans" pitchFamily="34" charset="0"/>
                <a:ea typeface="Plus Jakarta Sans" pitchFamily="34" charset="-122"/>
                <a:cs typeface="Plus Jakarta Sans" pitchFamily="34" charset="-120"/>
              </a:rPr>
              <a:t>01. THE PERFORMANCE PROOF (Reel · 15s)\n"Demonstrate product efficacy and premium ingredients/materials."\n\n02. THE VALUE / PROBLEM STORY (Reel · 30s)\n"Showcase the core problem Mr./Ms. Aditya Sharma set out to solve for India."\n\n03. THE AESTHETIC DROP (Video · 6s)\n"Visual-first showcase of the product and its packaging."\n\n04. THE SOCIAL PROOF WALL (Static Carousel)\n"Real user reviews, testimonials, and rating highlights."\n\n05. THE OFFER REVEAL (Static Image)\n"Free Premium Frother on orders above ₹1,499"</a:t>
            </a:r>
            <a:endParaRPr lang="en-US" sz="1050" dirty="0"/>
          </a:p>
        </p:txBody>
      </p:sp>
      <p:sp>
        <p:nvSpPr>
          <p:cNvPr id="11" name="Shape 9"/>
          <p:cNvSpPr/>
          <p:nvPr/>
        </p:nvSpPr>
        <p:spPr>
          <a:xfrm>
            <a:off x="6309360" y="1005840"/>
            <a:ext cx="5394960" cy="5120640"/>
          </a:xfrm>
          <a:prstGeom prst="rect">
            <a:avLst>
              <a:gd name="adj" fmla="val 1786"/>
            </a:avLst>
          </a:prstGeom>
          <a:solidFill>
            <a:srgbClr val="FFFFFF"/>
          </a:solidFill>
          <a:ln/>
        </p:spPr>
      </p:sp>
      <p:sp>
        <p:nvSpPr>
          <p:cNvPr id="12" name="Shape 10"/>
          <p:cNvSpPr/>
          <p:nvPr/>
        </p:nvSpPr>
        <p:spPr>
          <a:xfrm>
            <a:off x="6309360" y="1005840"/>
            <a:ext cx="5394960" cy="457200"/>
          </a:xfrm>
          <a:prstGeom prst="rect">
            <a:avLst/>
          </a:prstGeom>
          <a:solidFill>
            <a:srgbClr val="2B4EFF"/>
          </a:solidFill>
          <a:ln/>
        </p:spPr>
      </p:sp>
      <p:sp>
        <p:nvSpPr>
          <p:cNvPr id="13" name="Text 11"/>
          <p:cNvSpPr/>
          <p:nvPr/>
        </p:nvSpPr>
        <p:spPr>
          <a:xfrm>
            <a:off x="6492240" y="1143000"/>
            <a:ext cx="5212080" cy="320040"/>
          </a:xfrm>
          <a:prstGeom prst="rect">
            <a:avLst/>
          </a:prstGeom>
          <a:noFill/>
          <a:ln/>
        </p:spPr>
        <p:txBody>
          <a:bodyPr wrap="square" rtlCol="0" anchor="ct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MONTHLY PRODUCTION SCHEDULE</a:t>
            </a:r>
            <a:endParaRPr lang="en-US" sz="1100" dirty="0"/>
          </a:p>
        </p:txBody>
      </p:sp>
      <p:sp>
        <p:nvSpPr>
          <p:cNvPr id="14" name="Text 12"/>
          <p:cNvSpPr/>
          <p:nvPr/>
        </p:nvSpPr>
        <p:spPr>
          <a:xfrm>
            <a:off x="6492240" y="1554480"/>
            <a:ext cx="5029200" cy="320040"/>
          </a:xfrm>
          <a:prstGeom prst="rect">
            <a:avLst/>
          </a:prstGeom>
          <a:noFill/>
          <a:ln/>
        </p:spPr>
        <p:txBody>
          <a:bodyPr wrap="square" rtlCol="0" anchor="ctr"/>
          <a:lstStyle/>
          <a:p>
            <a:pPr indent="0" marL="0">
              <a:lnSpc>
                <a:spcPts val="1600"/>
              </a:lnSpc>
              <a:buNone/>
            </a:pPr>
            <a:r>
              <a:rPr lang="en-US" sz="1000" dirty="0">
                <a:solidFill>
                  <a:srgbClr val="0B1629"/>
                </a:solidFill>
                <a:latin typeface="Plus Jakarta Sans" pitchFamily="34" charset="0"/>
                <a:ea typeface="Plus Jakarta Sans" pitchFamily="34" charset="-122"/>
                <a:cs typeface="Plus Jakarta Sans" pitchFamily="34" charset="-120"/>
              </a:rPr>
              <a:t>WEEK 1\n· 2x Performance Proof Reels (efficacy / tech tests)\n· 2x Aesthetic statics (new product angle)\n· 1x Social Proof carousel (UGC compilation)\n\nWEEK 2\n· 1x Founder story Reel (Brand origin and mission)\n· 1x YouTube video (product comparison or feature deep-dive)\n· 1x BOFU offer static (Free Premium Frother on orders above ₹1,499 reveal)\n\nWEEK 3\n· 2x Influencer UGC cuts (from micro-creator deliverables)\n· 1x Shopping search image (clean product on dark BG)\n· 1x A/B test variant of best Week 1 creative\n\nWEEK 4\n· 1x New drop teaser Reel (6-sec dark identity)\n· Review + retire bottom performer — replace with winner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CAMPAIGN CALENDAR</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Special Days — Apr to Jun 2026</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4572000"/>
          </a:xfrm>
          <a:prstGeom prst="rect">
            <a:avLst>
              <a:gd name="adj" fmla="val 2564"/>
            </a:avLst>
          </a:prstGeom>
          <a:solidFill>
            <a:srgbClr val="FFFFFF"/>
          </a:solidFill>
          <a:ln w="25400">
            <a:solidFill>
              <a:srgbClr val="EF4444"/>
            </a:solidFill>
            <a:prstDash val="solid"/>
          </a:ln>
        </p:spPr>
      </p:sp>
      <p:sp>
        <p:nvSpPr>
          <p:cNvPr id="8" name="Shape 6"/>
          <p:cNvSpPr/>
          <p:nvPr/>
        </p:nvSpPr>
        <p:spPr>
          <a:xfrm>
            <a:off x="457200" y="1005840"/>
            <a:ext cx="3566160" cy="457200"/>
          </a:xfrm>
          <a:prstGeom prst="rect">
            <a:avLst/>
          </a:prstGeom>
          <a:solidFill>
            <a:srgbClr val="EF4444"/>
          </a:solidFill>
          <a:ln/>
        </p:spPr>
      </p:sp>
      <p:sp>
        <p:nvSpPr>
          <p:cNvPr id="9" name="Text 7"/>
          <p:cNvSpPr/>
          <p:nvPr/>
        </p:nvSpPr>
        <p:spPr>
          <a:xfrm>
            <a:off x="5943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APRIL 2026</a:t>
            </a:r>
            <a:endParaRPr lang="en-US" sz="1300" dirty="0"/>
          </a:p>
        </p:txBody>
      </p:sp>
      <p:sp>
        <p:nvSpPr>
          <p:cNvPr id="10" name="Text 8"/>
          <p:cNvSpPr/>
          <p:nvPr/>
        </p:nvSpPr>
        <p:spPr>
          <a:xfrm>
            <a:off x="6400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Apr 7 ★ KEY\nWorld Health Day\nHealth and wellness focus related to Premium Coffee.\n\nApr 14 ★ KEY\nTamil New Year / Vishu\nSpring season buying season. Regional campaigns.\n\nApr 22\nEarth Day\nHighlight eco-friendly packaging and ethics.\n\nApr 3\nGood Friday\nLong weekend shopping spike — boost retention.</a:t>
            </a:r>
            <a:endParaRPr lang="en-US" sz="1000" dirty="0"/>
          </a:p>
        </p:txBody>
      </p:sp>
      <p:sp>
        <p:nvSpPr>
          <p:cNvPr id="11" name="Shape 9"/>
          <p:cNvSpPr/>
          <p:nvPr/>
        </p:nvSpPr>
        <p:spPr>
          <a:xfrm>
            <a:off x="4343400" y="1005840"/>
            <a:ext cx="3566160" cy="4572000"/>
          </a:xfrm>
          <a:prstGeom prst="rect">
            <a:avLst>
              <a:gd name="adj" fmla="val 2564"/>
            </a:avLst>
          </a:prstGeom>
          <a:solidFill>
            <a:srgbClr val="FFFFFF"/>
          </a:solidFill>
          <a:ln w="25400">
            <a:solidFill>
              <a:srgbClr val="8B5CF6"/>
            </a:solidFill>
            <a:prstDash val="solid"/>
          </a:ln>
        </p:spPr>
      </p:sp>
      <p:sp>
        <p:nvSpPr>
          <p:cNvPr id="12" name="Shape 10"/>
          <p:cNvSpPr/>
          <p:nvPr/>
        </p:nvSpPr>
        <p:spPr>
          <a:xfrm>
            <a:off x="4343400" y="1005840"/>
            <a:ext cx="3566160" cy="457200"/>
          </a:xfrm>
          <a:prstGeom prst="rect">
            <a:avLst/>
          </a:prstGeom>
          <a:solidFill>
            <a:srgbClr val="8B5CF6"/>
          </a:solidFill>
          <a:ln/>
        </p:spPr>
      </p:sp>
      <p:sp>
        <p:nvSpPr>
          <p:cNvPr id="13" name="Text 11"/>
          <p:cNvSpPr/>
          <p:nvPr/>
        </p:nvSpPr>
        <p:spPr>
          <a:xfrm>
            <a:off x="44805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MAY 2026</a:t>
            </a:r>
            <a:endParaRPr lang="en-US" sz="1300" dirty="0"/>
          </a:p>
        </p:txBody>
      </p:sp>
      <p:sp>
        <p:nvSpPr>
          <p:cNvPr id="14" name="Text 12"/>
          <p:cNvSpPr/>
          <p:nvPr/>
        </p:nvSpPr>
        <p:spPr>
          <a:xfrm>
            <a:off x="45262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May 1\nLabour Day\nCampaign theme: "Reward your hard work".\n\nMay 10 ★ KEY\nMother's Day\nGifting campaign targeting women. Special gift boxes.\n\nMay 23\nBuddha Purnima\nContent angle: clarity, simplicity, purity.\n\nMay 27\nBakri Eid\nFestive gifting season — run targeted WhatsApp alerts.</a:t>
            </a:r>
            <a:endParaRPr lang="en-US" sz="1000" dirty="0"/>
          </a:p>
        </p:txBody>
      </p:sp>
      <p:sp>
        <p:nvSpPr>
          <p:cNvPr id="15" name="Shape 13"/>
          <p:cNvSpPr/>
          <p:nvPr/>
        </p:nvSpPr>
        <p:spPr>
          <a:xfrm>
            <a:off x="8229600" y="1005840"/>
            <a:ext cx="3566160" cy="4572000"/>
          </a:xfrm>
          <a:prstGeom prst="rect">
            <a:avLst>
              <a:gd name="adj" fmla="val 2564"/>
            </a:avLst>
          </a:prstGeom>
          <a:solidFill>
            <a:srgbClr val="FFFFFF"/>
          </a:solidFill>
          <a:ln w="25400">
            <a:solidFill>
              <a:srgbClr val="10B981"/>
            </a:solidFill>
            <a:prstDash val="solid"/>
          </a:ln>
        </p:spPr>
      </p:sp>
      <p:sp>
        <p:nvSpPr>
          <p:cNvPr id="16" name="Shape 14"/>
          <p:cNvSpPr/>
          <p:nvPr/>
        </p:nvSpPr>
        <p:spPr>
          <a:xfrm>
            <a:off x="8229600" y="1005840"/>
            <a:ext cx="3566160" cy="457200"/>
          </a:xfrm>
          <a:prstGeom prst="rect">
            <a:avLst/>
          </a:prstGeom>
          <a:solidFill>
            <a:srgbClr val="10B981"/>
          </a:solidFill>
          <a:ln/>
        </p:spPr>
      </p:sp>
      <p:sp>
        <p:nvSpPr>
          <p:cNvPr id="17" name="Text 15"/>
          <p:cNvSpPr/>
          <p:nvPr/>
        </p:nvSpPr>
        <p:spPr>
          <a:xfrm>
            <a:off x="8366760" y="1051560"/>
            <a:ext cx="3200400" cy="320040"/>
          </a:xfrm>
          <a:prstGeom prst="rect">
            <a:avLst/>
          </a:prstGeom>
          <a:noFill/>
          <a:ln/>
        </p:spPr>
        <p:txBody>
          <a:bodyPr wrap="square" rtlCol="0" anchor="ctr"/>
          <a:lstStyle/>
          <a:p>
            <a:pPr indent="0" marL="0">
              <a:buNone/>
            </a:pPr>
            <a:r>
              <a:rPr lang="en-US" sz="1300" b="1" dirty="0">
                <a:solidFill>
                  <a:srgbClr val="FFFFFF"/>
                </a:solidFill>
                <a:latin typeface="Plus Jakarta Sans" pitchFamily="34" charset="0"/>
                <a:ea typeface="Plus Jakarta Sans" pitchFamily="34" charset="-122"/>
                <a:cs typeface="Plus Jakarta Sans" pitchFamily="34" charset="-120"/>
              </a:rPr>
              <a:t>JUNE 2026</a:t>
            </a:r>
            <a:endParaRPr lang="en-US" sz="1300" dirty="0"/>
          </a:p>
        </p:txBody>
      </p:sp>
      <p:sp>
        <p:nvSpPr>
          <p:cNvPr id="18" name="Text 16"/>
          <p:cNvSpPr/>
          <p:nvPr/>
        </p:nvSpPr>
        <p:spPr>
          <a:xfrm>
            <a:off x="8412480" y="1554480"/>
            <a:ext cx="3200400" cy="320040"/>
          </a:xfrm>
          <a:prstGeom prst="rect">
            <a:avLst/>
          </a:prstGeom>
          <a:noFill/>
          <a:ln/>
        </p:spPr>
        <p:txBody>
          <a:bodyPr wrap="square" rtlCol="0" anchor="ctr"/>
          <a:lstStyle/>
          <a:p>
            <a:pPr indent="0" marL="0">
              <a:buNone/>
            </a:pPr>
            <a:r>
              <a:rPr lang="en-US" sz="1000" b="1" dirty="0">
                <a:solidFill>
                  <a:srgbClr val="0B1629"/>
                </a:solidFill>
                <a:latin typeface="Plus Jakarta Sans" pitchFamily="34" charset="0"/>
                <a:ea typeface="Plus Jakarta Sans" pitchFamily="34" charset="-122"/>
                <a:cs typeface="Plus Jakarta Sans" pitchFamily="34" charset="-120"/>
              </a:rPr>
              <a:t>Jun 15 ★ KEY\nFather's Day\nMen's gifting segment push. Bundle offers.\n\nJun 21 ★ KEY\nSummer Solstice Sale\nMid-year peak shopping days. High paid ads bid.\n\nJun 21\nWorld Music Day\nCurated audio track and Reels lifestyle trend.\n\nJun 17\nIslamic New Year\nFestive greeting and early-access drop alerts.</a:t>
            </a:r>
            <a:endParaRPr lang="en-US" sz="1000" dirty="0"/>
          </a:p>
        </p:txBody>
      </p:sp>
      <p:sp>
        <p:nvSpPr>
          <p:cNvPr id="19" name="Shape 17"/>
          <p:cNvSpPr/>
          <p:nvPr/>
        </p:nvSpPr>
        <p:spPr>
          <a:xfrm>
            <a:off x="457200" y="5669280"/>
            <a:ext cx="11247120" cy="548640"/>
          </a:xfrm>
          <a:prstGeom prst="rect">
            <a:avLst/>
          </a:prstGeom>
          <a:solidFill>
            <a:srgbClr val="0B1629"/>
          </a:solidFill>
          <a:ln/>
        </p:spPr>
      </p:sp>
      <p:sp>
        <p:nvSpPr>
          <p:cNvPr id="20" name="Text 18"/>
          <p:cNvSpPr/>
          <p:nvPr/>
        </p:nvSpPr>
        <p:spPr>
          <a:xfrm>
            <a:off x="640080" y="5806440"/>
            <a:ext cx="10881360" cy="320040"/>
          </a:xfrm>
          <a:prstGeom prst="rect">
            <a:avLst/>
          </a:prstGeom>
          <a:noFill/>
          <a:ln/>
        </p:spPr>
        <p:txBody>
          <a:bodyPr wrap="square" rtlCol="0" anchor="ctr"/>
          <a:lstStyle/>
          <a:p>
            <a:pPr indent="0" marL="0">
              <a:buNone/>
            </a:pPr>
            <a:r>
              <a:rPr lang="en-US" sz="1000" b="1" dirty="0">
                <a:solidFill>
                  <a:srgbClr val="FFFFFF"/>
                </a:solidFill>
                <a:latin typeface="Plus Jakarta Sans" pitchFamily="34" charset="0"/>
                <a:ea typeface="Plus Jakarta Sans" pitchFamily="34" charset="-122"/>
                <a:cs typeface="Plus Jakarta Sans" pitchFamily="34" charset="-120"/>
              </a:rPr>
              <a:t>★ Priority: World Health Day · Tamil New Year · Mother's Day · Father's Day · Yoga/Solstice Day — plan campaigns 2 weeks in advance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BRAND AMBASSADORS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Nirvana Brews Creator Program — Building the Cult Creator Army</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11247120" cy="457200"/>
          </a:xfrm>
          <a:prstGeom prst="rect">
            <a:avLst/>
          </a:prstGeom>
          <a:solidFill>
            <a:srgbClr val="0B1629"/>
          </a:solidFill>
          <a:ln/>
        </p:spPr>
      </p:sp>
      <p:sp>
        <p:nvSpPr>
          <p:cNvPr id="8" name="Text 6"/>
          <p:cNvSpPr/>
          <p:nvPr/>
        </p:nvSpPr>
        <p:spPr>
          <a:xfrm>
            <a:off x="640080" y="1143000"/>
            <a:ext cx="10881360" cy="0"/>
          </a:xfrm>
          <a:prstGeom prst="rect">
            <a:avLst/>
          </a:prstGeom>
          <a:noFill/>
          <a:ln/>
        </p:spPr>
        <p:txBody>
          <a:bodyPr wrap="square" rtlCol="0" anchor="ctr"/>
          <a:lstStyle/>
          <a:p>
            <a:pPr indent="0" marL="0">
              <a:buNone/>
            </a:pPr>
            <a:r>
              <a:rPr lang="en-US" sz="1000" b="1" dirty="0">
                <a:solidFill>
                  <a:srgbClr val="F59E0B"/>
                </a:solidFill>
                <a:latin typeface="Plus Jakarta Sans" pitchFamily="34" charset="0"/>
                <a:ea typeface="Plus Jakarta Sans" pitchFamily="34" charset="-122"/>
                <a:cs typeface="Plus Jakarta Sans" pitchFamily="34" charset="-120"/>
              </a:rPr>
              <a:t>TARGET: 50+ creators wearing and tagging Nirvana Brews by Month 6. Every serious creator in our space has worn and reviewed us.</a:t>
            </a:r>
            <a:endParaRPr lang="en-US" sz="1000" dirty="0"/>
          </a:p>
        </p:txBody>
      </p:sp>
      <p:sp>
        <p:nvSpPr>
          <p:cNvPr id="9" name="Shape 7"/>
          <p:cNvSpPr/>
          <p:nvPr/>
        </p:nvSpPr>
        <p:spPr>
          <a:xfrm>
            <a:off x="457200" y="1691640"/>
            <a:ext cx="3566160" cy="4389120"/>
          </a:xfrm>
          <a:prstGeom prst="rect">
            <a:avLst>
              <a:gd name="adj" fmla="val 2564"/>
            </a:avLst>
          </a:prstGeom>
          <a:solidFill>
            <a:srgbClr val="FFFFFF"/>
          </a:solidFill>
          <a:ln w="25400">
            <a:solidFill>
              <a:srgbClr val="2B4EFF"/>
            </a:solidFill>
            <a:prstDash val="solid"/>
          </a:ln>
        </p:spPr>
      </p:sp>
      <p:sp>
        <p:nvSpPr>
          <p:cNvPr id="10" name="Shape 8"/>
          <p:cNvSpPr/>
          <p:nvPr/>
        </p:nvSpPr>
        <p:spPr>
          <a:xfrm>
            <a:off x="457200" y="1691640"/>
            <a:ext cx="3566160" cy="731520"/>
          </a:xfrm>
          <a:prstGeom prst="rect">
            <a:avLst/>
          </a:prstGeom>
          <a:solidFill>
            <a:srgbClr val="2B4EFF"/>
          </a:solidFill>
          <a:ln/>
        </p:spPr>
      </p:sp>
      <p:sp>
        <p:nvSpPr>
          <p:cNvPr id="11" name="Text 9"/>
          <p:cNvSpPr/>
          <p:nvPr/>
        </p:nvSpPr>
        <p:spPr>
          <a:xfrm>
            <a:off x="594360" y="1737360"/>
            <a:ext cx="329184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PHASE 1 — MONTH 1</a:t>
            </a:r>
            <a:endParaRPr lang="en-US" sz="1200" dirty="0"/>
          </a:p>
        </p:txBody>
      </p:sp>
      <p:sp>
        <p:nvSpPr>
          <p:cNvPr id="12" name="Text 10"/>
          <p:cNvSpPr/>
          <p:nvPr/>
        </p:nvSpPr>
        <p:spPr>
          <a:xfrm>
            <a:off x="594360" y="2057400"/>
            <a:ext cx="3291840" cy="320040"/>
          </a:xfrm>
          <a:prstGeom prst="rect">
            <a:avLst/>
          </a:prstGeom>
          <a:noFill/>
          <a:ln/>
        </p:spPr>
        <p:txBody>
          <a:bodyPr wrap="square" rtlCol="0" anchor="ctr"/>
          <a:lstStyle/>
          <a:p>
            <a:pPr indent="0" marL="0">
              <a:buNone/>
            </a:pPr>
            <a:r>
              <a:rPr lang="en-US" sz="1000" dirty="0">
                <a:solidFill>
                  <a:srgbClr val="FFFFFF"/>
                </a:solidFill>
                <a:latin typeface="Plus Jakarta Sans" pitchFamily="34" charset="0"/>
                <a:ea typeface="Plus Jakarta Sans" pitchFamily="34" charset="-122"/>
                <a:cs typeface="Plus Jakarta Sans" pitchFamily="34" charset="-120"/>
              </a:rPr>
              <a:t>15 Micro-Creators</a:t>
            </a:r>
            <a:endParaRPr lang="en-US" sz="1000" dirty="0"/>
          </a:p>
        </p:txBody>
      </p:sp>
      <p:sp>
        <p:nvSpPr>
          <p:cNvPr id="13" name="Text 11"/>
          <p:cNvSpPr/>
          <p:nvPr/>
        </p:nvSpPr>
        <p:spPr>
          <a:xfrm>
            <a:off x="640080" y="2560320"/>
            <a:ext cx="3200400" cy="320040"/>
          </a:xfrm>
          <a:prstGeom prst="rect">
            <a:avLst/>
          </a:prstGeom>
          <a:noFill/>
          <a:ln/>
        </p:spPr>
        <p:txBody>
          <a:bodyPr wrap="square" rtlCol="0" anchor="ctr"/>
          <a:lstStyle/>
          <a:p>
            <a:pPr indent="0" marL="0">
              <a:lnSpc>
                <a:spcPts val="1800"/>
              </a:lnSpc>
              <a:buNone/>
            </a:pPr>
            <a:r>
              <a:rPr lang="en-US" sz="1050" dirty="0">
                <a:solidFill>
                  <a:srgbClr val="0B1629"/>
                </a:solidFill>
                <a:latin typeface="Plus Jakarta Sans" pitchFamily="34" charset="0"/>
                <a:ea typeface="Plus Jakarta Sans" pitchFamily="34" charset="-122"/>
                <a:cs typeface="Plus Jakarta Sans" pitchFamily="34" charset="-120"/>
              </a:rPr>
              <a:t>· 10K–50K followers, active creators.\n· High aesthetic required — clean styling.\n· Deliverable: 1 Reel + 2 Stories + 1 Static.\n· Usage rights: 90 days for paid ads.\n· Budget: ₹3,000–4,000 per creator.\n· Track: engagement rate, saves, DM volume.</a:t>
            </a:r>
            <a:endParaRPr lang="en-US" sz="1050" dirty="0"/>
          </a:p>
        </p:txBody>
      </p:sp>
      <p:sp>
        <p:nvSpPr>
          <p:cNvPr id="14" name="Shape 12"/>
          <p:cNvSpPr/>
          <p:nvPr/>
        </p:nvSpPr>
        <p:spPr>
          <a:xfrm>
            <a:off x="4343400" y="1691640"/>
            <a:ext cx="3566160" cy="4389120"/>
          </a:xfrm>
          <a:prstGeom prst="rect">
            <a:avLst>
              <a:gd name="adj" fmla="val 2564"/>
            </a:avLst>
          </a:prstGeom>
          <a:solidFill>
            <a:srgbClr val="FFFFFF"/>
          </a:solidFill>
          <a:ln w="25400">
            <a:solidFill>
              <a:srgbClr val="10B981"/>
            </a:solidFill>
            <a:prstDash val="solid"/>
          </a:ln>
        </p:spPr>
      </p:sp>
      <p:sp>
        <p:nvSpPr>
          <p:cNvPr id="15" name="Shape 13"/>
          <p:cNvSpPr/>
          <p:nvPr/>
        </p:nvSpPr>
        <p:spPr>
          <a:xfrm>
            <a:off x="4343400" y="1691640"/>
            <a:ext cx="3566160" cy="731520"/>
          </a:xfrm>
          <a:prstGeom prst="rect">
            <a:avLst/>
          </a:prstGeom>
          <a:solidFill>
            <a:srgbClr val="10B981"/>
          </a:solidFill>
          <a:ln/>
        </p:spPr>
      </p:sp>
      <p:sp>
        <p:nvSpPr>
          <p:cNvPr id="16" name="Text 14"/>
          <p:cNvSpPr/>
          <p:nvPr/>
        </p:nvSpPr>
        <p:spPr>
          <a:xfrm>
            <a:off x="4480560" y="1737360"/>
            <a:ext cx="329184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PHASE 2 — MONTH 2</a:t>
            </a:r>
            <a:endParaRPr lang="en-US" sz="1200" dirty="0"/>
          </a:p>
        </p:txBody>
      </p:sp>
      <p:sp>
        <p:nvSpPr>
          <p:cNvPr id="17" name="Text 15"/>
          <p:cNvSpPr/>
          <p:nvPr/>
        </p:nvSpPr>
        <p:spPr>
          <a:xfrm>
            <a:off x="4480560" y="2057400"/>
            <a:ext cx="3291840" cy="320040"/>
          </a:xfrm>
          <a:prstGeom prst="rect">
            <a:avLst/>
          </a:prstGeom>
          <a:noFill/>
          <a:ln/>
        </p:spPr>
        <p:txBody>
          <a:bodyPr wrap="square" rtlCol="0" anchor="ctr"/>
          <a:lstStyle/>
          <a:p>
            <a:pPr indent="0" marL="0">
              <a:buNone/>
            </a:pPr>
            <a:r>
              <a:rPr lang="en-US" sz="1000" dirty="0">
                <a:solidFill>
                  <a:srgbClr val="FFFFFF"/>
                </a:solidFill>
                <a:latin typeface="Plus Jakarta Sans" pitchFamily="34" charset="0"/>
                <a:ea typeface="Plus Jakarta Sans" pitchFamily="34" charset="-122"/>
                <a:cs typeface="Plus Jakarta Sans" pitchFamily="34" charset="-120"/>
              </a:rPr>
              <a:t>10 More Micro + 1 Macro</a:t>
            </a:r>
            <a:endParaRPr lang="en-US" sz="1000" dirty="0"/>
          </a:p>
        </p:txBody>
      </p:sp>
      <p:sp>
        <p:nvSpPr>
          <p:cNvPr id="18" name="Text 16"/>
          <p:cNvSpPr/>
          <p:nvPr/>
        </p:nvSpPr>
        <p:spPr>
          <a:xfrm>
            <a:off x="4526280" y="2560320"/>
            <a:ext cx="3200400" cy="320040"/>
          </a:xfrm>
          <a:prstGeom prst="rect">
            <a:avLst/>
          </a:prstGeom>
          <a:noFill/>
          <a:ln/>
        </p:spPr>
        <p:txBody>
          <a:bodyPr wrap="square" rtlCol="0" anchor="ctr"/>
          <a:lstStyle/>
          <a:p>
            <a:pPr indent="0" marL="0">
              <a:lnSpc>
                <a:spcPts val="1800"/>
              </a:lnSpc>
              <a:buNone/>
            </a:pPr>
            <a:r>
              <a:rPr lang="en-US" sz="1050" dirty="0">
                <a:solidFill>
                  <a:srgbClr val="0B1629"/>
                </a:solidFill>
                <a:latin typeface="Plus Jakarta Sans" pitchFamily="34" charset="0"/>
                <a:ea typeface="Plus Jakarta Sans" pitchFamily="34" charset="-122"/>
                <a:cs typeface="Plus Jakarta Sans" pitchFamily="34" charset="-120"/>
              </a:rPr>
              <a:t>· 10 additional micro-creators.\n· 1 macro-creator 100K–500K.\n· A/B test: scripted vs unboxing format.\n· Repurpose top 3 UGCs as paid Meta ads.\n· Brief: Bold, authentic. NO influencer codes.\n· Track: which UGC format drives highest ROAS.</a:t>
            </a:r>
            <a:endParaRPr lang="en-US" sz="1050" dirty="0"/>
          </a:p>
        </p:txBody>
      </p:sp>
      <p:sp>
        <p:nvSpPr>
          <p:cNvPr id="19" name="Shape 17"/>
          <p:cNvSpPr/>
          <p:nvPr/>
        </p:nvSpPr>
        <p:spPr>
          <a:xfrm>
            <a:off x="8229600" y="1691640"/>
            <a:ext cx="3566160" cy="4389120"/>
          </a:xfrm>
          <a:prstGeom prst="rect">
            <a:avLst>
              <a:gd name="adj" fmla="val 2564"/>
            </a:avLst>
          </a:prstGeom>
          <a:solidFill>
            <a:srgbClr val="FFFFFF"/>
          </a:solidFill>
          <a:ln w="25400">
            <a:solidFill>
              <a:srgbClr val="F59E0B"/>
            </a:solidFill>
            <a:prstDash val="solid"/>
          </a:ln>
        </p:spPr>
      </p:sp>
      <p:sp>
        <p:nvSpPr>
          <p:cNvPr id="20" name="Shape 18"/>
          <p:cNvSpPr/>
          <p:nvPr/>
        </p:nvSpPr>
        <p:spPr>
          <a:xfrm>
            <a:off x="8229600" y="1691640"/>
            <a:ext cx="3566160" cy="731520"/>
          </a:xfrm>
          <a:prstGeom prst="rect">
            <a:avLst/>
          </a:prstGeom>
          <a:solidFill>
            <a:srgbClr val="F59E0B"/>
          </a:solidFill>
          <a:ln/>
        </p:spPr>
      </p:sp>
      <p:sp>
        <p:nvSpPr>
          <p:cNvPr id="21" name="Text 19"/>
          <p:cNvSpPr/>
          <p:nvPr/>
        </p:nvSpPr>
        <p:spPr>
          <a:xfrm>
            <a:off x="8366760" y="1737360"/>
            <a:ext cx="3291840" cy="320040"/>
          </a:xfrm>
          <a:prstGeom prst="rect">
            <a:avLst/>
          </a:prstGeom>
          <a:noFill/>
          <a:ln/>
        </p:spPr>
        <p:txBody>
          <a:bodyPr wrap="square" rtlCol="0" anchor="ctr"/>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PHASE 3 — MONTH 3+</a:t>
            </a:r>
            <a:endParaRPr lang="en-US" sz="1200" dirty="0"/>
          </a:p>
        </p:txBody>
      </p:sp>
      <p:sp>
        <p:nvSpPr>
          <p:cNvPr id="22" name="Text 20"/>
          <p:cNvSpPr/>
          <p:nvPr/>
        </p:nvSpPr>
        <p:spPr>
          <a:xfrm>
            <a:off x="8366760" y="2057400"/>
            <a:ext cx="3291840" cy="320040"/>
          </a:xfrm>
          <a:prstGeom prst="rect">
            <a:avLst/>
          </a:prstGeom>
          <a:noFill/>
          <a:ln/>
        </p:spPr>
        <p:txBody>
          <a:bodyPr wrap="square" rtlCol="0" anchor="ctr"/>
          <a:lstStyle/>
          <a:p>
            <a:pPr indent="0" marL="0">
              <a:buNone/>
            </a:pPr>
            <a:r>
              <a:rPr lang="en-US" sz="1000" dirty="0">
                <a:solidFill>
                  <a:srgbClr val="FFFFFF"/>
                </a:solidFill>
                <a:latin typeface="Plus Jakarta Sans" pitchFamily="34" charset="0"/>
                <a:ea typeface="Plus Jakarta Sans" pitchFamily="34" charset="-122"/>
                <a:cs typeface="Plus Jakarta Sans" pitchFamily="34" charset="-120"/>
              </a:rPr>
              <a:t>3 Brand Ambassadors</a:t>
            </a:r>
            <a:endParaRPr lang="en-US" sz="1000" dirty="0"/>
          </a:p>
        </p:txBody>
      </p:sp>
      <p:sp>
        <p:nvSpPr>
          <p:cNvPr id="23" name="Text 21"/>
          <p:cNvSpPr/>
          <p:nvPr/>
        </p:nvSpPr>
        <p:spPr>
          <a:xfrm>
            <a:off x="8412480" y="2560320"/>
            <a:ext cx="3200400" cy="320040"/>
          </a:xfrm>
          <a:prstGeom prst="rect">
            <a:avLst/>
          </a:prstGeom>
          <a:noFill/>
          <a:ln/>
        </p:spPr>
        <p:txBody>
          <a:bodyPr wrap="square" rtlCol="0" anchor="ctr"/>
          <a:lstStyle/>
          <a:p>
            <a:pPr indent="0" marL="0">
              <a:lnSpc>
                <a:spcPts val="1800"/>
              </a:lnSpc>
              <a:buNone/>
            </a:pPr>
            <a:r>
              <a:rPr lang="en-US" sz="1050" dirty="0">
                <a:solidFill>
                  <a:srgbClr val="0B1629"/>
                </a:solidFill>
                <a:latin typeface="Plus Jakarta Sans" pitchFamily="34" charset="0"/>
                <a:ea typeface="Plus Jakarta Sans" pitchFamily="34" charset="-122"/>
                <a:cs typeface="Plus Jakarta Sans" pitchFamily="34" charset="-120"/>
              </a:rPr>
              <a:t>· Select top 3 performers from Phase 1+2.\n· Long-term: 3 months minimum commitment.\n· Early access to new product drops.\n· Exclusive ambassador-only WhatsApp group.\n· Co-created content for YouTube long-form.\n· Community: Brand Ambassador identity badge.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AI CONTENT PILLARS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8 AI-Generated Pillars — Content Marketing Blueprint</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2651760" cy="2286000"/>
          </a:xfrm>
          <a:prstGeom prst="rect">
            <a:avLst>
              <a:gd name="adj" fmla="val 4000"/>
            </a:avLst>
          </a:prstGeom>
          <a:solidFill>
            <a:srgbClr val="FFFFFF"/>
          </a:solidFill>
          <a:ln w="25400">
            <a:solidFill>
              <a:srgbClr val="2B4EFF"/>
            </a:solidFill>
            <a:prstDash val="solid"/>
          </a:ln>
        </p:spPr>
      </p:sp>
      <p:sp>
        <p:nvSpPr>
          <p:cNvPr id="8" name="Text 6"/>
          <p:cNvSpPr/>
          <p:nvPr/>
        </p:nvSpPr>
        <p:spPr>
          <a:xfrm>
            <a:off x="594360" y="114300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The Chikmagalur Estate Origin</a:t>
            </a:r>
            <a:endParaRPr lang="en-US" sz="1100" dirty="0"/>
          </a:p>
        </p:txBody>
      </p:sp>
      <p:sp>
        <p:nvSpPr>
          <p:cNvPr id="9" name="Text 7"/>
          <p:cNvSpPr/>
          <p:nvPr/>
        </p:nvSpPr>
        <p:spPr>
          <a:xfrm>
            <a:off x="594360" y="155448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Showcasing the journey from cherry to cup on our estate.</a:t>
            </a:r>
            <a:endParaRPr lang="en-US" sz="950" dirty="0"/>
          </a:p>
        </p:txBody>
      </p:sp>
      <p:sp>
        <p:nvSpPr>
          <p:cNvPr id="10" name="Shape 8"/>
          <p:cNvSpPr/>
          <p:nvPr/>
        </p:nvSpPr>
        <p:spPr>
          <a:xfrm>
            <a:off x="3291840" y="1005840"/>
            <a:ext cx="2651760" cy="2286000"/>
          </a:xfrm>
          <a:prstGeom prst="rect">
            <a:avLst>
              <a:gd name="adj" fmla="val 4000"/>
            </a:avLst>
          </a:prstGeom>
          <a:solidFill>
            <a:srgbClr val="FFFFFF"/>
          </a:solidFill>
          <a:ln w="25400">
            <a:solidFill>
              <a:srgbClr val="2B4EFF"/>
            </a:solidFill>
            <a:prstDash val="solid"/>
          </a:ln>
        </p:spPr>
      </p:sp>
      <p:sp>
        <p:nvSpPr>
          <p:cNvPr id="11" name="Text 9"/>
          <p:cNvSpPr/>
          <p:nvPr/>
        </p:nvSpPr>
        <p:spPr>
          <a:xfrm>
            <a:off x="3429000" y="114300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Home Brewing Masterclass</a:t>
            </a:r>
            <a:endParaRPr lang="en-US" sz="1100" dirty="0"/>
          </a:p>
        </p:txBody>
      </p:sp>
      <p:sp>
        <p:nvSpPr>
          <p:cNvPr id="12" name="Text 10"/>
          <p:cNvSpPr/>
          <p:nvPr/>
        </p:nvSpPr>
        <p:spPr>
          <a:xfrm>
            <a:off x="3429000" y="155448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Quick guides to making barista-quality French Press &amp; Pour Over.</a:t>
            </a:r>
            <a:endParaRPr lang="en-US" sz="950" dirty="0"/>
          </a:p>
        </p:txBody>
      </p:sp>
      <p:sp>
        <p:nvSpPr>
          <p:cNvPr id="13" name="Shape 11"/>
          <p:cNvSpPr/>
          <p:nvPr/>
        </p:nvSpPr>
        <p:spPr>
          <a:xfrm>
            <a:off x="6126480" y="1005840"/>
            <a:ext cx="2651760" cy="2286000"/>
          </a:xfrm>
          <a:prstGeom prst="rect">
            <a:avLst>
              <a:gd name="adj" fmla="val 4000"/>
            </a:avLst>
          </a:prstGeom>
          <a:solidFill>
            <a:srgbClr val="FFFFFF"/>
          </a:solidFill>
          <a:ln w="25400">
            <a:solidFill>
              <a:srgbClr val="2B4EFF"/>
            </a:solidFill>
            <a:prstDash val="solid"/>
          </a:ln>
        </p:spPr>
      </p:sp>
      <p:sp>
        <p:nvSpPr>
          <p:cNvPr id="14" name="Text 12"/>
          <p:cNvSpPr/>
          <p:nvPr/>
        </p:nvSpPr>
        <p:spPr>
          <a:xfrm>
            <a:off x="6263640" y="114300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The Science of Roast</a:t>
            </a:r>
            <a:endParaRPr lang="en-US" sz="1100" dirty="0"/>
          </a:p>
        </p:txBody>
      </p:sp>
      <p:sp>
        <p:nvSpPr>
          <p:cNvPr id="15" name="Text 13"/>
          <p:cNvSpPr/>
          <p:nvPr/>
        </p:nvSpPr>
        <p:spPr>
          <a:xfrm>
            <a:off x="6263640" y="155448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Educational content on light, medium, and dark roast flavors.</a:t>
            </a:r>
            <a:endParaRPr lang="en-US" sz="950" dirty="0"/>
          </a:p>
        </p:txBody>
      </p:sp>
      <p:sp>
        <p:nvSpPr>
          <p:cNvPr id="16" name="Shape 14"/>
          <p:cNvSpPr/>
          <p:nvPr/>
        </p:nvSpPr>
        <p:spPr>
          <a:xfrm>
            <a:off x="8961120" y="1005840"/>
            <a:ext cx="2651760" cy="2286000"/>
          </a:xfrm>
          <a:prstGeom prst="rect">
            <a:avLst>
              <a:gd name="adj" fmla="val 4000"/>
            </a:avLst>
          </a:prstGeom>
          <a:solidFill>
            <a:srgbClr val="FFFFFF"/>
          </a:solidFill>
          <a:ln w="25400">
            <a:solidFill>
              <a:srgbClr val="2B4EFF"/>
            </a:solidFill>
            <a:prstDash val="solid"/>
          </a:ln>
        </p:spPr>
      </p:sp>
      <p:sp>
        <p:nvSpPr>
          <p:cNvPr id="17" name="Text 15"/>
          <p:cNvSpPr/>
          <p:nvPr/>
        </p:nvSpPr>
        <p:spPr>
          <a:xfrm>
            <a:off x="9098280" y="114300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Coffee &amp; Productivity hacks</a:t>
            </a:r>
            <a:endParaRPr lang="en-US" sz="1100" dirty="0"/>
          </a:p>
        </p:txBody>
      </p:sp>
      <p:sp>
        <p:nvSpPr>
          <p:cNvPr id="18" name="Text 16"/>
          <p:cNvSpPr/>
          <p:nvPr/>
        </p:nvSpPr>
        <p:spPr>
          <a:xfrm>
            <a:off x="9098280" y="155448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How to optimize caffeine intake for sustained focus.</a:t>
            </a:r>
            <a:endParaRPr lang="en-US" sz="950" dirty="0"/>
          </a:p>
        </p:txBody>
      </p:sp>
      <p:sp>
        <p:nvSpPr>
          <p:cNvPr id="19" name="Shape 17"/>
          <p:cNvSpPr/>
          <p:nvPr/>
        </p:nvSpPr>
        <p:spPr>
          <a:xfrm>
            <a:off x="457200" y="3566160"/>
            <a:ext cx="2651760" cy="2286000"/>
          </a:xfrm>
          <a:prstGeom prst="rect">
            <a:avLst>
              <a:gd name="adj" fmla="val 4000"/>
            </a:avLst>
          </a:prstGeom>
          <a:solidFill>
            <a:srgbClr val="FFFFFF"/>
          </a:solidFill>
          <a:ln w="25400">
            <a:solidFill>
              <a:srgbClr val="2B4EFF"/>
            </a:solidFill>
            <a:prstDash val="solid"/>
          </a:ln>
        </p:spPr>
      </p:sp>
      <p:sp>
        <p:nvSpPr>
          <p:cNvPr id="20" name="Text 18"/>
          <p:cNvSpPr/>
          <p:nvPr/>
        </p:nvSpPr>
        <p:spPr>
          <a:xfrm>
            <a:off x="594360" y="370332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Sustainable Coffee Farming</a:t>
            </a:r>
            <a:endParaRPr lang="en-US" sz="1100" dirty="0"/>
          </a:p>
        </p:txBody>
      </p:sp>
      <p:sp>
        <p:nvSpPr>
          <p:cNvPr id="21" name="Text 19"/>
          <p:cNvSpPr/>
          <p:nvPr/>
        </p:nvSpPr>
        <p:spPr>
          <a:xfrm>
            <a:off x="594360" y="411480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Highlighting our zero-plastic packaging and fair wages.</a:t>
            </a:r>
            <a:endParaRPr lang="en-US" sz="950" dirty="0"/>
          </a:p>
        </p:txBody>
      </p:sp>
      <p:sp>
        <p:nvSpPr>
          <p:cNvPr id="22" name="Shape 20"/>
          <p:cNvSpPr/>
          <p:nvPr/>
        </p:nvSpPr>
        <p:spPr>
          <a:xfrm>
            <a:off x="3291840" y="3566160"/>
            <a:ext cx="2651760" cy="2286000"/>
          </a:xfrm>
          <a:prstGeom prst="rect">
            <a:avLst>
              <a:gd name="adj" fmla="val 4000"/>
            </a:avLst>
          </a:prstGeom>
          <a:solidFill>
            <a:srgbClr val="FFFFFF"/>
          </a:solidFill>
          <a:ln w="25400">
            <a:solidFill>
              <a:srgbClr val="2B4EFF"/>
            </a:solidFill>
            <a:prstDash val="solid"/>
          </a:ln>
        </p:spPr>
      </p:sp>
      <p:sp>
        <p:nvSpPr>
          <p:cNvPr id="23" name="Text 21"/>
          <p:cNvSpPr/>
          <p:nvPr/>
        </p:nvSpPr>
        <p:spPr>
          <a:xfrm>
            <a:off x="3429000" y="370332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Barista Tasting Notes</a:t>
            </a:r>
            <a:endParaRPr lang="en-US" sz="1100" dirty="0"/>
          </a:p>
        </p:txBody>
      </p:sp>
      <p:sp>
        <p:nvSpPr>
          <p:cNvPr id="24" name="Text 22"/>
          <p:cNvSpPr/>
          <p:nvPr/>
        </p:nvSpPr>
        <p:spPr>
          <a:xfrm>
            <a:off x="3429000" y="411480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Guiding customers through detecting chocolate, citrus, and berry notes.</a:t>
            </a:r>
            <a:endParaRPr lang="en-US" sz="950" dirty="0"/>
          </a:p>
        </p:txBody>
      </p:sp>
      <p:sp>
        <p:nvSpPr>
          <p:cNvPr id="25" name="Shape 23"/>
          <p:cNvSpPr/>
          <p:nvPr/>
        </p:nvSpPr>
        <p:spPr>
          <a:xfrm>
            <a:off x="6126480" y="3566160"/>
            <a:ext cx="2651760" cy="2286000"/>
          </a:xfrm>
          <a:prstGeom prst="rect">
            <a:avLst>
              <a:gd name="adj" fmla="val 4000"/>
            </a:avLst>
          </a:prstGeom>
          <a:solidFill>
            <a:srgbClr val="FFFFFF"/>
          </a:solidFill>
          <a:ln w="25400">
            <a:solidFill>
              <a:srgbClr val="2B4EFF"/>
            </a:solidFill>
            <a:prstDash val="solid"/>
          </a:ln>
        </p:spPr>
      </p:sp>
      <p:sp>
        <p:nvSpPr>
          <p:cNvPr id="26" name="Text 24"/>
          <p:cNvSpPr/>
          <p:nvPr/>
        </p:nvSpPr>
        <p:spPr>
          <a:xfrm>
            <a:off x="6263640" y="370332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Premium Coffee Recipes</a:t>
            </a:r>
            <a:endParaRPr lang="en-US" sz="1100" dirty="0"/>
          </a:p>
        </p:txBody>
      </p:sp>
      <p:sp>
        <p:nvSpPr>
          <p:cNvPr id="27" name="Text 25"/>
          <p:cNvSpPr/>
          <p:nvPr/>
        </p:nvSpPr>
        <p:spPr>
          <a:xfrm>
            <a:off x="6263640" y="411480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Creative cold brew and affogato recipes for summer.</a:t>
            </a:r>
            <a:endParaRPr lang="en-US" sz="950" dirty="0"/>
          </a:p>
        </p:txBody>
      </p:sp>
      <p:sp>
        <p:nvSpPr>
          <p:cNvPr id="28" name="Shape 26"/>
          <p:cNvSpPr/>
          <p:nvPr/>
        </p:nvSpPr>
        <p:spPr>
          <a:xfrm>
            <a:off x="8961120" y="3566160"/>
            <a:ext cx="2651760" cy="2286000"/>
          </a:xfrm>
          <a:prstGeom prst="rect">
            <a:avLst>
              <a:gd name="adj" fmla="val 4000"/>
            </a:avLst>
          </a:prstGeom>
          <a:solidFill>
            <a:srgbClr val="FFFFFF"/>
          </a:solidFill>
          <a:ln w="25400">
            <a:solidFill>
              <a:srgbClr val="2B4EFF"/>
            </a:solidFill>
            <a:prstDash val="solid"/>
          </a:ln>
        </p:spPr>
      </p:sp>
      <p:sp>
        <p:nvSpPr>
          <p:cNvPr id="29" name="Text 27"/>
          <p:cNvSpPr/>
          <p:nvPr/>
        </p:nvSpPr>
        <p:spPr>
          <a:xfrm>
            <a:off x="9098280" y="3703320"/>
            <a:ext cx="2377440" cy="320040"/>
          </a:xfrm>
          <a:prstGeom prst="rect">
            <a:avLst/>
          </a:prstGeom>
          <a:noFill/>
          <a:ln/>
        </p:spPr>
        <p:txBody>
          <a:bodyPr wrap="square" rtlCol="0" anchor="ctr"/>
          <a:lstStyle/>
          <a:p>
            <a:pPr indent="0" marL="0">
              <a:buNone/>
            </a:pPr>
            <a:r>
              <a:rPr lang="en-US" sz="1100" b="1" dirty="0">
                <a:solidFill>
                  <a:srgbClr val="2B4EFF"/>
                </a:solidFill>
                <a:latin typeface="Plus Jakarta Sans" pitchFamily="34" charset="0"/>
                <a:ea typeface="Plus Jakarta Sans" pitchFamily="34" charset="-122"/>
                <a:cs typeface="Plus Jakarta Sans" pitchFamily="34" charset="-120"/>
              </a:rPr>
              <a:t>Morning Rituals community</a:t>
            </a:r>
            <a:endParaRPr lang="en-US" sz="1100" dirty="0"/>
          </a:p>
        </p:txBody>
      </p:sp>
      <p:sp>
        <p:nvSpPr>
          <p:cNvPr id="30" name="Text 28"/>
          <p:cNvSpPr/>
          <p:nvPr/>
        </p:nvSpPr>
        <p:spPr>
          <a:xfrm>
            <a:off x="9098280" y="4114800"/>
            <a:ext cx="2377440" cy="155448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User-generated posts sharing their morning brewing setups.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457200" y="274320"/>
            <a:ext cx="2011680" cy="411480"/>
          </a:xfrm>
          <a:prstGeom prst="rect">
            <a:avLst>
              <a:gd name="adj" fmla="val 22222"/>
            </a:avLst>
          </a:prstGeom>
          <a:solidFill>
            <a:srgbClr val="2B4EFF"/>
          </a:solidFill>
          <a:ln/>
        </p:spPr>
      </p:sp>
      <p:sp>
        <p:nvSpPr>
          <p:cNvPr id="4" name="Text 2"/>
          <p:cNvSpPr/>
          <p:nvPr/>
        </p:nvSpPr>
        <p:spPr>
          <a:xfrm>
            <a:off x="457200" y="274320"/>
            <a:ext cx="2011680" cy="411480"/>
          </a:xfrm>
          <a:prstGeom prst="rect">
            <a:avLst/>
          </a:prstGeom>
          <a:noFill/>
          <a:ln/>
        </p:spPr>
        <p:txBody>
          <a:bodyPr wrap="square"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AI SALES ANGLES</a:t>
            </a:r>
            <a:endParaRPr lang="en-US" sz="1000" dirty="0"/>
          </a:p>
        </p:txBody>
      </p:sp>
      <p:sp>
        <p:nvSpPr>
          <p:cNvPr id="5" name="Text 3"/>
          <p:cNvSpPr/>
          <p:nvPr/>
        </p:nvSpPr>
        <p:spPr>
          <a:xfrm>
            <a:off x="2651760" y="274320"/>
            <a:ext cx="9052560" cy="320040"/>
          </a:xfrm>
          <a:prstGeom prst="rect">
            <a:avLst/>
          </a:prstGeom>
          <a:noFill/>
          <a:ln/>
        </p:spPr>
        <p:txBody>
          <a:bodyPr wrap="square" rtlCol="0" anchor="ctr"/>
          <a:lstStyle/>
          <a:p>
            <a:pPr indent="0" marL="0">
              <a:buNone/>
            </a:pPr>
            <a:r>
              <a:rPr lang="en-US" sz="2200" b="1" dirty="0">
                <a:solidFill>
                  <a:srgbClr val="0B1629"/>
                </a:solidFill>
                <a:latin typeface="Plus Jakarta Sans" pitchFamily="34" charset="0"/>
                <a:ea typeface="Plus Jakarta Sans" pitchFamily="34" charset="-122"/>
                <a:cs typeface="Plus Jakarta Sans" pitchFamily="34" charset="-120"/>
              </a:rPr>
              <a:t>6 AI-Generated Sales Angles — Creative Conversion Angles</a:t>
            </a:r>
            <a:endParaRPr lang="en-US" sz="2200" dirty="0"/>
          </a:p>
        </p:txBody>
      </p:sp>
      <p:sp>
        <p:nvSpPr>
          <p:cNvPr id="6" name="Text 4"/>
          <p:cNvSpPr/>
          <p:nvPr/>
        </p:nvSpPr>
        <p:spPr>
          <a:xfrm>
            <a:off x="10515600" y="274320"/>
            <a:ext cx="2743200" cy="320040"/>
          </a:xfrm>
          <a:prstGeom prst="rect">
            <a:avLst/>
          </a:prstGeom>
          <a:noFill/>
          <a:ln/>
        </p:spPr>
        <p:txBody>
          <a:bodyPr wrap="square" rtlCol="0" anchor="ctr"/>
          <a:lstStyle/>
          <a:p>
            <a:pPr indent="0" marL="0">
              <a:buNone/>
            </a:pPr>
            <a:r>
              <a:rPr lang="en-US" sz="1000" b="1" dirty="0">
                <a:solidFill>
                  <a:srgbClr val="CCCCCC"/>
                </a:solidFill>
                <a:latin typeface="Plus Jakarta Sans" pitchFamily="34" charset="0"/>
                <a:ea typeface="Plus Jakarta Sans" pitchFamily="34" charset="-122"/>
                <a:cs typeface="Plus Jakarta Sans" pitchFamily="34" charset="-120"/>
              </a:rPr>
              <a:t>CONFIDENTIAL</a:t>
            </a:r>
            <a:endParaRPr lang="en-US" sz="1000" dirty="0"/>
          </a:p>
        </p:txBody>
      </p:sp>
      <p:sp>
        <p:nvSpPr>
          <p:cNvPr id="7" name="Shape 5"/>
          <p:cNvSpPr/>
          <p:nvPr/>
        </p:nvSpPr>
        <p:spPr>
          <a:xfrm>
            <a:off x="457200" y="1005840"/>
            <a:ext cx="3566160" cy="2286000"/>
          </a:xfrm>
          <a:prstGeom prst="rect">
            <a:avLst>
              <a:gd name="adj" fmla="val 4000"/>
            </a:avLst>
          </a:prstGeom>
          <a:solidFill>
            <a:srgbClr val="FFFFFF"/>
          </a:solidFill>
          <a:ln w="25400">
            <a:solidFill>
              <a:srgbClr val="F59E0B"/>
            </a:solidFill>
            <a:prstDash val="solid"/>
          </a:ln>
        </p:spPr>
      </p:sp>
      <p:sp>
        <p:nvSpPr>
          <p:cNvPr id="8" name="Text 6"/>
          <p:cNvSpPr/>
          <p:nvPr/>
        </p:nvSpPr>
        <p:spPr>
          <a:xfrm>
            <a:off x="640080" y="1143000"/>
            <a:ext cx="3200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Quit Bitter Instant Coffee.</a:t>
            </a:r>
            <a:endParaRPr lang="en-US" sz="1100" dirty="0"/>
          </a:p>
        </p:txBody>
      </p:sp>
      <p:sp>
        <p:nvSpPr>
          <p:cNvPr id="9" name="Text 7"/>
          <p:cNvSpPr/>
          <p:nvPr/>
        </p:nvSpPr>
        <p:spPr>
          <a:xfrm>
            <a:off x="640080" y="1554480"/>
            <a:ext cx="3200400" cy="128016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Upgrade to fresh, artisanal roasted single-origin beans.</a:t>
            </a:r>
            <a:endParaRPr lang="en-US" sz="950" dirty="0"/>
          </a:p>
        </p:txBody>
      </p:sp>
      <p:sp>
        <p:nvSpPr>
          <p:cNvPr id="10" name="Text 8"/>
          <p:cNvSpPr/>
          <p:nvPr/>
        </p:nvSpPr>
        <p:spPr>
          <a:xfrm>
            <a:off x="640080" y="2834640"/>
            <a:ext cx="3200400" cy="274320"/>
          </a:xfrm>
          <a:prstGeom prst="rect">
            <a:avLst/>
          </a:prstGeom>
          <a:noFill/>
          <a:ln/>
        </p:spPr>
        <p:txBody>
          <a:bodyPr wrap="square" rtlCol="0" anchor="ctr"/>
          <a:lstStyle/>
          <a:p>
            <a:pPr indent="0" marL="0">
              <a:buNone/>
            </a:pPr>
            <a:r>
              <a:rPr lang="en-US" sz="900" b="1" dirty="0">
                <a:solidFill>
                  <a:srgbClr val="0B1629"/>
                </a:solidFill>
                <a:latin typeface="Plus Jakarta Sans" pitchFamily="34" charset="0"/>
                <a:ea typeface="Plus Jakarta Sans" pitchFamily="34" charset="-122"/>
                <a:cs typeface="Plus Jakarta Sans" pitchFamily="34" charset="-120"/>
              </a:rPr>
              <a:t>CTA: Claim Free Frother</a:t>
            </a:r>
            <a:endParaRPr lang="en-US" sz="900" dirty="0"/>
          </a:p>
        </p:txBody>
      </p:sp>
      <p:sp>
        <p:nvSpPr>
          <p:cNvPr id="11" name="Shape 9"/>
          <p:cNvSpPr/>
          <p:nvPr/>
        </p:nvSpPr>
        <p:spPr>
          <a:xfrm>
            <a:off x="4343400" y="1005840"/>
            <a:ext cx="3566160" cy="2286000"/>
          </a:xfrm>
          <a:prstGeom prst="rect">
            <a:avLst>
              <a:gd name="adj" fmla="val 4000"/>
            </a:avLst>
          </a:prstGeom>
          <a:solidFill>
            <a:srgbClr val="FFFFFF"/>
          </a:solidFill>
          <a:ln w="25400">
            <a:solidFill>
              <a:srgbClr val="F59E0B"/>
            </a:solidFill>
            <a:prstDash val="solid"/>
          </a:ln>
        </p:spPr>
      </p:sp>
      <p:sp>
        <p:nvSpPr>
          <p:cNvPr id="12" name="Text 10"/>
          <p:cNvSpPr/>
          <p:nvPr/>
        </p:nvSpPr>
        <p:spPr>
          <a:xfrm>
            <a:off x="4526280" y="1143000"/>
            <a:ext cx="3200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Barista-Quality Coffee at Home.</a:t>
            </a:r>
            <a:endParaRPr lang="en-US" sz="1100" dirty="0"/>
          </a:p>
        </p:txBody>
      </p:sp>
      <p:sp>
        <p:nvSpPr>
          <p:cNvPr id="13" name="Text 11"/>
          <p:cNvSpPr/>
          <p:nvPr/>
        </p:nvSpPr>
        <p:spPr>
          <a:xfrm>
            <a:off x="4526280" y="1554480"/>
            <a:ext cx="3200400" cy="128016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Brew rich, aromatic espresso right in your kitchen.</a:t>
            </a:r>
            <a:endParaRPr lang="en-US" sz="950" dirty="0"/>
          </a:p>
        </p:txBody>
      </p:sp>
      <p:sp>
        <p:nvSpPr>
          <p:cNvPr id="14" name="Text 12"/>
          <p:cNvSpPr/>
          <p:nvPr/>
        </p:nvSpPr>
        <p:spPr>
          <a:xfrm>
            <a:off x="4526280" y="2834640"/>
            <a:ext cx="3200400" cy="274320"/>
          </a:xfrm>
          <a:prstGeom prst="rect">
            <a:avLst/>
          </a:prstGeom>
          <a:noFill/>
          <a:ln/>
        </p:spPr>
        <p:txBody>
          <a:bodyPr wrap="square" rtlCol="0" anchor="ctr"/>
          <a:lstStyle/>
          <a:p>
            <a:pPr indent="0" marL="0">
              <a:buNone/>
            </a:pPr>
            <a:r>
              <a:rPr lang="en-US" sz="900" b="1" dirty="0">
                <a:solidFill>
                  <a:srgbClr val="0B1629"/>
                </a:solidFill>
                <a:latin typeface="Plus Jakarta Sans" pitchFamily="34" charset="0"/>
                <a:ea typeface="Plus Jakarta Sans" pitchFamily="34" charset="-122"/>
                <a:cs typeface="Plus Jakarta Sans" pitchFamily="34" charset="-120"/>
              </a:rPr>
              <a:t>CTA: Shop Nirvana Brews</a:t>
            </a:r>
            <a:endParaRPr lang="en-US" sz="900" dirty="0"/>
          </a:p>
        </p:txBody>
      </p:sp>
      <p:sp>
        <p:nvSpPr>
          <p:cNvPr id="15" name="Shape 13"/>
          <p:cNvSpPr/>
          <p:nvPr/>
        </p:nvSpPr>
        <p:spPr>
          <a:xfrm>
            <a:off x="8229600" y="1005840"/>
            <a:ext cx="3566160" cy="2286000"/>
          </a:xfrm>
          <a:prstGeom prst="rect">
            <a:avLst>
              <a:gd name="adj" fmla="val 4000"/>
            </a:avLst>
          </a:prstGeom>
          <a:solidFill>
            <a:srgbClr val="FFFFFF"/>
          </a:solidFill>
          <a:ln w="25400">
            <a:solidFill>
              <a:srgbClr val="F59E0B"/>
            </a:solidFill>
            <a:prstDash val="solid"/>
          </a:ln>
        </p:spPr>
      </p:sp>
      <p:sp>
        <p:nvSpPr>
          <p:cNvPr id="16" name="Text 14"/>
          <p:cNvSpPr/>
          <p:nvPr/>
        </p:nvSpPr>
        <p:spPr>
          <a:xfrm>
            <a:off x="8412480" y="1143000"/>
            <a:ext cx="3200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Sustained Focus, No Crash.</a:t>
            </a:r>
            <a:endParaRPr lang="en-US" sz="1100" dirty="0"/>
          </a:p>
        </p:txBody>
      </p:sp>
      <p:sp>
        <p:nvSpPr>
          <p:cNvPr id="17" name="Text 15"/>
          <p:cNvSpPr/>
          <p:nvPr/>
        </p:nvSpPr>
        <p:spPr>
          <a:xfrm>
            <a:off x="8412480" y="1554480"/>
            <a:ext cx="3200400" cy="128016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100% pure organic beans with smooth, clean energy release.</a:t>
            </a:r>
            <a:endParaRPr lang="en-US" sz="950" dirty="0"/>
          </a:p>
        </p:txBody>
      </p:sp>
      <p:sp>
        <p:nvSpPr>
          <p:cNvPr id="18" name="Text 16"/>
          <p:cNvSpPr/>
          <p:nvPr/>
        </p:nvSpPr>
        <p:spPr>
          <a:xfrm>
            <a:off x="8412480" y="2834640"/>
            <a:ext cx="3200400" cy="274320"/>
          </a:xfrm>
          <a:prstGeom prst="rect">
            <a:avLst/>
          </a:prstGeom>
          <a:noFill/>
          <a:ln/>
        </p:spPr>
        <p:txBody>
          <a:bodyPr wrap="square" rtlCol="0" anchor="ctr"/>
          <a:lstStyle/>
          <a:p>
            <a:pPr indent="0" marL="0">
              <a:buNone/>
            </a:pPr>
            <a:r>
              <a:rPr lang="en-US" sz="900" b="1" dirty="0">
                <a:solidFill>
                  <a:srgbClr val="0B1629"/>
                </a:solidFill>
                <a:latin typeface="Plus Jakarta Sans" pitchFamily="34" charset="0"/>
                <a:ea typeface="Plus Jakarta Sans" pitchFamily="34" charset="-122"/>
                <a:cs typeface="Plus Jakarta Sans" pitchFamily="34" charset="-120"/>
              </a:rPr>
              <a:t>CTA: Order Starter Kit</a:t>
            </a:r>
            <a:endParaRPr lang="en-US" sz="900" dirty="0"/>
          </a:p>
        </p:txBody>
      </p:sp>
      <p:sp>
        <p:nvSpPr>
          <p:cNvPr id="19" name="Shape 17"/>
          <p:cNvSpPr/>
          <p:nvPr/>
        </p:nvSpPr>
        <p:spPr>
          <a:xfrm>
            <a:off x="457200" y="3566160"/>
            <a:ext cx="3566160" cy="2286000"/>
          </a:xfrm>
          <a:prstGeom prst="rect">
            <a:avLst>
              <a:gd name="adj" fmla="val 4000"/>
            </a:avLst>
          </a:prstGeom>
          <a:solidFill>
            <a:srgbClr val="FFFFFF"/>
          </a:solidFill>
          <a:ln w="25400">
            <a:solidFill>
              <a:srgbClr val="F59E0B"/>
            </a:solidFill>
            <a:prstDash val="solid"/>
          </a:ln>
        </p:spPr>
      </p:sp>
      <p:sp>
        <p:nvSpPr>
          <p:cNvPr id="20" name="Text 18"/>
          <p:cNvSpPr/>
          <p:nvPr/>
        </p:nvSpPr>
        <p:spPr>
          <a:xfrm>
            <a:off x="640080" y="3703320"/>
            <a:ext cx="3200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Direct Fair Trade Chikmagalur Beans.</a:t>
            </a:r>
            <a:endParaRPr lang="en-US" sz="1100" dirty="0"/>
          </a:p>
        </p:txBody>
      </p:sp>
      <p:sp>
        <p:nvSpPr>
          <p:cNvPr id="21" name="Text 19"/>
          <p:cNvSpPr/>
          <p:nvPr/>
        </p:nvSpPr>
        <p:spPr>
          <a:xfrm>
            <a:off x="640080" y="4114800"/>
            <a:ext cx="3200400" cy="128016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Enjoy premium taste while supporting ethical farming practices.</a:t>
            </a:r>
            <a:endParaRPr lang="en-US" sz="950" dirty="0"/>
          </a:p>
        </p:txBody>
      </p:sp>
      <p:sp>
        <p:nvSpPr>
          <p:cNvPr id="22" name="Text 20"/>
          <p:cNvSpPr/>
          <p:nvPr/>
        </p:nvSpPr>
        <p:spPr>
          <a:xfrm>
            <a:off x="640080" y="5394960"/>
            <a:ext cx="3200400" cy="274320"/>
          </a:xfrm>
          <a:prstGeom prst="rect">
            <a:avLst/>
          </a:prstGeom>
          <a:noFill/>
          <a:ln/>
        </p:spPr>
        <p:txBody>
          <a:bodyPr wrap="square" rtlCol="0" anchor="ctr"/>
          <a:lstStyle/>
          <a:p>
            <a:pPr indent="0" marL="0">
              <a:buNone/>
            </a:pPr>
            <a:r>
              <a:rPr lang="en-US" sz="900" b="1" dirty="0">
                <a:solidFill>
                  <a:srgbClr val="0B1629"/>
                </a:solidFill>
                <a:latin typeface="Plus Jakarta Sans" pitchFamily="34" charset="0"/>
                <a:ea typeface="Plus Jakarta Sans" pitchFamily="34" charset="-122"/>
                <a:cs typeface="Plus Jakarta Sans" pitchFamily="34" charset="-120"/>
              </a:rPr>
              <a:t>CTA: Learn Our Story</a:t>
            </a:r>
            <a:endParaRPr lang="en-US" sz="900" dirty="0"/>
          </a:p>
        </p:txBody>
      </p:sp>
      <p:sp>
        <p:nvSpPr>
          <p:cNvPr id="23" name="Shape 21"/>
          <p:cNvSpPr/>
          <p:nvPr/>
        </p:nvSpPr>
        <p:spPr>
          <a:xfrm>
            <a:off x="4343400" y="3566160"/>
            <a:ext cx="3566160" cy="2286000"/>
          </a:xfrm>
          <a:prstGeom prst="rect">
            <a:avLst>
              <a:gd name="adj" fmla="val 4000"/>
            </a:avLst>
          </a:prstGeom>
          <a:solidFill>
            <a:srgbClr val="FFFFFF"/>
          </a:solidFill>
          <a:ln w="25400">
            <a:solidFill>
              <a:srgbClr val="F59E0B"/>
            </a:solidFill>
            <a:prstDash val="solid"/>
          </a:ln>
        </p:spPr>
      </p:sp>
      <p:sp>
        <p:nvSpPr>
          <p:cNvPr id="24" name="Text 22"/>
          <p:cNvSpPr/>
          <p:nvPr/>
        </p:nvSpPr>
        <p:spPr>
          <a:xfrm>
            <a:off x="4526280" y="3703320"/>
            <a:ext cx="3200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Get a Free Premium Frother Today.</a:t>
            </a:r>
            <a:endParaRPr lang="en-US" sz="1100" dirty="0"/>
          </a:p>
        </p:txBody>
      </p:sp>
      <p:sp>
        <p:nvSpPr>
          <p:cNvPr id="25" name="Text 23"/>
          <p:cNvSpPr/>
          <p:nvPr/>
        </p:nvSpPr>
        <p:spPr>
          <a:xfrm>
            <a:off x="4526280" y="4114800"/>
            <a:ext cx="3200400" cy="128016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Elevate your coffee game. Free frother with orders above ₹1,499.</a:t>
            </a:r>
            <a:endParaRPr lang="en-US" sz="950" dirty="0"/>
          </a:p>
        </p:txBody>
      </p:sp>
      <p:sp>
        <p:nvSpPr>
          <p:cNvPr id="26" name="Text 24"/>
          <p:cNvSpPr/>
          <p:nvPr/>
        </p:nvSpPr>
        <p:spPr>
          <a:xfrm>
            <a:off x="4526280" y="5394960"/>
            <a:ext cx="3200400" cy="274320"/>
          </a:xfrm>
          <a:prstGeom prst="rect">
            <a:avLst/>
          </a:prstGeom>
          <a:noFill/>
          <a:ln/>
        </p:spPr>
        <p:txBody>
          <a:bodyPr wrap="square" rtlCol="0" anchor="ctr"/>
          <a:lstStyle/>
          <a:p>
            <a:pPr indent="0" marL="0">
              <a:buNone/>
            </a:pPr>
            <a:r>
              <a:rPr lang="en-US" sz="900" b="1" dirty="0">
                <a:solidFill>
                  <a:srgbClr val="0B1629"/>
                </a:solidFill>
                <a:latin typeface="Plus Jakarta Sans" pitchFamily="34" charset="0"/>
                <a:ea typeface="Plus Jakarta Sans" pitchFamily="34" charset="-122"/>
                <a:cs typeface="Plus Jakarta Sans" pitchFamily="34" charset="-120"/>
              </a:rPr>
              <a:t>CTA: Activate Offer</a:t>
            </a:r>
            <a:endParaRPr lang="en-US" sz="900" dirty="0"/>
          </a:p>
        </p:txBody>
      </p:sp>
      <p:sp>
        <p:nvSpPr>
          <p:cNvPr id="27" name="Shape 25"/>
          <p:cNvSpPr/>
          <p:nvPr/>
        </p:nvSpPr>
        <p:spPr>
          <a:xfrm>
            <a:off x="8229600" y="3566160"/>
            <a:ext cx="3566160" cy="2286000"/>
          </a:xfrm>
          <a:prstGeom prst="rect">
            <a:avLst>
              <a:gd name="adj" fmla="val 4000"/>
            </a:avLst>
          </a:prstGeom>
          <a:solidFill>
            <a:srgbClr val="FFFFFF"/>
          </a:solidFill>
          <a:ln w="25400">
            <a:solidFill>
              <a:srgbClr val="F59E0B"/>
            </a:solidFill>
            <a:prstDash val="solid"/>
          </a:ln>
        </p:spPr>
      </p:sp>
      <p:sp>
        <p:nvSpPr>
          <p:cNvPr id="28" name="Text 26"/>
          <p:cNvSpPr/>
          <p:nvPr/>
        </p:nvSpPr>
        <p:spPr>
          <a:xfrm>
            <a:off x="8412480" y="3703320"/>
            <a:ext cx="3200400" cy="320040"/>
          </a:xfrm>
          <a:prstGeom prst="rect">
            <a:avLst/>
          </a:prstGeom>
          <a:noFill/>
          <a:ln/>
        </p:spPr>
        <p:txBody>
          <a:bodyPr wrap="square" rtlCol="0" anchor="ctr"/>
          <a:lstStyle/>
          <a:p>
            <a:pPr indent="0" marL="0">
              <a:buNone/>
            </a:pPr>
            <a:r>
              <a:rPr lang="en-US" sz="1100" b="1" dirty="0">
                <a:solidFill>
                  <a:srgbClr val="F59E0B"/>
                </a:solidFill>
                <a:latin typeface="Plus Jakarta Sans" pitchFamily="34" charset="0"/>
                <a:ea typeface="Plus Jakarta Sans" pitchFamily="34" charset="-122"/>
                <a:cs typeface="Plus Jakarta Sans" pitchFamily="34" charset="-120"/>
              </a:rPr>
              <a:t>Roasted Yesterday. At Your Door Tomorrow.</a:t>
            </a:r>
            <a:endParaRPr lang="en-US" sz="1100" dirty="0"/>
          </a:p>
        </p:txBody>
      </p:sp>
      <p:sp>
        <p:nvSpPr>
          <p:cNvPr id="29" name="Text 27"/>
          <p:cNvSpPr/>
          <p:nvPr/>
        </p:nvSpPr>
        <p:spPr>
          <a:xfrm>
            <a:off x="8412480" y="4114800"/>
            <a:ext cx="3200400" cy="1280160"/>
          </a:xfrm>
          <a:prstGeom prst="rect">
            <a:avLst/>
          </a:prstGeom>
          <a:noFill/>
          <a:ln/>
        </p:spPr>
        <p:txBody>
          <a:bodyPr wrap="square" rtlCol="0" anchor="ctr"/>
          <a:lstStyle/>
          <a:p>
            <a:pPr indent="0" marL="0">
              <a:buNone/>
            </a:pPr>
            <a:r>
              <a:rPr lang="en-US" sz="950" dirty="0">
                <a:solidFill>
                  <a:srgbClr val="0B1629"/>
                </a:solidFill>
                <a:latin typeface="Plus Jakarta Sans" pitchFamily="34" charset="0"/>
                <a:ea typeface="Plus Jakarta Sans" pitchFamily="34" charset="-122"/>
                <a:cs typeface="Plus Jakarta Sans" pitchFamily="34" charset="-120"/>
              </a:rPr>
              <a:t>Experience the rich aroma of coffee sealed at peak roast freshness.</a:t>
            </a:r>
            <a:endParaRPr lang="en-US" sz="950" dirty="0"/>
          </a:p>
        </p:txBody>
      </p:sp>
      <p:sp>
        <p:nvSpPr>
          <p:cNvPr id="30" name="Text 28"/>
          <p:cNvSpPr/>
          <p:nvPr/>
        </p:nvSpPr>
        <p:spPr>
          <a:xfrm>
            <a:off x="8412480" y="5394960"/>
            <a:ext cx="3200400" cy="274320"/>
          </a:xfrm>
          <a:prstGeom prst="rect">
            <a:avLst/>
          </a:prstGeom>
          <a:noFill/>
          <a:ln/>
        </p:spPr>
        <p:txBody>
          <a:bodyPr wrap="square" rtlCol="0" anchor="ctr"/>
          <a:lstStyle/>
          <a:p>
            <a:pPr indent="0" marL="0">
              <a:buNone/>
            </a:pPr>
            <a:r>
              <a:rPr lang="en-US" sz="900" b="1" dirty="0">
                <a:solidFill>
                  <a:srgbClr val="0B1629"/>
                </a:solidFill>
                <a:latin typeface="Plus Jakarta Sans" pitchFamily="34" charset="0"/>
                <a:ea typeface="Plus Jakarta Sans" pitchFamily="34" charset="-122"/>
                <a:cs typeface="Plus Jakarta Sans" pitchFamily="34" charset="-120"/>
              </a:rPr>
              <a:t>CTA: Subscribe &amp; Save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2026-07-15T13:39:40Z</dcterms:created>
  <dcterms:modified xsi:type="dcterms:W3CDTF">2026-07-15T13:39:40Z</dcterms:modified>
</cp:coreProperties>
</file>